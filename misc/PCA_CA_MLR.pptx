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48"/>
  </p:notesMasterIdLst>
  <p:handoutMasterIdLst>
    <p:handoutMasterId r:id="rId49"/>
  </p:handoutMasterIdLst>
  <p:sldIdLst>
    <p:sldId id="257" r:id="rId3"/>
    <p:sldId id="318" r:id="rId4"/>
    <p:sldId id="322" r:id="rId5"/>
    <p:sldId id="267" r:id="rId6"/>
    <p:sldId id="269" r:id="rId7"/>
    <p:sldId id="293" r:id="rId8"/>
    <p:sldId id="321" r:id="rId9"/>
    <p:sldId id="271" r:id="rId10"/>
    <p:sldId id="264" r:id="rId11"/>
    <p:sldId id="265" r:id="rId12"/>
    <p:sldId id="274" r:id="rId13"/>
    <p:sldId id="275" r:id="rId14"/>
    <p:sldId id="278" r:id="rId15"/>
    <p:sldId id="279" r:id="rId16"/>
    <p:sldId id="286" r:id="rId17"/>
    <p:sldId id="281" r:id="rId18"/>
    <p:sldId id="283" r:id="rId19"/>
    <p:sldId id="285" r:id="rId20"/>
    <p:sldId id="284" r:id="rId21"/>
    <p:sldId id="295" r:id="rId22"/>
    <p:sldId id="287" r:id="rId23"/>
    <p:sldId id="288" r:id="rId24"/>
    <p:sldId id="289" r:id="rId25"/>
    <p:sldId id="296" r:id="rId26"/>
    <p:sldId id="297" r:id="rId27"/>
    <p:sldId id="298" r:id="rId28"/>
    <p:sldId id="292" r:id="rId29"/>
    <p:sldId id="305" r:id="rId30"/>
    <p:sldId id="300" r:id="rId31"/>
    <p:sldId id="301" r:id="rId32"/>
    <p:sldId id="302" r:id="rId33"/>
    <p:sldId id="303" r:id="rId34"/>
    <p:sldId id="304" r:id="rId35"/>
    <p:sldId id="306" r:id="rId36"/>
    <p:sldId id="307" r:id="rId37"/>
    <p:sldId id="308" r:id="rId38"/>
    <p:sldId id="309" r:id="rId39"/>
    <p:sldId id="310" r:id="rId40"/>
    <p:sldId id="311" r:id="rId41"/>
    <p:sldId id="312" r:id="rId42"/>
    <p:sldId id="313" r:id="rId43"/>
    <p:sldId id="314" r:id="rId44"/>
    <p:sldId id="315" r:id="rId45"/>
    <p:sldId id="316" r:id="rId46"/>
    <p:sldId id="272" r:id="rId47"/>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0FF"/>
    <a:srgbClr val="FF9300"/>
    <a:srgbClr val="018500"/>
    <a:srgbClr val="AB79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45"/>
    <p:restoredTop sz="94631"/>
  </p:normalViewPr>
  <p:slideViewPr>
    <p:cSldViewPr snapToGrid="0" snapToObjects="1" showGuides="1">
      <p:cViewPr varScale="1">
        <p:scale>
          <a:sx n="119" d="100"/>
          <a:sy n="119" d="100"/>
        </p:scale>
        <p:origin x="584" y="192"/>
      </p:cViewPr>
      <p:guideLst>
        <p:guide orient="horz" pos="2208"/>
        <p:guide pos="3840"/>
      </p:guideLst>
    </p:cSldViewPr>
  </p:slideViewPr>
  <p:notesTextViewPr>
    <p:cViewPr>
      <p:scale>
        <a:sx n="1" d="1"/>
        <a:sy n="1" d="1"/>
      </p:scale>
      <p:origin x="0" y="0"/>
    </p:cViewPr>
  </p:notesTextViewPr>
  <p:sorterViewPr>
    <p:cViewPr>
      <p:scale>
        <a:sx n="140" d="100"/>
        <a:sy n="14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2"/>
            <a:ext cx="3962400" cy="344091"/>
          </a:xfrm>
          <a:prstGeom prst="rect">
            <a:avLst/>
          </a:prstGeom>
        </p:spPr>
        <p:txBody>
          <a:bodyPr vert="horz" lIns="91440" tIns="45720" rIns="91440" bIns="45720" rtlCol="0"/>
          <a:lstStyle>
            <a:lvl1pPr algn="r">
              <a:defRPr sz="1200"/>
            </a:lvl1pPr>
          </a:lstStyle>
          <a:p>
            <a:fld id="{578F509F-4B7E-B048-88AF-D9D4DD7695E7}" type="datetimeFigureOut">
              <a:rPr lang="en-US" smtClean="0"/>
              <a:t>2/18/26</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D8ECE9E6-EE74-5D49-B30C-926ACF5F61C2}" type="slidenum">
              <a:rPr lang="en-US" smtClean="0"/>
              <a:t>‹#›</a:t>
            </a:fld>
            <a:endParaRPr lang="en-US"/>
          </a:p>
        </p:txBody>
      </p:sp>
    </p:spTree>
    <p:extLst>
      <p:ext uri="{BB962C8B-B14F-4D97-AF65-F5344CB8AC3E}">
        <p14:creationId xmlns:p14="http://schemas.microsoft.com/office/powerpoint/2010/main" val="1761563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2"/>
            <a:ext cx="3962400" cy="344091"/>
          </a:xfrm>
          <a:prstGeom prst="rect">
            <a:avLst/>
          </a:prstGeom>
        </p:spPr>
        <p:txBody>
          <a:bodyPr vert="horz" lIns="91440" tIns="45720" rIns="91440" bIns="45720" rtlCol="0"/>
          <a:lstStyle>
            <a:lvl1pPr algn="r">
              <a:defRPr sz="1200"/>
            </a:lvl1pPr>
          </a:lstStyle>
          <a:p>
            <a:fld id="{809F3747-25A3-E14F-8D45-4481A377FFFD}" type="datetimeFigureOut">
              <a:rPr lang="en-US" smtClean="0"/>
              <a:t>2/18/26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264790F-B6A8-3247-8FA0-4C9D6D808CE0}" type="slidenum">
              <a:rPr lang="en-US" smtClean="0"/>
              <a:t>‹#›</a:t>
            </a:fld>
            <a:endParaRPr lang="en-US"/>
          </a:p>
        </p:txBody>
      </p:sp>
    </p:spTree>
    <p:extLst>
      <p:ext uri="{BB962C8B-B14F-4D97-AF65-F5344CB8AC3E}">
        <p14:creationId xmlns:p14="http://schemas.microsoft.com/office/powerpoint/2010/main" val="194648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AAA285-BBD7-2448-959A-1F35C7DE0B04}" type="slidenum">
              <a:rPr lang="en-US" smtClean="0"/>
              <a:t>1</a:t>
            </a:fld>
            <a:endParaRPr lang="en-US" dirty="0"/>
          </a:p>
        </p:txBody>
      </p:sp>
    </p:spTree>
    <p:extLst>
      <p:ext uri="{BB962C8B-B14F-4D97-AF65-F5344CB8AC3E}">
        <p14:creationId xmlns:p14="http://schemas.microsoft.com/office/powerpoint/2010/main" val="1824793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829678"/>
          </a:xfrm>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0" y="6459785"/>
            <a:ext cx="2472271" cy="365125"/>
          </a:xfrm>
          <a:prstGeom prst="rect">
            <a:avLst/>
          </a:prstGeom>
        </p:spPr>
        <p:txBody>
          <a:bodyPr/>
          <a:lstStyle/>
          <a:p>
            <a:fld id="{528FC5F6-F338-4AE4-BB23-26385BCFC423}" type="datetimeFigureOut">
              <a:rPr lang="en-US"/>
              <a:t>2/18/26</a:t>
            </a:fld>
            <a:endParaRPr lang="en-US"/>
          </a:p>
        </p:txBody>
      </p:sp>
      <p:sp>
        <p:nvSpPr>
          <p:cNvPr id="5" name="Footer Placeholder 4"/>
          <p:cNvSpPr>
            <a:spLocks noGrp="1"/>
          </p:cNvSpPr>
          <p:nvPr>
            <p:ph type="ftr" sz="quarter" idx="11"/>
          </p:nvPr>
        </p:nvSpPr>
        <p:spPr>
          <a:xfrm>
            <a:off x="3686185" y="6459785"/>
            <a:ext cx="4822804"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5499279" y="6459785"/>
            <a:ext cx="5713205" cy="365125"/>
          </a:xfrm>
          <a:prstGeom prst="rect">
            <a:avLst/>
          </a:prstGeom>
        </p:spPr>
        <p:txBody>
          <a:bodyPr/>
          <a:lstStyle/>
          <a:p>
            <a:fld id="{6113E31D-E2AB-40D1-8B51-AFA5AFEF393A}" type="slidenum">
              <a:rPr lang="en-US"/>
              <a:t>‹#›</a:t>
            </a:fld>
            <a:endParaRPr lang="en-US"/>
          </a:p>
        </p:txBody>
      </p:sp>
    </p:spTree>
    <p:extLst>
      <p:ext uri="{BB962C8B-B14F-4D97-AF65-F5344CB8AC3E}">
        <p14:creationId xmlns:p14="http://schemas.microsoft.com/office/powerpoint/2010/main" val="2098701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6DF8A0-D66B-3F46-B89F-0E1D6DC16B62}" type="datetimeFigureOut">
              <a:rPr lang="en-US" smtClean="0"/>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2071FB-D370-2543-9F61-99926BB3AB7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221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813148"/>
          </a:xfrm>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a:xfrm>
            <a:off x="1097280" y="2031085"/>
            <a:ext cx="1005840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DF8A0-D66B-3F46-B89F-0E1D6DC16B62}" type="datetimeFigureOut">
              <a:rPr lang="en-US" smtClean="0"/>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2071FB-D370-2543-9F61-99926BB3AB79}" type="slidenum">
              <a:rPr lang="en-US" smtClean="0"/>
              <a:t>‹#›</a:t>
            </a:fld>
            <a:endParaRPr lang="en-US"/>
          </a:p>
        </p:txBody>
      </p:sp>
    </p:spTree>
    <p:extLst>
      <p:ext uri="{BB962C8B-B14F-4D97-AF65-F5344CB8AC3E}">
        <p14:creationId xmlns:p14="http://schemas.microsoft.com/office/powerpoint/2010/main" val="437180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6DF8A0-D66B-3F46-B89F-0E1D6DC16B62}" type="datetimeFigureOut">
              <a:rPr lang="en-US" smtClean="0"/>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2071FB-D370-2543-9F61-99926BB3AB7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8770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6DF8A0-D66B-3F46-B89F-0E1D6DC16B62}" type="datetimeFigureOut">
              <a:rPr lang="en-US" smtClean="0"/>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2071FB-D370-2543-9F61-99926BB3AB79}" type="slidenum">
              <a:rPr lang="en-US" smtClean="0"/>
              <a:t>‹#›</a:t>
            </a:fld>
            <a:endParaRPr lang="en-US"/>
          </a:p>
        </p:txBody>
      </p:sp>
    </p:spTree>
    <p:extLst>
      <p:ext uri="{BB962C8B-B14F-4D97-AF65-F5344CB8AC3E}">
        <p14:creationId xmlns:p14="http://schemas.microsoft.com/office/powerpoint/2010/main" val="1515202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6DF8A0-D66B-3F46-B89F-0E1D6DC16B62}" type="datetimeFigureOut">
              <a:rPr lang="en-US" smtClean="0"/>
              <a:t>2/18/26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2071FB-D370-2543-9F61-99926BB3AB79}" type="slidenum">
              <a:rPr lang="en-US" smtClean="0"/>
              <a:t>‹#›</a:t>
            </a:fld>
            <a:endParaRPr lang="en-US"/>
          </a:p>
        </p:txBody>
      </p:sp>
    </p:spTree>
    <p:extLst>
      <p:ext uri="{BB962C8B-B14F-4D97-AF65-F5344CB8AC3E}">
        <p14:creationId xmlns:p14="http://schemas.microsoft.com/office/powerpoint/2010/main" val="1139768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63721"/>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6DF8A0-D66B-3F46-B89F-0E1D6DC16B62}" type="datetimeFigureOut">
              <a:rPr lang="en-US" smtClean="0"/>
              <a:t>2/18/26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2071FB-D370-2543-9F61-99926BB3AB79}" type="slidenum">
              <a:rPr lang="en-US" smtClean="0"/>
              <a:t>‹#›</a:t>
            </a:fld>
            <a:endParaRPr lang="en-US"/>
          </a:p>
        </p:txBody>
      </p:sp>
    </p:spTree>
    <p:extLst>
      <p:ext uri="{BB962C8B-B14F-4D97-AF65-F5344CB8AC3E}">
        <p14:creationId xmlns:p14="http://schemas.microsoft.com/office/powerpoint/2010/main" val="530409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96DF8A0-D66B-3F46-B89F-0E1D6DC16B62}" type="datetimeFigureOut">
              <a:rPr lang="en-US" smtClean="0"/>
              <a:t>2/18/26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AE2071FB-D370-2543-9F61-99926BB3AB79}" type="slidenum">
              <a:rPr lang="en-US" smtClean="0"/>
              <a:t>‹#›</a:t>
            </a:fld>
            <a:endParaRPr lang="en-US"/>
          </a:p>
        </p:txBody>
      </p:sp>
    </p:spTree>
    <p:extLst>
      <p:ext uri="{BB962C8B-B14F-4D97-AF65-F5344CB8AC3E}">
        <p14:creationId xmlns:p14="http://schemas.microsoft.com/office/powerpoint/2010/main" val="388318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96DF8A0-D66B-3F46-B89F-0E1D6DC16B62}" type="datetimeFigureOut">
              <a:rPr lang="en-US" smtClean="0"/>
              <a:t>2/18/26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E2071FB-D370-2543-9F61-99926BB3AB79}" type="slidenum">
              <a:rPr lang="en-US" smtClean="0"/>
              <a:t>‹#›</a:t>
            </a:fld>
            <a:endParaRPr lang="en-US"/>
          </a:p>
        </p:txBody>
      </p:sp>
    </p:spTree>
    <p:extLst>
      <p:ext uri="{BB962C8B-B14F-4D97-AF65-F5344CB8AC3E}">
        <p14:creationId xmlns:p14="http://schemas.microsoft.com/office/powerpoint/2010/main" val="264528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6DF8A0-D66B-3F46-B89F-0E1D6DC16B62}" type="datetimeFigureOut">
              <a:rPr lang="en-US" smtClean="0"/>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2071FB-D370-2543-9F61-99926BB3AB79}" type="slidenum">
              <a:rPr lang="en-US" smtClean="0"/>
              <a:t>‹#›</a:t>
            </a:fld>
            <a:endParaRPr lang="en-US"/>
          </a:p>
        </p:txBody>
      </p:sp>
    </p:spTree>
    <p:extLst>
      <p:ext uri="{BB962C8B-B14F-4D97-AF65-F5344CB8AC3E}">
        <p14:creationId xmlns:p14="http://schemas.microsoft.com/office/powerpoint/2010/main" val="643720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DF8A0-D66B-3F46-B89F-0E1D6DC16B62}" type="datetimeFigureOut">
              <a:rPr lang="en-US" smtClean="0"/>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2071FB-D370-2543-9F61-99926BB3AB79}" type="slidenum">
              <a:rPr lang="en-US" smtClean="0"/>
              <a:t>‹#›</a:t>
            </a:fld>
            <a:endParaRPr lang="en-US"/>
          </a:p>
        </p:txBody>
      </p:sp>
    </p:spTree>
    <p:extLst>
      <p:ext uri="{BB962C8B-B14F-4D97-AF65-F5344CB8AC3E}">
        <p14:creationId xmlns:p14="http://schemas.microsoft.com/office/powerpoint/2010/main" val="21274142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DF8A0-D66B-3F46-B89F-0E1D6DC16B62}" type="datetimeFigureOut">
              <a:rPr lang="en-US" smtClean="0"/>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2071FB-D370-2543-9F61-99926BB3AB79}" type="slidenum">
              <a:rPr lang="en-US" smtClean="0"/>
              <a:t>‹#›</a:t>
            </a:fld>
            <a:endParaRPr lang="en-US"/>
          </a:p>
        </p:txBody>
      </p:sp>
    </p:spTree>
    <p:extLst>
      <p:ext uri="{BB962C8B-B14F-4D97-AF65-F5344CB8AC3E}">
        <p14:creationId xmlns:p14="http://schemas.microsoft.com/office/powerpoint/2010/main" val="19964137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5089883-B633-064B-A865-BADA302171F7}" type="datetimeFigureOut">
              <a:rPr lang="en-US" smtClean="0"/>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05C22-53E3-EB42-B466-2F55D0A07A41}" type="slidenum">
              <a:rPr lang="en-US" smtClean="0"/>
              <a:t>‹#›</a:t>
            </a:fld>
            <a:endParaRPr lang="en-US"/>
          </a:p>
        </p:txBody>
      </p:sp>
    </p:spTree>
    <p:extLst>
      <p:ext uri="{BB962C8B-B14F-4D97-AF65-F5344CB8AC3E}">
        <p14:creationId xmlns:p14="http://schemas.microsoft.com/office/powerpoint/2010/main" val="2957859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089883-B633-064B-A865-BADA302171F7}" type="datetimeFigureOut">
              <a:rPr lang="en-US" smtClean="0"/>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05C22-53E3-EB42-B466-2F55D0A07A41}" type="slidenum">
              <a:rPr lang="en-US" smtClean="0"/>
              <a:t>‹#›</a:t>
            </a:fld>
            <a:endParaRPr lang="en-US"/>
          </a:p>
        </p:txBody>
      </p:sp>
    </p:spTree>
    <p:extLst>
      <p:ext uri="{BB962C8B-B14F-4D97-AF65-F5344CB8AC3E}">
        <p14:creationId xmlns:p14="http://schemas.microsoft.com/office/powerpoint/2010/main" val="19980420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089883-B633-064B-A865-BADA302171F7}" type="datetimeFigureOut">
              <a:rPr lang="en-US" smtClean="0"/>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05C22-53E3-EB42-B466-2F55D0A07A41}" type="slidenum">
              <a:rPr lang="en-US" smtClean="0"/>
              <a:t>‹#›</a:t>
            </a:fld>
            <a:endParaRPr lang="en-US"/>
          </a:p>
        </p:txBody>
      </p:sp>
    </p:spTree>
    <p:extLst>
      <p:ext uri="{BB962C8B-B14F-4D97-AF65-F5344CB8AC3E}">
        <p14:creationId xmlns:p14="http://schemas.microsoft.com/office/powerpoint/2010/main" val="890105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5089883-B633-064B-A865-BADA302171F7}" type="datetimeFigureOut">
              <a:rPr lang="en-US" smtClean="0"/>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105C22-53E3-EB42-B466-2F55D0A07A41}" type="slidenum">
              <a:rPr lang="en-US" smtClean="0"/>
              <a:t>‹#›</a:t>
            </a:fld>
            <a:endParaRPr lang="en-US"/>
          </a:p>
        </p:txBody>
      </p:sp>
    </p:spTree>
    <p:extLst>
      <p:ext uri="{BB962C8B-B14F-4D97-AF65-F5344CB8AC3E}">
        <p14:creationId xmlns:p14="http://schemas.microsoft.com/office/powerpoint/2010/main" val="638120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5089883-B633-064B-A865-BADA302171F7}" type="datetimeFigureOut">
              <a:rPr lang="en-US" smtClean="0"/>
              <a:t>2/18/26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A105C22-53E3-EB42-B466-2F55D0A07A41}" type="slidenum">
              <a:rPr lang="en-US" smtClean="0"/>
              <a:t>‹#›</a:t>
            </a:fld>
            <a:endParaRPr lang="en-US"/>
          </a:p>
        </p:txBody>
      </p:sp>
    </p:spTree>
    <p:extLst>
      <p:ext uri="{BB962C8B-B14F-4D97-AF65-F5344CB8AC3E}">
        <p14:creationId xmlns:p14="http://schemas.microsoft.com/office/powerpoint/2010/main" val="3633726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5089883-B633-064B-A865-BADA302171F7}" type="datetimeFigureOut">
              <a:rPr lang="en-US" smtClean="0"/>
              <a:t>2/18/26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A105C22-53E3-EB42-B466-2F55D0A07A41}" type="slidenum">
              <a:rPr lang="en-US" smtClean="0"/>
              <a:t>‹#›</a:t>
            </a:fld>
            <a:endParaRPr lang="en-US"/>
          </a:p>
        </p:txBody>
      </p:sp>
    </p:spTree>
    <p:extLst>
      <p:ext uri="{BB962C8B-B14F-4D97-AF65-F5344CB8AC3E}">
        <p14:creationId xmlns:p14="http://schemas.microsoft.com/office/powerpoint/2010/main" val="1908237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089883-B633-064B-A865-BADA302171F7}" type="datetimeFigureOut">
              <a:rPr lang="en-US" smtClean="0"/>
              <a:t>2/18/26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A105C22-53E3-EB42-B466-2F55D0A07A41}" type="slidenum">
              <a:rPr lang="en-US" smtClean="0"/>
              <a:t>‹#›</a:t>
            </a:fld>
            <a:endParaRPr lang="en-US"/>
          </a:p>
        </p:txBody>
      </p:sp>
    </p:spTree>
    <p:extLst>
      <p:ext uri="{BB962C8B-B14F-4D97-AF65-F5344CB8AC3E}">
        <p14:creationId xmlns:p14="http://schemas.microsoft.com/office/powerpoint/2010/main" val="12315505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089883-B633-064B-A865-BADA302171F7}" type="datetimeFigureOut">
              <a:rPr lang="en-US" smtClean="0"/>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105C22-53E3-EB42-B466-2F55D0A07A41}" type="slidenum">
              <a:rPr lang="en-US" smtClean="0"/>
              <a:t>‹#›</a:t>
            </a:fld>
            <a:endParaRPr lang="en-US"/>
          </a:p>
        </p:txBody>
      </p:sp>
    </p:spTree>
    <p:extLst>
      <p:ext uri="{BB962C8B-B14F-4D97-AF65-F5344CB8AC3E}">
        <p14:creationId xmlns:p14="http://schemas.microsoft.com/office/powerpoint/2010/main" val="12226704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089883-B633-064B-A865-BADA302171F7}" type="datetimeFigureOut">
              <a:rPr lang="en-US" smtClean="0"/>
              <a:t>2/18/26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A105C22-53E3-EB42-B466-2F55D0A07A41}" type="slidenum">
              <a:rPr lang="en-US" smtClean="0"/>
              <a:t>‹#›</a:t>
            </a:fld>
            <a:endParaRPr lang="en-US"/>
          </a:p>
        </p:txBody>
      </p:sp>
    </p:spTree>
    <p:extLst>
      <p:ext uri="{BB962C8B-B14F-4D97-AF65-F5344CB8AC3E}">
        <p14:creationId xmlns:p14="http://schemas.microsoft.com/office/powerpoint/2010/main" val="1512350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089883-B633-064B-A865-BADA302171F7}" type="datetimeFigureOut">
              <a:rPr lang="en-US" smtClean="0"/>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05C22-53E3-EB42-B466-2F55D0A07A41}" type="slidenum">
              <a:rPr lang="en-US" smtClean="0"/>
              <a:t>‹#›</a:t>
            </a:fld>
            <a:endParaRPr lang="en-US"/>
          </a:p>
        </p:txBody>
      </p:sp>
    </p:spTree>
    <p:extLst>
      <p:ext uri="{BB962C8B-B14F-4D97-AF65-F5344CB8AC3E}">
        <p14:creationId xmlns:p14="http://schemas.microsoft.com/office/powerpoint/2010/main" val="13336082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089883-B633-064B-A865-BADA302171F7}" type="datetimeFigureOut">
              <a:rPr lang="en-US" smtClean="0"/>
              <a:t>2/18/26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105C22-53E3-EB42-B466-2F55D0A07A41}" type="slidenum">
              <a:rPr lang="en-US" smtClean="0"/>
              <a:t>‹#›</a:t>
            </a:fld>
            <a:endParaRPr lang="en-US"/>
          </a:p>
        </p:txBody>
      </p:sp>
    </p:spTree>
    <p:extLst>
      <p:ext uri="{BB962C8B-B14F-4D97-AF65-F5344CB8AC3E}">
        <p14:creationId xmlns:p14="http://schemas.microsoft.com/office/powerpoint/2010/main" val="667000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47136"/>
            <a:ext cx="10058400" cy="74881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062840"/>
            <a:ext cx="10058400" cy="4806254"/>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96DF8A0-D66B-3F46-B89F-0E1D6DC16B62}" type="datetimeFigureOut">
              <a:rPr lang="en-US" smtClean="0"/>
              <a:t>2/18/26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E2071FB-D370-2543-9F61-99926BB3AB79}" type="slidenum">
              <a:rPr lang="en-US" smtClean="0"/>
              <a:t>‹#›</a:t>
            </a:fld>
            <a:endParaRPr lang="en-US"/>
          </a:p>
        </p:txBody>
      </p:sp>
      <p:cxnSp>
        <p:nvCxnSpPr>
          <p:cNvPr id="10" name="Straight Connector 9"/>
          <p:cNvCxnSpPr/>
          <p:nvPr/>
        </p:nvCxnSpPr>
        <p:spPr>
          <a:xfrm>
            <a:off x="1123510" y="1003854"/>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701267"/>
      </p:ext>
    </p:extLst>
  </p:cSld>
  <p:clrMap bg1="lt1" tx1="dk1" bg2="lt2" tx2="dk2" accent1="accent1" accent2="accent2" accent3="accent3" accent4="accent4" accent5="accent5" accent6="accent6" hlink="hlink" folHlink="folHlink"/>
  <p:sldLayoutIdLst>
    <p:sldLayoutId id="2147483684"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70991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751484"/>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089883-B633-064B-A865-BADA302171F7}" type="datetimeFigureOut">
              <a:rPr lang="en-US" smtClean="0"/>
              <a:t>2/18/26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105C22-53E3-EB42-B466-2F55D0A07A41}" type="slidenum">
              <a:rPr lang="en-US" smtClean="0"/>
              <a:t>‹#›</a:t>
            </a:fld>
            <a:endParaRPr lang="en-US"/>
          </a:p>
        </p:txBody>
      </p:sp>
    </p:spTree>
    <p:extLst>
      <p:ext uri="{BB962C8B-B14F-4D97-AF65-F5344CB8AC3E}">
        <p14:creationId xmlns:p14="http://schemas.microsoft.com/office/powerpoint/2010/main" val="97761011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0051" y="758952"/>
            <a:ext cx="10055629" cy="3566160"/>
          </a:xfrm>
        </p:spPr>
        <p:txBody>
          <a:bodyPr>
            <a:normAutofit fontScale="90000"/>
          </a:bodyPr>
          <a:lstStyle/>
          <a:p>
            <a:pPr algn="ctr"/>
            <a:r>
              <a:rPr lang="en-US" sz="6600" dirty="0"/>
              <a:t>Using </a:t>
            </a:r>
            <a:r>
              <a:rPr lang="en-US" sz="6600" dirty="0">
                <a:latin typeface="American Typewriter" charset="0"/>
                <a:ea typeface="American Typewriter" charset="0"/>
                <a:cs typeface="American Typewriter" charset="0"/>
              </a:rPr>
              <a:t>R</a:t>
            </a:r>
            <a:r>
              <a:rPr lang="en-US" sz="6600" dirty="0"/>
              <a:t> to Introduce Students to Principal Component Analysis, Cluster Analysis, and Multiple Linear Regression</a:t>
            </a:r>
          </a:p>
        </p:txBody>
      </p:sp>
      <p:sp>
        <p:nvSpPr>
          <p:cNvPr id="3" name="Subtitle 2"/>
          <p:cNvSpPr>
            <a:spLocks noGrp="1"/>
          </p:cNvSpPr>
          <p:nvPr>
            <p:ph type="subTitle" idx="1"/>
          </p:nvPr>
        </p:nvSpPr>
        <p:spPr/>
        <p:txBody>
          <a:bodyPr/>
          <a:lstStyle/>
          <a:p>
            <a:pPr algn="r">
              <a:lnSpc>
                <a:spcPct val="100000"/>
              </a:lnSpc>
              <a:spcBef>
                <a:spcPts val="600"/>
              </a:spcBef>
            </a:pPr>
            <a:r>
              <a:rPr lang="en-US" dirty="0"/>
              <a:t>David Harvey</a:t>
            </a:r>
          </a:p>
          <a:p>
            <a:pPr algn="r">
              <a:spcBef>
                <a:spcPts val="600"/>
              </a:spcBef>
            </a:pPr>
            <a:r>
              <a:rPr lang="en-US" dirty="0"/>
              <a:t>Pittcon 2018</a:t>
            </a:r>
          </a:p>
        </p:txBody>
      </p:sp>
      <p:sp>
        <p:nvSpPr>
          <p:cNvPr id="4" name="TextBox 3"/>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
        <p:nvSpPr>
          <p:cNvPr id="5" name="Oval 4"/>
          <p:cNvSpPr/>
          <p:nvPr/>
        </p:nvSpPr>
        <p:spPr>
          <a:xfrm>
            <a:off x="9090212" y="6448716"/>
            <a:ext cx="2393576" cy="382389"/>
          </a:xfrm>
          <a:prstGeom prst="ellipse">
            <a:avLst/>
          </a:prstGeom>
          <a:solidFill>
            <a:schemeClr val="bg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6350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pic>
        <p:nvPicPr>
          <p:cNvPr id="3" name="Picture 2"/>
          <p:cNvPicPr>
            <a:picLocks noChangeAspect="1"/>
          </p:cNvPicPr>
          <p:nvPr/>
        </p:nvPicPr>
        <p:blipFill>
          <a:blip r:embed="rId2"/>
          <a:stretch>
            <a:fillRect/>
          </a:stretch>
        </p:blipFill>
        <p:spPr>
          <a:xfrm>
            <a:off x="284813" y="218631"/>
            <a:ext cx="11692328" cy="6013836"/>
          </a:xfrm>
          <a:prstGeom prst="rect">
            <a:avLst/>
          </a:prstGeom>
        </p:spPr>
      </p:pic>
      <p:sp>
        <p:nvSpPr>
          <p:cNvPr id="2" name="Oval 1"/>
          <p:cNvSpPr/>
          <p:nvPr/>
        </p:nvSpPr>
        <p:spPr>
          <a:xfrm>
            <a:off x="2095018" y="3473970"/>
            <a:ext cx="1682503" cy="393492"/>
          </a:xfrm>
          <a:prstGeom prst="ellipse">
            <a:avLst/>
          </a:prstGeom>
          <a:solidFill>
            <a:schemeClr val="accent1">
              <a:alpha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0254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101" y="425761"/>
            <a:ext cx="11979797" cy="5355312"/>
          </a:xfrm>
          <a:prstGeom prst="rect">
            <a:avLst/>
          </a:prstGeom>
          <a:noFill/>
        </p:spPr>
        <p:txBody>
          <a:bodyPr wrap="square" rtlCol="0">
            <a:spAutoFit/>
          </a:bodyPr>
          <a:lstStyle/>
          <a:p>
            <a:pPr algn="ctr"/>
            <a:r>
              <a:rPr lang="en-US" sz="9600" b="1" dirty="0">
                <a:ln>
                  <a:solidFill>
                    <a:srgbClr val="FF0000"/>
                  </a:solidFill>
                </a:ln>
                <a:solidFill>
                  <a:srgbClr val="FF0000"/>
                </a:solidFill>
              </a:rPr>
              <a:t>Context</a:t>
            </a:r>
          </a:p>
          <a:p>
            <a:pPr algn="ctr"/>
            <a:r>
              <a:rPr lang="en-US" sz="9600" dirty="0">
                <a:ln>
                  <a:solidFill>
                    <a:srgbClr val="FF0000"/>
                  </a:solidFill>
                </a:ln>
                <a:noFill/>
              </a:rPr>
              <a:t>Prelude</a:t>
            </a:r>
          </a:p>
          <a:p>
            <a:pPr algn="ctr"/>
            <a:r>
              <a:rPr lang="en-US" sz="9600" dirty="0">
                <a:ln>
                  <a:solidFill>
                    <a:srgbClr val="FF0000"/>
                  </a:solidFill>
                </a:ln>
                <a:noFill/>
              </a:rPr>
              <a:t>Main Feature </a:t>
            </a:r>
          </a:p>
          <a:p>
            <a:pPr algn="ctr"/>
            <a:r>
              <a:rPr lang="en-US" sz="4400" dirty="0">
                <a:ln>
                  <a:solidFill>
                    <a:srgbClr val="FF0000"/>
                  </a:solidFill>
                </a:ln>
                <a:noFill/>
              </a:rPr>
              <a:t>(in 3 Parts w/2 Themes)</a:t>
            </a:r>
          </a:p>
        </p:txBody>
      </p:sp>
      <p:sp>
        <p:nvSpPr>
          <p:cNvPr id="3" name="TextBox 2"/>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2021752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97280" y="311317"/>
            <a:ext cx="10264816" cy="805597"/>
          </a:xfrm>
        </p:spPr>
        <p:txBody>
          <a:bodyPr>
            <a:normAutofit/>
          </a:bodyPr>
          <a:lstStyle/>
          <a:p>
            <a:r>
              <a:rPr lang="en-US" dirty="0"/>
              <a:t>Chem 351: Chemometrics</a:t>
            </a:r>
          </a:p>
        </p:txBody>
      </p:sp>
      <p:sp>
        <p:nvSpPr>
          <p:cNvPr id="7" name="TextBox 6"/>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
        <p:nvSpPr>
          <p:cNvPr id="3" name="TextBox 2"/>
          <p:cNvSpPr txBox="1"/>
          <p:nvPr/>
        </p:nvSpPr>
        <p:spPr>
          <a:xfrm>
            <a:off x="1097279" y="3256026"/>
            <a:ext cx="4660969" cy="2693045"/>
          </a:xfrm>
          <a:prstGeom prst="rect">
            <a:avLst/>
          </a:prstGeom>
          <a:noFill/>
        </p:spPr>
        <p:txBody>
          <a:bodyPr wrap="square" rtlCol="0">
            <a:spAutoFit/>
          </a:bodyPr>
          <a:lstStyle/>
          <a:p>
            <a:pPr marL="285750" indent="-285750">
              <a:spcAft>
                <a:spcPts val="600"/>
              </a:spcAft>
              <a:buFont typeface="Courier New" charset="0"/>
              <a:buChar char="o"/>
            </a:pPr>
            <a:r>
              <a:rPr lang="en-US" sz="2400" dirty="0"/>
              <a:t>Unit 1: Introduction</a:t>
            </a:r>
          </a:p>
          <a:p>
            <a:pPr marL="285750" indent="-285750">
              <a:spcAft>
                <a:spcPts val="600"/>
              </a:spcAft>
              <a:buFont typeface="Courier New" charset="0"/>
              <a:buChar char="o"/>
            </a:pPr>
            <a:r>
              <a:rPr lang="en-US" sz="2400" dirty="0"/>
              <a:t>Unit 2: Basic Statistics</a:t>
            </a:r>
          </a:p>
          <a:p>
            <a:pPr marL="285750" indent="-285750">
              <a:spcAft>
                <a:spcPts val="600"/>
              </a:spcAft>
              <a:buFont typeface="Courier New" charset="0"/>
              <a:buChar char="o"/>
            </a:pPr>
            <a:r>
              <a:rPr lang="en-US" sz="2400" dirty="0"/>
              <a:t>Unit 3: Distribution of Data</a:t>
            </a:r>
          </a:p>
          <a:p>
            <a:pPr marL="285750" indent="-285750">
              <a:spcAft>
                <a:spcPts val="600"/>
              </a:spcAft>
              <a:buFont typeface="Courier New" charset="0"/>
              <a:buChar char="o"/>
            </a:pPr>
            <a:r>
              <a:rPr lang="en-US" sz="2400" dirty="0"/>
              <a:t>Unit 4: Confidence Intervals</a:t>
            </a:r>
          </a:p>
          <a:p>
            <a:pPr marL="285750" indent="-285750">
              <a:spcAft>
                <a:spcPts val="600"/>
              </a:spcAft>
              <a:buFont typeface="Courier New" charset="0"/>
              <a:buChar char="o"/>
            </a:pPr>
            <a:r>
              <a:rPr lang="en-US" sz="2400" dirty="0"/>
              <a:t>Unit 5: Analysis of Variance</a:t>
            </a:r>
          </a:p>
          <a:p>
            <a:pPr marL="285750" indent="-285750">
              <a:spcAft>
                <a:spcPts val="600"/>
              </a:spcAft>
              <a:buFont typeface="Courier New" charset="0"/>
              <a:buChar char="o"/>
            </a:pPr>
            <a:r>
              <a:rPr lang="en-US" sz="2400" dirty="0"/>
              <a:t>Unit 6: Linear Regression</a:t>
            </a:r>
          </a:p>
        </p:txBody>
      </p:sp>
      <p:sp>
        <p:nvSpPr>
          <p:cNvPr id="5" name="TextBox 4"/>
          <p:cNvSpPr txBox="1"/>
          <p:nvPr/>
        </p:nvSpPr>
        <p:spPr>
          <a:xfrm>
            <a:off x="6096000" y="3256027"/>
            <a:ext cx="5488871" cy="2693045"/>
          </a:xfrm>
          <a:prstGeom prst="rect">
            <a:avLst/>
          </a:prstGeom>
          <a:noFill/>
        </p:spPr>
        <p:txBody>
          <a:bodyPr wrap="square" rtlCol="0">
            <a:spAutoFit/>
          </a:bodyPr>
          <a:lstStyle/>
          <a:p>
            <a:pPr marL="285750" indent="-285750">
              <a:spcAft>
                <a:spcPts val="600"/>
              </a:spcAft>
              <a:buFont typeface="Courier New" charset="0"/>
              <a:buChar char="o"/>
            </a:pPr>
            <a:r>
              <a:rPr lang="en-US" sz="2400" dirty="0"/>
              <a:t>Unit 7: 3D Visualizations</a:t>
            </a:r>
          </a:p>
          <a:p>
            <a:pPr marL="285750" indent="-285750">
              <a:spcAft>
                <a:spcPts val="600"/>
              </a:spcAft>
              <a:buFont typeface="Courier New" charset="0"/>
              <a:buChar char="o"/>
            </a:pPr>
            <a:r>
              <a:rPr lang="en-US" sz="2400" dirty="0"/>
              <a:t>Unit 8: Experimental Design</a:t>
            </a:r>
          </a:p>
          <a:p>
            <a:pPr marL="285750" indent="-285750">
              <a:spcAft>
                <a:spcPts val="600"/>
              </a:spcAft>
              <a:buFont typeface="Courier New" charset="0"/>
              <a:buChar char="o"/>
            </a:pPr>
            <a:r>
              <a:rPr lang="en-US" sz="2400" dirty="0"/>
              <a:t>Unit 9: Signal Processing</a:t>
            </a:r>
          </a:p>
          <a:p>
            <a:pPr marL="285750" indent="-285750">
              <a:spcAft>
                <a:spcPts val="600"/>
              </a:spcAft>
              <a:buClr>
                <a:schemeClr val="tx1"/>
              </a:buClr>
              <a:buFont typeface="Courier New" charset="0"/>
              <a:buChar char="o"/>
            </a:pPr>
            <a:r>
              <a:rPr lang="en-US" sz="2400" dirty="0">
                <a:solidFill>
                  <a:srgbClr val="FF0000"/>
                </a:solidFill>
              </a:rPr>
              <a:t>Unit 10: Principal Component Analysis</a:t>
            </a:r>
          </a:p>
          <a:p>
            <a:pPr marL="285750" indent="-285750">
              <a:spcAft>
                <a:spcPts val="600"/>
              </a:spcAft>
              <a:buClr>
                <a:schemeClr val="tx1"/>
              </a:buClr>
              <a:buFont typeface="Courier New" charset="0"/>
              <a:buChar char="o"/>
            </a:pPr>
            <a:r>
              <a:rPr lang="en-US" sz="2400" dirty="0">
                <a:solidFill>
                  <a:srgbClr val="FF0000"/>
                </a:solidFill>
              </a:rPr>
              <a:t>Unit 11: Cluster Analysis</a:t>
            </a:r>
          </a:p>
          <a:p>
            <a:pPr marL="285750" indent="-285750">
              <a:spcAft>
                <a:spcPts val="600"/>
              </a:spcAft>
              <a:buClr>
                <a:schemeClr val="tx1"/>
              </a:buClr>
              <a:buFont typeface="Courier New" charset="0"/>
              <a:buChar char="o"/>
            </a:pPr>
            <a:r>
              <a:rPr lang="en-US" sz="2400" dirty="0">
                <a:solidFill>
                  <a:srgbClr val="FF0000"/>
                </a:solidFill>
              </a:rPr>
              <a:t>Unit 12: Multiple Linear Regression</a:t>
            </a:r>
          </a:p>
        </p:txBody>
      </p:sp>
      <p:sp>
        <p:nvSpPr>
          <p:cNvPr id="2" name="Rectangle 1"/>
          <p:cNvSpPr/>
          <p:nvPr/>
        </p:nvSpPr>
        <p:spPr>
          <a:xfrm>
            <a:off x="1097279" y="1111720"/>
            <a:ext cx="9986731" cy="2015936"/>
          </a:xfrm>
          <a:prstGeom prst="rect">
            <a:avLst/>
          </a:prstGeom>
        </p:spPr>
        <p:txBody>
          <a:bodyPr wrap="square">
            <a:spAutoFit/>
          </a:bodyPr>
          <a:lstStyle/>
          <a:p>
            <a:pPr>
              <a:spcAft>
                <a:spcPts val="600"/>
              </a:spcAft>
            </a:pPr>
            <a:r>
              <a:rPr lang="en-US" sz="2000" b="0" i="0" dirty="0">
                <a:solidFill>
                  <a:srgbClr val="333333"/>
                </a:solidFill>
                <a:effectLst/>
              </a:rPr>
              <a:t>This course, </a:t>
            </a:r>
            <a:r>
              <a:rPr lang="en-US" sz="2000" b="1" i="0" dirty="0">
                <a:solidFill>
                  <a:srgbClr val="333333"/>
                </a:solidFill>
                <a:effectLst/>
              </a:rPr>
              <a:t>Chem 351: Chemometrics</a:t>
            </a:r>
            <a:r>
              <a:rPr lang="en-US" sz="2000" b="0" i="0" dirty="0">
                <a:solidFill>
                  <a:srgbClr val="333333"/>
                </a:solidFill>
                <a:effectLst/>
              </a:rPr>
              <a:t>, provides an introduction to how chemists and biochemists can extract useful information from the data they collect in lab, including, among other topics, how to summarize data, how to visualize data, how to test data, how to build quantitative models to explain data, how to design experiments, and how to separate a useful signal from noise.</a:t>
            </a:r>
          </a:p>
          <a:p>
            <a:pPr algn="ctr"/>
            <a:r>
              <a:rPr lang="en-US" sz="2000" dirty="0"/>
              <a:t>Two 60 minute class periods per week for 14 weeks. Course is divided into 12 units.</a:t>
            </a:r>
            <a:endParaRPr lang="en-US" sz="2000" dirty="0">
              <a:solidFill>
                <a:srgbClr val="333333"/>
              </a:solidFill>
            </a:endParaRPr>
          </a:p>
        </p:txBody>
      </p:sp>
      <p:sp>
        <p:nvSpPr>
          <p:cNvPr id="6" name="Rounded Rectangle 5"/>
          <p:cNvSpPr/>
          <p:nvPr/>
        </p:nvSpPr>
        <p:spPr>
          <a:xfrm>
            <a:off x="6096000" y="4596713"/>
            <a:ext cx="5173362" cy="1340001"/>
          </a:xfrm>
          <a:prstGeom prst="roundRect">
            <a:avLst/>
          </a:prstGeom>
          <a:solidFill>
            <a:srgbClr val="00B0F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853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97279" y="286603"/>
            <a:ext cx="10579855" cy="763721"/>
          </a:xfrm>
        </p:spPr>
        <p:txBody>
          <a:bodyPr>
            <a:noAutofit/>
          </a:bodyPr>
          <a:lstStyle/>
          <a:p>
            <a:r>
              <a:rPr lang="en-US" dirty="0">
                <a:latin typeface="American Typewriter" charset="0"/>
                <a:ea typeface="American Typewriter" charset="0"/>
                <a:cs typeface="American Typewriter" charset="0"/>
              </a:rPr>
              <a:t>R</a:t>
            </a:r>
            <a:r>
              <a:rPr lang="en-US" dirty="0"/>
              <a:t> as a Tool for Teaching Chemometrics</a:t>
            </a:r>
          </a:p>
        </p:txBody>
      </p:sp>
      <p:sp>
        <p:nvSpPr>
          <p:cNvPr id="5" name="Content Placeholder 4"/>
          <p:cNvSpPr>
            <a:spLocks noGrp="1"/>
          </p:cNvSpPr>
          <p:nvPr>
            <p:ph idx="4294967295"/>
          </p:nvPr>
        </p:nvSpPr>
        <p:spPr>
          <a:xfrm>
            <a:off x="1097279" y="1132984"/>
            <a:ext cx="10112058" cy="3160894"/>
          </a:xfrm>
        </p:spPr>
        <p:txBody>
          <a:bodyPr>
            <a:noAutofit/>
          </a:bodyPr>
          <a:lstStyle/>
          <a:p>
            <a:pPr marL="344488" indent="-249238">
              <a:spcBef>
                <a:spcPts val="600"/>
              </a:spcBef>
              <a:buClr>
                <a:schemeClr val="tx1"/>
              </a:buClr>
              <a:buFont typeface="Courier New" charset="0"/>
              <a:buChar char="o"/>
            </a:pPr>
            <a:r>
              <a:rPr lang="en-US" sz="2400" dirty="0">
                <a:solidFill>
                  <a:schemeClr val="tx1"/>
                </a:solidFill>
              </a:rPr>
              <a:t>data-centric programming language and environment for statistical computing</a:t>
            </a:r>
          </a:p>
          <a:p>
            <a:pPr marL="344488" indent="-249238">
              <a:spcBef>
                <a:spcPts val="600"/>
              </a:spcBef>
              <a:buClr>
                <a:schemeClr val="tx1"/>
              </a:buClr>
              <a:buFont typeface="Courier New" charset="0"/>
              <a:buChar char="o"/>
            </a:pPr>
            <a:r>
              <a:rPr lang="en-US" sz="2400" dirty="0">
                <a:solidFill>
                  <a:schemeClr val="tx1"/>
                </a:solidFill>
              </a:rPr>
              <a:t>base installation provides access to a wide variety of computational methods for processing data and tools for visualizing data</a:t>
            </a:r>
          </a:p>
          <a:p>
            <a:pPr marL="344488" indent="-249238">
              <a:spcBef>
                <a:spcPts val="600"/>
              </a:spcBef>
              <a:buClr>
                <a:schemeClr val="tx1"/>
              </a:buClr>
              <a:buFont typeface="Courier New" charset="0"/>
              <a:buChar char="o"/>
            </a:pPr>
            <a:r>
              <a:rPr lang="en-US" sz="2400" dirty="0">
                <a:solidFill>
                  <a:schemeClr val="tx1"/>
                </a:solidFill>
              </a:rPr>
              <a:t>highly extensible through user-written scripts and packages of functions</a:t>
            </a:r>
          </a:p>
          <a:p>
            <a:pPr marL="344488" indent="-249238">
              <a:spcBef>
                <a:spcPts val="600"/>
              </a:spcBef>
              <a:buClr>
                <a:schemeClr val="tx1"/>
              </a:buClr>
              <a:buFont typeface="Courier New" charset="0"/>
              <a:buChar char="o"/>
            </a:pPr>
            <a:r>
              <a:rPr lang="en-US" sz="2400" dirty="0">
                <a:solidFill>
                  <a:schemeClr val="tx1"/>
                </a:solidFill>
              </a:rPr>
              <a:t>available via Free Software Foundation’s GNU General Public License</a:t>
            </a:r>
          </a:p>
          <a:p>
            <a:pPr marL="344488" indent="-249238">
              <a:spcBef>
                <a:spcPts val="600"/>
              </a:spcBef>
              <a:buClr>
                <a:schemeClr val="tx1"/>
              </a:buClr>
              <a:buFont typeface="Courier New" charset="0"/>
              <a:buChar char="o"/>
            </a:pPr>
            <a:r>
              <a:rPr lang="en-US" sz="2400" dirty="0">
                <a:solidFill>
                  <a:schemeClr val="tx1"/>
                </a:solidFill>
              </a:rPr>
              <a:t>versions for UNIX, Linux, Windows, and </a:t>
            </a:r>
            <a:r>
              <a:rPr lang="en-US" sz="2400" dirty="0" err="1">
                <a:solidFill>
                  <a:schemeClr val="tx1"/>
                </a:solidFill>
              </a:rPr>
              <a:t>MacOS</a:t>
            </a:r>
            <a:r>
              <a:rPr lang="en-US" sz="2400" dirty="0">
                <a:solidFill>
                  <a:schemeClr val="tx1"/>
                </a:solidFill>
              </a:rPr>
              <a:t> platforms</a:t>
            </a:r>
          </a:p>
          <a:p>
            <a:pPr marL="344488" indent="-249238">
              <a:spcBef>
                <a:spcPts val="600"/>
              </a:spcBef>
              <a:buClr>
                <a:schemeClr val="tx1"/>
              </a:buClr>
              <a:buFont typeface="Courier New" charset="0"/>
              <a:buChar char="o"/>
            </a:pPr>
            <a:r>
              <a:rPr lang="en-US" sz="2400" dirty="0">
                <a:solidFill>
                  <a:schemeClr val="tx1"/>
                </a:solidFill>
              </a:rPr>
              <a:t>base packages are very stable so code is resilient</a:t>
            </a:r>
          </a:p>
        </p:txBody>
      </p:sp>
      <p:sp>
        <p:nvSpPr>
          <p:cNvPr id="7" name="TextBox 6"/>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
        <p:nvSpPr>
          <p:cNvPr id="2" name="Rectangle 1"/>
          <p:cNvSpPr/>
          <p:nvPr/>
        </p:nvSpPr>
        <p:spPr>
          <a:xfrm>
            <a:off x="5651190" y="4416146"/>
            <a:ext cx="6025944" cy="369332"/>
          </a:xfrm>
          <a:prstGeom prst="rect">
            <a:avLst/>
          </a:prstGeom>
        </p:spPr>
        <p:txBody>
          <a:bodyPr wrap="none">
            <a:spAutoFit/>
          </a:bodyPr>
          <a:lstStyle/>
          <a:p>
            <a:pPr algn="r"/>
            <a:r>
              <a:rPr lang="en-US" dirty="0"/>
              <a:t>for further details regarding </a:t>
            </a:r>
            <a:r>
              <a:rPr lang="en-US" dirty="0">
                <a:latin typeface="American Typewriter" charset="0"/>
                <a:ea typeface="American Typewriter" charset="0"/>
                <a:cs typeface="American Typewriter" charset="0"/>
              </a:rPr>
              <a:t>R</a:t>
            </a:r>
            <a:r>
              <a:rPr lang="en-US" dirty="0"/>
              <a:t>, see https://</a:t>
            </a:r>
            <a:r>
              <a:rPr lang="en-US" dirty="0" err="1"/>
              <a:t>www.r-project.org</a:t>
            </a:r>
            <a:r>
              <a:rPr lang="en-US" dirty="0"/>
              <a:t>/</a:t>
            </a:r>
          </a:p>
        </p:txBody>
      </p:sp>
      <p:sp>
        <p:nvSpPr>
          <p:cNvPr id="6" name="TextBox 5"/>
          <p:cNvSpPr txBox="1"/>
          <p:nvPr/>
        </p:nvSpPr>
        <p:spPr>
          <a:xfrm>
            <a:off x="800250" y="5269878"/>
            <a:ext cx="10690353" cy="707886"/>
          </a:xfrm>
          <a:prstGeom prst="rect">
            <a:avLst/>
          </a:prstGeom>
          <a:noFill/>
        </p:spPr>
        <p:txBody>
          <a:bodyPr wrap="square" rtlCol="0">
            <a:spAutoFit/>
          </a:bodyPr>
          <a:lstStyle/>
          <a:p>
            <a:r>
              <a:rPr lang="en-US" sz="2000" b="1" i="1" dirty="0">
                <a:solidFill>
                  <a:srgbClr val="FF0000"/>
                </a:solidFill>
                <a:ea typeface="American Typewriter" charset="0"/>
                <a:cs typeface="American Typewriter" charset="0"/>
              </a:rPr>
              <a:t>Make </a:t>
            </a:r>
            <a:r>
              <a:rPr lang="en-US" sz="2000" b="1" i="1" dirty="0">
                <a:solidFill>
                  <a:srgbClr val="FF0000"/>
                </a:solidFill>
                <a:latin typeface="American Typewriter" charset="0"/>
                <a:ea typeface="American Typewriter" charset="0"/>
                <a:cs typeface="American Typewriter" charset="0"/>
              </a:rPr>
              <a:t>R</a:t>
            </a:r>
            <a:r>
              <a:rPr lang="en-US" sz="2000" b="1" i="1" dirty="0">
                <a:solidFill>
                  <a:srgbClr val="FF0000"/>
                </a:solidFill>
              </a:rPr>
              <a:t> a tool, not a barrier. </a:t>
            </a:r>
            <a:r>
              <a:rPr lang="en-US" sz="2000" dirty="0">
                <a:solidFill>
                  <a:srgbClr val="FF0000"/>
                </a:solidFill>
              </a:rPr>
              <a:t>Emphasis is on adapting coding examples, using coding templates, using available packages, and using functions provided by instructor</a:t>
            </a:r>
          </a:p>
        </p:txBody>
      </p:sp>
      <p:sp>
        <p:nvSpPr>
          <p:cNvPr id="8" name="Rounded Rectangle 7"/>
          <p:cNvSpPr/>
          <p:nvPr/>
        </p:nvSpPr>
        <p:spPr>
          <a:xfrm>
            <a:off x="701396" y="5147610"/>
            <a:ext cx="10789207" cy="952422"/>
          </a:xfrm>
          <a:prstGeom prst="roundRect">
            <a:avLst/>
          </a:prstGeom>
          <a:solidFill>
            <a:srgbClr val="00B0F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0920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Analytical System: Beer’s Law</a:t>
            </a:r>
          </a:p>
        </p:txBody>
      </p:sp>
      <p:sp>
        <p:nvSpPr>
          <p:cNvPr id="3" name="Content Placeholder 2"/>
          <p:cNvSpPr>
            <a:spLocks noGrp="1"/>
          </p:cNvSpPr>
          <p:nvPr>
            <p:ph idx="1"/>
          </p:nvPr>
        </p:nvSpPr>
        <p:spPr>
          <a:xfrm>
            <a:off x="877361" y="1279557"/>
            <a:ext cx="4998720" cy="4413532"/>
          </a:xfrm>
        </p:spPr>
        <p:txBody>
          <a:bodyPr>
            <a:noAutofit/>
          </a:bodyPr>
          <a:lstStyle/>
          <a:p>
            <a:pPr>
              <a:buClr>
                <a:schemeClr val="tx1"/>
              </a:buClr>
              <a:buFont typeface="Courier New" charset="0"/>
              <a:buChar char="o"/>
            </a:pPr>
            <a:r>
              <a:rPr lang="en-US" sz="2800" dirty="0"/>
              <a:t> stock standards</a:t>
            </a:r>
          </a:p>
          <a:p>
            <a:pPr marL="403225" lvl="1" indent="-203200">
              <a:spcAft>
                <a:spcPts val="0"/>
              </a:spcAft>
              <a:buClr>
                <a:schemeClr val="tx1"/>
              </a:buClr>
              <a:buFont typeface="Arial" charset="0"/>
              <a:buChar char="•"/>
            </a:pPr>
            <a:r>
              <a:rPr lang="en-US" sz="2400" dirty="0"/>
              <a:t>0.0500 M Cu</a:t>
            </a:r>
            <a:r>
              <a:rPr lang="en-US" sz="2400" baseline="30000" dirty="0"/>
              <a:t>2+</a:t>
            </a:r>
          </a:p>
          <a:p>
            <a:pPr marL="403225" lvl="1" indent="-203200">
              <a:spcAft>
                <a:spcPts val="0"/>
              </a:spcAft>
              <a:buClr>
                <a:schemeClr val="tx1"/>
              </a:buClr>
              <a:buFont typeface="Arial" charset="0"/>
              <a:buChar char="•"/>
            </a:pPr>
            <a:r>
              <a:rPr lang="en-US" sz="2400" dirty="0"/>
              <a:t>0.1000 M Co</a:t>
            </a:r>
            <a:r>
              <a:rPr lang="en-US" sz="2400" baseline="30000" dirty="0"/>
              <a:t>2+ </a:t>
            </a:r>
          </a:p>
          <a:p>
            <a:pPr marL="403225" lvl="1" indent="-203200">
              <a:spcAft>
                <a:spcPts val="0"/>
              </a:spcAft>
              <a:buClr>
                <a:schemeClr val="tx1"/>
              </a:buClr>
              <a:buFont typeface="Arial" charset="0"/>
              <a:buChar char="•"/>
            </a:pPr>
            <a:r>
              <a:rPr lang="en-US" sz="2400" dirty="0"/>
              <a:t>0.0375 M Cr</a:t>
            </a:r>
            <a:r>
              <a:rPr lang="en-US" sz="2400" baseline="30000" dirty="0"/>
              <a:t>3+ </a:t>
            </a:r>
          </a:p>
          <a:p>
            <a:pPr marL="403225" lvl="1" indent="-203200">
              <a:spcAft>
                <a:spcPts val="0"/>
              </a:spcAft>
              <a:buClr>
                <a:schemeClr val="tx1"/>
              </a:buClr>
              <a:buFont typeface="Arial" charset="0"/>
              <a:buChar char="•"/>
            </a:pPr>
            <a:r>
              <a:rPr lang="en-US" sz="2400" dirty="0"/>
              <a:t>0.1300 M Ni</a:t>
            </a:r>
            <a:r>
              <a:rPr lang="en-US" sz="2400" baseline="30000" dirty="0"/>
              <a:t>2+ </a:t>
            </a:r>
          </a:p>
          <a:p>
            <a:pPr marL="403225" lvl="1" indent="-203200">
              <a:spcAft>
                <a:spcPts val="0"/>
              </a:spcAft>
              <a:buClr>
                <a:schemeClr val="tx1"/>
              </a:buClr>
              <a:buFont typeface="Arial" charset="0"/>
              <a:buChar char="•"/>
            </a:pPr>
            <a:r>
              <a:rPr lang="en-US" sz="2400" dirty="0"/>
              <a:t>all in 0.10 M HNO</a:t>
            </a:r>
            <a:r>
              <a:rPr lang="en-US" sz="2400" baseline="-25000" dirty="0"/>
              <a:t>3</a:t>
            </a:r>
          </a:p>
          <a:p>
            <a:pPr marL="175705" indent="-268288">
              <a:buClr>
                <a:schemeClr val="tx1"/>
              </a:buClr>
              <a:buFont typeface="Courier New" charset="0"/>
              <a:buChar char="o"/>
            </a:pPr>
            <a:r>
              <a:rPr lang="en-US" sz="2800" dirty="0"/>
              <a:t>samples prepared from stocks</a:t>
            </a:r>
          </a:p>
          <a:p>
            <a:pPr marL="403225" lvl="1" indent="-203200">
              <a:buClr>
                <a:schemeClr val="tx1"/>
              </a:buClr>
              <a:buFont typeface="Arial" charset="0"/>
              <a:buChar char="•"/>
            </a:pPr>
            <a:r>
              <a:rPr lang="en-US" sz="2400" dirty="0"/>
              <a:t>single metal ions </a:t>
            </a:r>
          </a:p>
          <a:p>
            <a:pPr marL="403225" lvl="1" indent="-203200">
              <a:buClr>
                <a:schemeClr val="tx1"/>
              </a:buClr>
              <a:buFont typeface="Arial" charset="0"/>
              <a:buChar char="•"/>
            </a:pPr>
            <a:r>
              <a:rPr lang="en-US" sz="2400" dirty="0"/>
              <a:t>binary mixtures of metal ions</a:t>
            </a:r>
          </a:p>
          <a:p>
            <a:pPr marL="403225" lvl="1" indent="-203200">
              <a:buClr>
                <a:schemeClr val="tx1"/>
              </a:buClr>
              <a:buFont typeface="Arial" charset="0"/>
              <a:buChar char="•"/>
            </a:pPr>
            <a:r>
              <a:rPr lang="en-US" sz="2400" dirty="0"/>
              <a:t>ternary mixtures of metal ions</a:t>
            </a:r>
          </a:p>
          <a:p>
            <a:pPr marL="403225" lvl="1" indent="-203200">
              <a:buClr>
                <a:schemeClr val="tx1"/>
              </a:buClr>
              <a:buFont typeface="Arial" charset="0"/>
              <a:buChar char="•"/>
            </a:pPr>
            <a:r>
              <a:rPr lang="en-US" sz="2400" dirty="0"/>
              <a:t>quaternary mixtures of metal ions</a:t>
            </a:r>
          </a:p>
        </p:txBody>
      </p:sp>
      <p:sp>
        <p:nvSpPr>
          <p:cNvPr id="5" name="Content Placeholder 2"/>
          <p:cNvSpPr txBox="1">
            <a:spLocks/>
          </p:cNvSpPr>
          <p:nvPr/>
        </p:nvSpPr>
        <p:spPr>
          <a:xfrm>
            <a:off x="6014977" y="1215502"/>
            <a:ext cx="5860649" cy="459333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60375" lvl="1" indent="-260350">
              <a:spcBef>
                <a:spcPts val="0"/>
              </a:spcBef>
              <a:spcAft>
                <a:spcPts val="1200"/>
              </a:spcAft>
              <a:buClr>
                <a:schemeClr val="tx1"/>
              </a:buClr>
              <a:buFont typeface="Courier New" charset="0"/>
              <a:buChar char="o"/>
            </a:pPr>
            <a:r>
              <a:rPr lang="en-US" sz="2400" dirty="0"/>
              <a:t>spectra collected with a Vernier SpectroVis Plus spectrometer; exported as .csv files </a:t>
            </a:r>
          </a:p>
          <a:p>
            <a:pPr marL="460375" lvl="1" indent="-260350">
              <a:spcBef>
                <a:spcPts val="0"/>
              </a:spcBef>
              <a:spcAft>
                <a:spcPts val="1200"/>
              </a:spcAft>
              <a:buClr>
                <a:schemeClr val="tx1"/>
              </a:buClr>
              <a:buFont typeface="Courier New" charset="0"/>
              <a:buChar char="o"/>
            </a:pPr>
            <a:r>
              <a:rPr lang="en-US" sz="2400" dirty="0"/>
              <a:t>individual .csv files combined into a single file, cleaned up, and saved as a .csv file </a:t>
            </a:r>
          </a:p>
          <a:p>
            <a:pPr marL="460375" lvl="1" indent="-260350">
              <a:spcBef>
                <a:spcPts val="0"/>
              </a:spcBef>
              <a:spcAft>
                <a:spcPts val="1200"/>
              </a:spcAft>
              <a:buClr>
                <a:schemeClr val="tx1"/>
              </a:buClr>
              <a:buFont typeface="Courier New" charset="0"/>
              <a:buChar char="o"/>
            </a:pPr>
            <a:r>
              <a:rPr lang="en-US" sz="2400" b="1" dirty="0">
                <a:solidFill>
                  <a:srgbClr val="00B050"/>
                </a:solidFill>
              </a:rPr>
              <a:t>file has 80 rows (one per sample) and 642 columns (seven with information on composition of samples and absorbance values at 635 wavelengths)</a:t>
            </a:r>
          </a:p>
          <a:p>
            <a:pPr marL="460375" lvl="1" indent="-260350">
              <a:buClr>
                <a:schemeClr val="tx1"/>
              </a:buClr>
              <a:buFont typeface="Courier New" charset="0"/>
              <a:buChar char="o"/>
            </a:pPr>
            <a:r>
              <a:rPr lang="en-US" sz="2400" dirty="0"/>
              <a:t>data set is brought into </a:t>
            </a:r>
            <a:r>
              <a:rPr lang="en-US" sz="2400" dirty="0">
                <a:latin typeface="American Typewriter" charset="0"/>
                <a:ea typeface="American Typewriter" charset="0"/>
                <a:cs typeface="American Typewriter" charset="0"/>
              </a:rPr>
              <a:t>R</a:t>
            </a:r>
            <a:r>
              <a:rPr lang="en-US" sz="2400" dirty="0"/>
              <a:t> using the </a:t>
            </a:r>
            <a:r>
              <a:rPr lang="en-US" sz="2400" dirty="0" err="1"/>
              <a:t>readr</a:t>
            </a:r>
            <a:r>
              <a:rPr lang="en-US" sz="2400" dirty="0"/>
              <a:t> package’s </a:t>
            </a:r>
            <a:r>
              <a:rPr lang="en-US" sz="2400" dirty="0" err="1"/>
              <a:t>read_csv</a:t>
            </a:r>
            <a:r>
              <a:rPr lang="en-US" sz="2400" dirty="0"/>
              <a:t>( ) function and then further subsetted within </a:t>
            </a:r>
            <a:r>
              <a:rPr lang="en-US" sz="2400" dirty="0">
                <a:latin typeface="American Typewriter" charset="0"/>
                <a:ea typeface="American Typewriter" charset="0"/>
                <a:cs typeface="American Typewriter" charset="0"/>
              </a:rPr>
              <a:t>R</a:t>
            </a:r>
            <a:r>
              <a:rPr lang="en-US" sz="2400" dirty="0"/>
              <a:t> to create individual data files</a:t>
            </a:r>
          </a:p>
        </p:txBody>
      </p:sp>
      <p:sp>
        <p:nvSpPr>
          <p:cNvPr id="7" name="TextBox 6"/>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368674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101" y="425761"/>
            <a:ext cx="11979797" cy="5355312"/>
          </a:xfrm>
          <a:prstGeom prst="rect">
            <a:avLst/>
          </a:prstGeom>
          <a:noFill/>
        </p:spPr>
        <p:txBody>
          <a:bodyPr wrap="square" rtlCol="0">
            <a:spAutoFit/>
          </a:bodyPr>
          <a:lstStyle/>
          <a:p>
            <a:pPr algn="ctr"/>
            <a:r>
              <a:rPr lang="en-US" sz="9600" dirty="0">
                <a:ln>
                  <a:solidFill>
                    <a:srgbClr val="FF0000"/>
                  </a:solidFill>
                </a:ln>
                <a:noFill/>
              </a:rPr>
              <a:t>Context</a:t>
            </a:r>
          </a:p>
          <a:p>
            <a:pPr algn="ctr"/>
            <a:r>
              <a:rPr lang="en-US" sz="9600" b="1" dirty="0">
                <a:ln>
                  <a:solidFill>
                    <a:srgbClr val="FF0000"/>
                  </a:solidFill>
                </a:ln>
                <a:solidFill>
                  <a:srgbClr val="FF0000"/>
                </a:solidFill>
              </a:rPr>
              <a:t>Prelude</a:t>
            </a:r>
          </a:p>
          <a:p>
            <a:pPr algn="ctr"/>
            <a:r>
              <a:rPr lang="en-US" sz="9600" dirty="0">
                <a:ln>
                  <a:solidFill>
                    <a:srgbClr val="FF0000"/>
                  </a:solidFill>
                </a:ln>
                <a:noFill/>
              </a:rPr>
              <a:t>Main Feature </a:t>
            </a:r>
          </a:p>
          <a:p>
            <a:pPr algn="ctr"/>
            <a:r>
              <a:rPr lang="en-US" sz="4400" dirty="0">
                <a:ln>
                  <a:solidFill>
                    <a:srgbClr val="FF0000"/>
                  </a:solidFill>
                </a:ln>
                <a:noFill/>
              </a:rPr>
              <a:t>(in 3 Parts w/2 Themes)</a:t>
            </a:r>
          </a:p>
        </p:txBody>
      </p:sp>
      <p:sp>
        <p:nvSpPr>
          <p:cNvPr id="3" name="TextBox 2"/>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636982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Standardization for Copper</a:t>
            </a:r>
          </a:p>
        </p:txBody>
      </p:sp>
      <p:sp>
        <p:nvSpPr>
          <p:cNvPr id="15" name="TextBox 14"/>
          <p:cNvSpPr txBox="1"/>
          <p:nvPr/>
        </p:nvSpPr>
        <p:spPr>
          <a:xfrm>
            <a:off x="123568" y="1338850"/>
            <a:ext cx="5972432" cy="1292662"/>
          </a:xfrm>
          <a:prstGeom prst="rect">
            <a:avLst/>
          </a:prstGeom>
          <a:noFill/>
        </p:spPr>
        <p:txBody>
          <a:bodyPr wrap="square" rtlCol="0">
            <a:spAutoFit/>
          </a:bodyPr>
          <a:lstStyle/>
          <a:p>
            <a:pPr algn="ctr">
              <a:spcAft>
                <a:spcPts val="1200"/>
              </a:spcAft>
            </a:pPr>
            <a:r>
              <a:rPr lang="en-US" sz="2800" i="1" dirty="0" err="1">
                <a:solidFill>
                  <a:srgbClr val="0070C0"/>
                </a:solidFill>
              </a:rPr>
              <a:t>A</a:t>
            </a:r>
            <a:r>
              <a:rPr lang="en-US" sz="2800" i="1" baseline="-25000" dirty="0" err="1">
                <a:solidFill>
                  <a:srgbClr val="0070C0"/>
                </a:solidFill>
                <a:latin typeface="Symbol" charset="2"/>
                <a:ea typeface="Symbol" charset="2"/>
                <a:cs typeface="Symbol" charset="2"/>
              </a:rPr>
              <a:t>l</a:t>
            </a:r>
            <a:r>
              <a:rPr lang="en-US" sz="2800" i="1" baseline="-25000" dirty="0" err="1">
                <a:solidFill>
                  <a:srgbClr val="0070C0"/>
                </a:solidFill>
                <a:ea typeface="Symbol" charset="2"/>
                <a:cs typeface="Symbol" charset="2"/>
              </a:rPr>
              <a:t>,</a:t>
            </a:r>
            <a:r>
              <a:rPr lang="en-US" sz="2800" baseline="-25000" dirty="0" err="1">
                <a:solidFill>
                  <a:srgbClr val="0070C0"/>
                </a:solidFill>
                <a:ea typeface="Symbol" charset="2"/>
                <a:cs typeface="Symbol" charset="2"/>
              </a:rPr>
              <a:t>Cu</a:t>
            </a:r>
            <a:r>
              <a:rPr lang="en-US" sz="2800" i="1"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baseline="-25000" dirty="0" err="1">
                <a:solidFill>
                  <a:srgbClr val="0070C0"/>
                </a:solidFill>
                <a:latin typeface="Symbol" charset="2"/>
                <a:ea typeface="Symbol" charset="2"/>
                <a:cs typeface="Symbol" charset="2"/>
              </a:rPr>
              <a:t>l</a:t>
            </a:r>
            <a:r>
              <a:rPr lang="en-US" sz="2800" i="1" baseline="-25000" dirty="0" err="1">
                <a:solidFill>
                  <a:srgbClr val="0070C0"/>
                </a:solidFill>
                <a:ea typeface="Symbol" charset="2"/>
                <a:cs typeface="Symbol" charset="2"/>
              </a:rPr>
              <a:t>,</a:t>
            </a:r>
            <a:r>
              <a:rPr lang="en-US" sz="2800" baseline="-25000" dirty="0" err="1">
                <a:solidFill>
                  <a:srgbClr val="0070C0"/>
                </a:solidFill>
                <a:ea typeface="Symbol" charset="2"/>
                <a:cs typeface="Symbol" charset="2"/>
              </a:rPr>
              <a:t>Cu</a:t>
            </a:r>
            <a:r>
              <a:rPr lang="en-US" sz="2800" i="1" dirty="0" err="1">
                <a:solidFill>
                  <a:srgbClr val="0070C0"/>
                </a:solidFill>
              </a:rPr>
              <a:t>bC</a:t>
            </a:r>
            <a:r>
              <a:rPr lang="en-US" sz="2800" baseline="-25000" dirty="0" err="1">
                <a:solidFill>
                  <a:srgbClr val="0070C0"/>
                </a:solidFill>
              </a:rPr>
              <a:t>Cu</a:t>
            </a:r>
            <a:endParaRPr lang="en-US" dirty="0">
              <a:latin typeface="Calibri" charset="0"/>
              <a:ea typeface="Calibri" charset="0"/>
              <a:cs typeface="Calibri" charset="0"/>
            </a:endParaRPr>
          </a:p>
          <a:p>
            <a:pPr marL="342900" indent="-342900">
              <a:spcAft>
                <a:spcPts val="600"/>
              </a:spcAft>
              <a:buAutoNum type="arabicPeriod"/>
            </a:pPr>
            <a:r>
              <a:rPr lang="en-US" sz="2000" b="1" dirty="0">
                <a:solidFill>
                  <a:srgbClr val="FF0000"/>
                </a:solidFill>
                <a:latin typeface="Calibri" charset="0"/>
                <a:ea typeface="Calibri" charset="0"/>
                <a:cs typeface="Calibri" charset="0"/>
              </a:rPr>
              <a:t>plot spectra for set of standards and identify the wavelength of maximum absorbance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1" y="1034606"/>
            <a:ext cx="5663878" cy="5259315"/>
          </a:xfrm>
          <a:prstGeom prst="rect">
            <a:avLst/>
          </a:prstGeom>
        </p:spPr>
      </p:pic>
      <p:sp>
        <p:nvSpPr>
          <p:cNvPr id="5" name="Rectangle 4"/>
          <p:cNvSpPr/>
          <p:nvPr/>
        </p:nvSpPr>
        <p:spPr>
          <a:xfrm>
            <a:off x="123568" y="5924589"/>
            <a:ext cx="7805090"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a:t>
            </a:r>
            <a:r>
              <a:rPr lang="en-US" dirty="0" err="1">
                <a:solidFill>
                  <a:srgbClr val="FF0000"/>
                </a:solidFill>
                <a:latin typeface="Calibri" charset="0"/>
                <a:ea typeface="Calibri" charset="0"/>
                <a:cs typeface="Calibri" charset="0"/>
              </a:rPr>
              <a:t>readr</a:t>
            </a:r>
            <a:r>
              <a:rPr lang="en-US" dirty="0">
                <a:solidFill>
                  <a:srgbClr val="FF0000"/>
                </a:solidFill>
                <a:latin typeface="Calibri" charset="0"/>
                <a:ea typeface="Calibri" charset="0"/>
                <a:cs typeface="Calibri" charset="0"/>
              </a:rPr>
              <a:t>::</a:t>
            </a:r>
            <a:r>
              <a:rPr lang="en-US" dirty="0" err="1">
                <a:solidFill>
                  <a:srgbClr val="FF0000"/>
                </a:solidFill>
                <a:latin typeface="Calibri" charset="0"/>
                <a:ea typeface="Calibri" charset="0"/>
                <a:cs typeface="Calibri" charset="0"/>
              </a:rPr>
              <a:t>read_csv</a:t>
            </a:r>
            <a:r>
              <a:rPr lang="en-US" dirty="0">
                <a:solidFill>
                  <a:srgbClr val="FF0000"/>
                </a:solidFill>
                <a:latin typeface="Calibri" charset="0"/>
                <a:ea typeface="Calibri" charset="0"/>
                <a:cs typeface="Calibri" charset="0"/>
              </a:rPr>
              <a:t>( )</a:t>
            </a:r>
            <a:r>
              <a:rPr lang="en-US" dirty="0">
                <a:solidFill>
                  <a:srgbClr val="FF0000"/>
                </a:solidFill>
              </a:rPr>
              <a:t>, </a:t>
            </a:r>
            <a:r>
              <a:rPr lang="en-US" dirty="0" err="1">
                <a:solidFill>
                  <a:srgbClr val="FF0000"/>
                </a:solidFill>
                <a:latin typeface="Calibri" charset="0"/>
                <a:ea typeface="Calibri" charset="0"/>
                <a:cs typeface="Calibri" charset="0"/>
              </a:rPr>
              <a:t>matplot</a:t>
            </a:r>
            <a:r>
              <a:rPr lang="en-US" dirty="0">
                <a:solidFill>
                  <a:srgbClr val="FF0000"/>
                </a:solidFill>
                <a:latin typeface="Calibri" charset="0"/>
                <a:ea typeface="Calibri" charset="0"/>
                <a:cs typeface="Calibri" charset="0"/>
              </a:rPr>
              <a:t>( ), legend( ), </a:t>
            </a:r>
            <a:r>
              <a:rPr lang="en-US" dirty="0" err="1">
                <a:solidFill>
                  <a:srgbClr val="FF0000"/>
                </a:solidFill>
                <a:latin typeface="Calibri" charset="0"/>
                <a:ea typeface="Calibri" charset="0"/>
                <a:cs typeface="Calibri" charset="0"/>
              </a:rPr>
              <a:t>which.max</a:t>
            </a:r>
            <a:r>
              <a:rPr lang="en-US" dirty="0">
                <a:solidFill>
                  <a:srgbClr val="FF0000"/>
                </a:solidFill>
                <a:latin typeface="Calibri" charset="0"/>
                <a:ea typeface="Calibri" charset="0"/>
                <a:cs typeface="Calibri" charset="0"/>
              </a:rPr>
              <a:t>( ), abline( ) </a:t>
            </a:r>
            <a:endParaRPr lang="en-US" dirty="0">
              <a:solidFill>
                <a:srgbClr val="FF0000"/>
              </a:solidFill>
            </a:endParaRPr>
          </a:p>
        </p:txBody>
      </p:sp>
      <p:sp>
        <p:nvSpPr>
          <p:cNvPr id="9" name="TextBox 8"/>
          <p:cNvSpPr txBox="1"/>
          <p:nvPr/>
        </p:nvSpPr>
        <p:spPr>
          <a:xfrm>
            <a:off x="2215949" y="2639777"/>
            <a:ext cx="1787669" cy="461665"/>
          </a:xfrm>
          <a:prstGeom prst="rect">
            <a:avLst/>
          </a:prstGeom>
          <a:noFill/>
        </p:spPr>
        <p:txBody>
          <a:bodyPr wrap="none" rtlCol="0">
            <a:spAutoFit/>
          </a:bodyPr>
          <a:lstStyle/>
          <a:p>
            <a:r>
              <a:rPr lang="en-US" sz="2400" dirty="0">
                <a:solidFill>
                  <a:srgbClr val="0070C0"/>
                </a:solidFill>
                <a:latin typeface="Symbol" charset="2"/>
                <a:ea typeface="Symbol" charset="2"/>
                <a:cs typeface="Symbol" charset="2"/>
              </a:rPr>
              <a:t>l </a:t>
            </a:r>
            <a:r>
              <a:rPr lang="en-US" sz="2400" dirty="0">
                <a:solidFill>
                  <a:srgbClr val="0070C0"/>
                </a:solidFill>
              </a:rPr>
              <a:t>= 809.1 nm</a:t>
            </a:r>
          </a:p>
        </p:txBody>
      </p:sp>
      <p:sp>
        <p:nvSpPr>
          <p:cNvPr id="7" name="TextBox 6"/>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542670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Standardization for Copper</a:t>
            </a:r>
          </a:p>
        </p:txBody>
      </p:sp>
      <p:sp>
        <p:nvSpPr>
          <p:cNvPr id="6" name="Rectangle 5"/>
          <p:cNvSpPr/>
          <p:nvPr/>
        </p:nvSpPr>
        <p:spPr>
          <a:xfrm>
            <a:off x="461669" y="3446652"/>
            <a:ext cx="5634331" cy="1815882"/>
          </a:xfrm>
          <a:prstGeom prst="rect">
            <a:avLst/>
          </a:prstGeom>
        </p:spPr>
        <p:txBody>
          <a:bodyPr wrap="square">
            <a:spAutoFit/>
          </a:bodyPr>
          <a:lstStyle/>
          <a:p>
            <a:r>
              <a:rPr lang="en-US" sz="1600" dirty="0">
                <a:solidFill>
                  <a:srgbClr val="7030A0"/>
                </a:solidFill>
              </a:rPr>
              <a:t>Coefficients:      Estimate       Std. Error      t value         Pr(&gt;|t|)    </a:t>
            </a:r>
          </a:p>
          <a:p>
            <a:r>
              <a:rPr lang="en-US" sz="1600" dirty="0">
                <a:solidFill>
                  <a:srgbClr val="7030A0"/>
                </a:solidFill>
              </a:rPr>
              <a:t>(Intercept)	        0.003202      0.008222      0.389            0.723    </a:t>
            </a:r>
          </a:p>
          <a:p>
            <a:r>
              <a:rPr lang="en-US" sz="1600" dirty="0" err="1">
                <a:solidFill>
                  <a:srgbClr val="7030A0"/>
                </a:solidFill>
              </a:rPr>
              <a:t>cuStd_conc</a:t>
            </a:r>
            <a:r>
              <a:rPr lang="en-US" sz="1600" dirty="0">
                <a:solidFill>
                  <a:srgbClr val="7030A0"/>
                </a:solidFill>
              </a:rPr>
              <a:t>       12.778883   0.247900       51.548        1.61e-05 ***</a:t>
            </a:r>
          </a:p>
          <a:p>
            <a:r>
              <a:rPr lang="en-US" sz="1600" dirty="0">
                <a:solidFill>
                  <a:srgbClr val="7030A0"/>
                </a:solidFill>
              </a:rPr>
              <a:t>---Signif. codes:  0 ‘***’ 0.001 ‘**’ 0.01 ‘*’ 0.05 ‘.’ 0.1 ‘ ’ 1</a:t>
            </a:r>
          </a:p>
          <a:p>
            <a:r>
              <a:rPr lang="en-US" sz="1600" dirty="0">
                <a:solidFill>
                  <a:srgbClr val="7030A0"/>
                </a:solidFill>
              </a:rPr>
              <a:t>Residual standard error: 0.007839 on 3 degrees of freedom</a:t>
            </a:r>
          </a:p>
          <a:p>
            <a:r>
              <a:rPr lang="en-US" sz="1600" dirty="0">
                <a:solidFill>
                  <a:srgbClr val="7030A0"/>
                </a:solidFill>
              </a:rPr>
              <a:t>Multiple R-squared:  0.9989, Adjusted R-squared:  0.9985 </a:t>
            </a:r>
          </a:p>
          <a:p>
            <a:r>
              <a:rPr lang="en-US" sz="1600" dirty="0">
                <a:solidFill>
                  <a:srgbClr val="7030A0"/>
                </a:solidFill>
              </a:rPr>
              <a:t>F-statistic:  2657 on 1 and 3 DF,  p-value: 1.608e-05</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027065"/>
            <a:ext cx="5817951" cy="5302207"/>
          </a:xfrm>
          <a:prstGeom prst="rect">
            <a:avLst/>
          </a:prstGeom>
        </p:spPr>
      </p:pic>
      <p:sp>
        <p:nvSpPr>
          <p:cNvPr id="11" name="TextBox 10"/>
          <p:cNvSpPr txBox="1"/>
          <p:nvPr/>
        </p:nvSpPr>
        <p:spPr>
          <a:xfrm>
            <a:off x="123568" y="1338850"/>
            <a:ext cx="5972432" cy="1985159"/>
          </a:xfrm>
          <a:prstGeom prst="rect">
            <a:avLst/>
          </a:prstGeom>
          <a:noFill/>
        </p:spPr>
        <p:txBody>
          <a:bodyPr wrap="square" rtlCol="0">
            <a:spAutoFit/>
          </a:bodyPr>
          <a:lstStyle/>
          <a:p>
            <a:pPr algn="ctr">
              <a:spcAft>
                <a:spcPts val="1200"/>
              </a:spcAft>
            </a:pPr>
            <a:r>
              <a:rPr lang="en-US" sz="2800" i="1" dirty="0" err="1">
                <a:solidFill>
                  <a:srgbClr val="0070C0"/>
                </a:solidFill>
              </a:rPr>
              <a:t>A</a:t>
            </a:r>
            <a:r>
              <a:rPr lang="en-US" sz="2800" i="1" baseline="-25000" dirty="0" err="1">
                <a:solidFill>
                  <a:srgbClr val="0070C0"/>
                </a:solidFill>
                <a:latin typeface="Symbol" charset="2"/>
                <a:ea typeface="Symbol" charset="2"/>
                <a:cs typeface="Symbol" charset="2"/>
              </a:rPr>
              <a:t>l</a:t>
            </a:r>
            <a:r>
              <a:rPr lang="en-US" sz="2800" i="1" baseline="-25000" dirty="0" err="1">
                <a:solidFill>
                  <a:srgbClr val="0070C0"/>
                </a:solidFill>
                <a:ea typeface="Symbol" charset="2"/>
                <a:cs typeface="Symbol" charset="2"/>
              </a:rPr>
              <a:t>,</a:t>
            </a:r>
            <a:r>
              <a:rPr lang="en-US" sz="2800" baseline="-25000" dirty="0" err="1">
                <a:solidFill>
                  <a:srgbClr val="0070C0"/>
                </a:solidFill>
                <a:ea typeface="Symbol" charset="2"/>
                <a:cs typeface="Symbol" charset="2"/>
              </a:rPr>
              <a:t>Cu</a:t>
            </a:r>
            <a:r>
              <a:rPr lang="en-US" sz="2800" i="1"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baseline="-25000" dirty="0" err="1">
                <a:solidFill>
                  <a:srgbClr val="0070C0"/>
                </a:solidFill>
                <a:latin typeface="Symbol" charset="2"/>
                <a:ea typeface="Symbol" charset="2"/>
                <a:cs typeface="Symbol" charset="2"/>
              </a:rPr>
              <a:t>l</a:t>
            </a:r>
            <a:r>
              <a:rPr lang="en-US" sz="2800" i="1" baseline="-25000" dirty="0" err="1">
                <a:solidFill>
                  <a:srgbClr val="0070C0"/>
                </a:solidFill>
                <a:ea typeface="Symbol" charset="2"/>
                <a:cs typeface="Symbol" charset="2"/>
              </a:rPr>
              <a:t>,</a:t>
            </a:r>
            <a:r>
              <a:rPr lang="en-US" sz="2800" baseline="-25000" dirty="0" err="1">
                <a:solidFill>
                  <a:srgbClr val="0070C0"/>
                </a:solidFill>
                <a:ea typeface="Symbol" charset="2"/>
                <a:cs typeface="Symbol" charset="2"/>
              </a:rPr>
              <a:t>Cu</a:t>
            </a:r>
            <a:r>
              <a:rPr lang="en-US" sz="2800" i="1" dirty="0" err="1">
                <a:solidFill>
                  <a:srgbClr val="0070C0"/>
                </a:solidFill>
              </a:rPr>
              <a:t>bC</a:t>
            </a:r>
            <a:r>
              <a:rPr lang="en-US" sz="2800" baseline="-25000" dirty="0" err="1">
                <a:solidFill>
                  <a:srgbClr val="0070C0"/>
                </a:solidFill>
              </a:rPr>
              <a:t>Cu</a:t>
            </a:r>
            <a:endParaRPr lang="en-US" sz="2800" dirty="0">
              <a:latin typeface="Calibri" charset="0"/>
              <a:ea typeface="Calibri" charset="0"/>
              <a:cs typeface="Calibri" charset="0"/>
            </a:endParaRPr>
          </a:p>
          <a:p>
            <a:pPr marL="342900" indent="-342900">
              <a:spcAft>
                <a:spcPts val="600"/>
              </a:spcAft>
              <a:buAutoNum type="arabicPeriod"/>
            </a:pPr>
            <a:r>
              <a:rPr lang="en-US" sz="2000" dirty="0">
                <a:latin typeface="Calibri" charset="0"/>
                <a:ea typeface="Calibri" charset="0"/>
                <a:cs typeface="Calibri" charset="0"/>
              </a:rPr>
              <a:t>plot spectra for set of standards and identify the wavelength of maximum absorbance</a:t>
            </a:r>
          </a:p>
          <a:p>
            <a:pPr marL="342900" indent="-342900">
              <a:spcAft>
                <a:spcPts val="600"/>
              </a:spcAft>
              <a:buFontTx/>
              <a:buAutoNum type="arabicPeriod"/>
            </a:pPr>
            <a:r>
              <a:rPr lang="en-US" sz="2000" b="1" dirty="0">
                <a:solidFill>
                  <a:srgbClr val="FF0000"/>
                </a:solidFill>
                <a:latin typeface="Calibri" charset="0"/>
                <a:ea typeface="Calibri" charset="0"/>
                <a:cs typeface="Calibri" charset="0"/>
              </a:rPr>
              <a:t>plot calibration data and determine equation for calibration curve</a:t>
            </a:r>
          </a:p>
        </p:txBody>
      </p:sp>
      <p:sp>
        <p:nvSpPr>
          <p:cNvPr id="7" name="TextBox 6"/>
          <p:cNvSpPr txBox="1"/>
          <p:nvPr/>
        </p:nvSpPr>
        <p:spPr>
          <a:xfrm>
            <a:off x="1207304" y="5427573"/>
            <a:ext cx="3608173" cy="461665"/>
          </a:xfrm>
          <a:prstGeom prst="rect">
            <a:avLst/>
          </a:prstGeom>
          <a:noFill/>
        </p:spPr>
        <p:txBody>
          <a:bodyPr wrap="square" rtlCol="0">
            <a:spAutoFit/>
          </a:bodyPr>
          <a:lstStyle/>
          <a:p>
            <a:r>
              <a:rPr lang="en-US" sz="2400" i="1" dirty="0">
                <a:solidFill>
                  <a:srgbClr val="0070C0"/>
                </a:solidFill>
              </a:rPr>
              <a:t>A</a:t>
            </a:r>
            <a:r>
              <a:rPr lang="en-US" sz="2400" dirty="0">
                <a:solidFill>
                  <a:srgbClr val="0070C0"/>
                </a:solidFill>
              </a:rPr>
              <a:t> = 12.78 M</a:t>
            </a:r>
            <a:r>
              <a:rPr lang="en-US" sz="2400" baseline="30000" dirty="0">
                <a:solidFill>
                  <a:srgbClr val="0070C0"/>
                </a:solidFill>
              </a:rPr>
              <a:t>–1</a:t>
            </a:r>
            <a:r>
              <a:rPr lang="en-US" sz="2400" dirty="0">
                <a:solidFill>
                  <a:srgbClr val="0070C0"/>
                </a:solidFill>
              </a:rPr>
              <a:t> × </a:t>
            </a:r>
            <a:r>
              <a:rPr lang="en-US" sz="2400" i="1" dirty="0">
                <a:solidFill>
                  <a:srgbClr val="0070C0"/>
                </a:solidFill>
              </a:rPr>
              <a:t>C</a:t>
            </a:r>
            <a:r>
              <a:rPr lang="en-US" sz="2400" dirty="0">
                <a:solidFill>
                  <a:srgbClr val="0070C0"/>
                </a:solidFill>
              </a:rPr>
              <a:t> + 0.0032</a:t>
            </a:r>
          </a:p>
        </p:txBody>
      </p:sp>
      <p:sp>
        <p:nvSpPr>
          <p:cNvPr id="16" name="Rectangle 15"/>
          <p:cNvSpPr/>
          <p:nvPr/>
        </p:nvSpPr>
        <p:spPr>
          <a:xfrm>
            <a:off x="123568" y="5924589"/>
            <a:ext cx="597243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 lm( ), abline( ), summary( ) </a:t>
            </a:r>
            <a:endParaRPr lang="en-US" dirty="0">
              <a:solidFill>
                <a:srgbClr val="FF0000"/>
              </a:solidFill>
            </a:endParaRPr>
          </a:p>
        </p:txBody>
      </p:sp>
      <p:sp>
        <p:nvSpPr>
          <p:cNvPr id="9" name="TextBox 8"/>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698620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4904" y="1039012"/>
            <a:ext cx="5725997" cy="5271128"/>
          </a:xfrm>
          <a:prstGeom prst="rect">
            <a:avLst/>
          </a:prstGeom>
        </p:spPr>
      </p:pic>
      <p:sp>
        <p:nvSpPr>
          <p:cNvPr id="2" name="Title 1"/>
          <p:cNvSpPr>
            <a:spLocks noGrp="1"/>
          </p:cNvSpPr>
          <p:nvPr>
            <p:ph type="title"/>
          </p:nvPr>
        </p:nvSpPr>
        <p:spPr/>
        <p:txBody>
          <a:bodyPr/>
          <a:lstStyle/>
          <a:p>
            <a:r>
              <a:rPr lang="en-US" dirty="0"/>
              <a:t>External Standardization for Copper</a:t>
            </a:r>
          </a:p>
        </p:txBody>
      </p:sp>
      <p:sp>
        <p:nvSpPr>
          <p:cNvPr id="3" name="TextBox 2"/>
          <p:cNvSpPr txBox="1"/>
          <p:nvPr/>
        </p:nvSpPr>
        <p:spPr>
          <a:xfrm>
            <a:off x="773420" y="4016506"/>
            <a:ext cx="4296293" cy="1308050"/>
          </a:xfrm>
          <a:prstGeom prst="rect">
            <a:avLst/>
          </a:prstGeom>
          <a:noFill/>
        </p:spPr>
        <p:txBody>
          <a:bodyPr wrap="square" rtlCol="0">
            <a:spAutoFit/>
          </a:bodyPr>
          <a:lstStyle/>
          <a:p>
            <a:pPr>
              <a:spcAft>
                <a:spcPts val="600"/>
              </a:spcAft>
            </a:pPr>
            <a:r>
              <a:rPr lang="en-US" sz="1600" dirty="0">
                <a:solidFill>
                  <a:srgbClr val="7030A0"/>
                </a:solidFill>
              </a:rPr>
              <a:t>$Prediction[1] 0.02322567</a:t>
            </a:r>
          </a:p>
          <a:p>
            <a:pPr>
              <a:spcAft>
                <a:spcPts val="600"/>
              </a:spcAft>
            </a:pPr>
            <a:r>
              <a:rPr lang="en-US" sz="1600" dirty="0">
                <a:solidFill>
                  <a:srgbClr val="7030A0"/>
                </a:solidFill>
              </a:rPr>
              <a:t>$`Standard Error`[1] 0.0006847376</a:t>
            </a:r>
          </a:p>
          <a:p>
            <a:pPr>
              <a:spcAft>
                <a:spcPts val="600"/>
              </a:spcAft>
            </a:pPr>
            <a:r>
              <a:rPr lang="en-US" sz="1600" dirty="0">
                <a:solidFill>
                  <a:srgbClr val="7030A0"/>
                </a:solidFill>
              </a:rPr>
              <a:t>$Confidence[1] 0.002179141</a:t>
            </a:r>
          </a:p>
          <a:p>
            <a:pPr>
              <a:spcAft>
                <a:spcPts val="600"/>
              </a:spcAft>
            </a:pPr>
            <a:r>
              <a:rPr lang="en-US" sz="1600" dirty="0">
                <a:solidFill>
                  <a:srgbClr val="7030A0"/>
                </a:solidFill>
              </a:rPr>
              <a:t>$`Confidence Limits`[1] 0.02104653  0.02540481</a:t>
            </a:r>
          </a:p>
        </p:txBody>
      </p:sp>
      <p:sp>
        <p:nvSpPr>
          <p:cNvPr id="53" name="TextBox 52"/>
          <p:cNvSpPr txBox="1"/>
          <p:nvPr/>
        </p:nvSpPr>
        <p:spPr>
          <a:xfrm>
            <a:off x="123568" y="1338850"/>
            <a:ext cx="5972432" cy="2677656"/>
          </a:xfrm>
          <a:prstGeom prst="rect">
            <a:avLst/>
          </a:prstGeom>
          <a:noFill/>
        </p:spPr>
        <p:txBody>
          <a:bodyPr wrap="square" rtlCol="0">
            <a:spAutoFit/>
          </a:bodyPr>
          <a:lstStyle/>
          <a:p>
            <a:pPr algn="ctr">
              <a:spcAft>
                <a:spcPts val="1200"/>
              </a:spcAft>
            </a:pPr>
            <a:r>
              <a:rPr lang="en-US" sz="2800" i="1" dirty="0" err="1">
                <a:solidFill>
                  <a:srgbClr val="0070C0"/>
                </a:solidFill>
              </a:rPr>
              <a:t>A</a:t>
            </a:r>
            <a:r>
              <a:rPr lang="en-US" sz="2800" i="1" baseline="-25000" dirty="0" err="1">
                <a:solidFill>
                  <a:srgbClr val="0070C0"/>
                </a:solidFill>
                <a:latin typeface="Symbol" charset="2"/>
                <a:ea typeface="Symbol" charset="2"/>
                <a:cs typeface="Symbol" charset="2"/>
              </a:rPr>
              <a:t>l</a:t>
            </a:r>
            <a:r>
              <a:rPr lang="en-US" sz="2800" i="1" baseline="-25000" dirty="0" err="1">
                <a:solidFill>
                  <a:srgbClr val="0070C0"/>
                </a:solidFill>
                <a:ea typeface="Symbol" charset="2"/>
                <a:cs typeface="Symbol" charset="2"/>
              </a:rPr>
              <a:t>,</a:t>
            </a:r>
            <a:r>
              <a:rPr lang="en-US" sz="2800" baseline="-25000" dirty="0" err="1">
                <a:solidFill>
                  <a:srgbClr val="0070C0"/>
                </a:solidFill>
                <a:ea typeface="Symbol" charset="2"/>
                <a:cs typeface="Symbol" charset="2"/>
              </a:rPr>
              <a:t>Cu</a:t>
            </a:r>
            <a:r>
              <a:rPr lang="en-US" sz="2800" i="1"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baseline="-25000" dirty="0" err="1">
                <a:solidFill>
                  <a:srgbClr val="0070C0"/>
                </a:solidFill>
                <a:latin typeface="Symbol" charset="2"/>
                <a:ea typeface="Symbol" charset="2"/>
                <a:cs typeface="Symbol" charset="2"/>
              </a:rPr>
              <a:t>l</a:t>
            </a:r>
            <a:r>
              <a:rPr lang="en-US" sz="2800" i="1" baseline="-25000" dirty="0" err="1">
                <a:solidFill>
                  <a:srgbClr val="0070C0"/>
                </a:solidFill>
                <a:ea typeface="Symbol" charset="2"/>
                <a:cs typeface="Symbol" charset="2"/>
              </a:rPr>
              <a:t>,</a:t>
            </a:r>
            <a:r>
              <a:rPr lang="en-US" sz="2800" baseline="-25000" dirty="0" err="1">
                <a:solidFill>
                  <a:srgbClr val="0070C0"/>
                </a:solidFill>
                <a:ea typeface="Symbol" charset="2"/>
                <a:cs typeface="Symbol" charset="2"/>
              </a:rPr>
              <a:t>Cu</a:t>
            </a:r>
            <a:r>
              <a:rPr lang="en-US" sz="2800" i="1" dirty="0" err="1">
                <a:solidFill>
                  <a:srgbClr val="0070C0"/>
                </a:solidFill>
              </a:rPr>
              <a:t>bC</a:t>
            </a:r>
            <a:r>
              <a:rPr lang="en-US" sz="2800" baseline="-25000" dirty="0" err="1">
                <a:solidFill>
                  <a:srgbClr val="0070C0"/>
                </a:solidFill>
              </a:rPr>
              <a:t>Cu</a:t>
            </a:r>
            <a:endParaRPr lang="en-US" sz="2800" dirty="0">
              <a:latin typeface="Calibri" charset="0"/>
              <a:ea typeface="Calibri" charset="0"/>
              <a:cs typeface="Calibri" charset="0"/>
            </a:endParaRPr>
          </a:p>
          <a:p>
            <a:pPr marL="342900" indent="-342900">
              <a:spcAft>
                <a:spcPts val="600"/>
              </a:spcAft>
              <a:buAutoNum type="arabicPeriod"/>
            </a:pPr>
            <a:r>
              <a:rPr lang="en-US" sz="2000" dirty="0">
                <a:latin typeface="Calibri" charset="0"/>
                <a:ea typeface="Calibri" charset="0"/>
                <a:cs typeface="Calibri" charset="0"/>
              </a:rPr>
              <a:t>plot spectra for set of standards and identify the wavelength of maximum absorbance</a:t>
            </a:r>
          </a:p>
          <a:p>
            <a:pPr marL="342900" indent="-342900">
              <a:spcAft>
                <a:spcPts val="600"/>
              </a:spcAft>
              <a:buFontTx/>
              <a:buAutoNum type="arabicPeriod"/>
            </a:pPr>
            <a:r>
              <a:rPr lang="en-US" sz="2000" dirty="0">
                <a:latin typeface="Calibri" charset="0"/>
                <a:ea typeface="Calibri" charset="0"/>
                <a:cs typeface="Calibri" charset="0"/>
              </a:rPr>
              <a:t>plot calibration data and determine equation for calibration curve</a:t>
            </a:r>
          </a:p>
          <a:p>
            <a:pPr marL="342900" indent="-342900">
              <a:spcAft>
                <a:spcPts val="600"/>
              </a:spcAft>
              <a:buFontTx/>
              <a:buAutoNum type="arabicPeriod"/>
            </a:pPr>
            <a:r>
              <a:rPr lang="en-US" sz="2000" b="1" dirty="0">
                <a:solidFill>
                  <a:srgbClr val="FF0000"/>
                </a:solidFill>
                <a:latin typeface="Calibri" charset="0"/>
                <a:ea typeface="Calibri" charset="0"/>
                <a:cs typeface="Calibri" charset="0"/>
              </a:rPr>
              <a:t>determine concentration of copper in an unknown using the </a:t>
            </a:r>
            <a:r>
              <a:rPr lang="en-US" sz="2000" b="1" dirty="0" err="1">
                <a:solidFill>
                  <a:srgbClr val="FF0000"/>
                </a:solidFill>
                <a:latin typeface="Calibri" charset="0"/>
                <a:ea typeface="Calibri" charset="0"/>
                <a:cs typeface="Calibri" charset="0"/>
              </a:rPr>
              <a:t>chemCal</a:t>
            </a:r>
            <a:r>
              <a:rPr lang="en-US" sz="2000" b="1" dirty="0">
                <a:solidFill>
                  <a:srgbClr val="FF0000"/>
                </a:solidFill>
                <a:latin typeface="Calibri" charset="0"/>
                <a:ea typeface="Calibri" charset="0"/>
                <a:cs typeface="Calibri" charset="0"/>
              </a:rPr>
              <a:t> package</a:t>
            </a:r>
          </a:p>
        </p:txBody>
      </p:sp>
      <p:sp>
        <p:nvSpPr>
          <p:cNvPr id="54" name="Rectangle 53"/>
          <p:cNvSpPr/>
          <p:nvPr/>
        </p:nvSpPr>
        <p:spPr>
          <a:xfrm>
            <a:off x="123568" y="5924589"/>
            <a:ext cx="597243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a:t>
            </a:r>
            <a:r>
              <a:rPr lang="en-US" dirty="0" err="1">
                <a:solidFill>
                  <a:srgbClr val="FF0000"/>
                </a:solidFill>
                <a:latin typeface="Calibri" charset="0"/>
                <a:ea typeface="Calibri" charset="0"/>
                <a:cs typeface="Calibri" charset="0"/>
              </a:rPr>
              <a:t>chemCal</a:t>
            </a:r>
            <a:r>
              <a:rPr lang="en-US" dirty="0">
                <a:solidFill>
                  <a:srgbClr val="FF0000"/>
                </a:solidFill>
                <a:latin typeface="Calibri" charset="0"/>
                <a:ea typeface="Calibri" charset="0"/>
                <a:cs typeface="Calibri" charset="0"/>
              </a:rPr>
              <a:t>::</a:t>
            </a:r>
            <a:r>
              <a:rPr lang="en-US" dirty="0" err="1">
                <a:solidFill>
                  <a:srgbClr val="FF0000"/>
                </a:solidFill>
                <a:latin typeface="Calibri" charset="0"/>
                <a:ea typeface="Calibri" charset="0"/>
                <a:cs typeface="Calibri" charset="0"/>
              </a:rPr>
              <a:t>inverse.predict</a:t>
            </a:r>
            <a:r>
              <a:rPr lang="en-US" dirty="0">
                <a:solidFill>
                  <a:srgbClr val="FF0000"/>
                </a:solidFill>
                <a:latin typeface="Calibri" charset="0"/>
                <a:ea typeface="Calibri" charset="0"/>
                <a:cs typeface="Calibri" charset="0"/>
              </a:rPr>
              <a:t>( ), arrows( )</a:t>
            </a:r>
            <a:endParaRPr lang="en-US" dirty="0">
              <a:solidFill>
                <a:srgbClr val="FF0000"/>
              </a:solidFill>
            </a:endParaRPr>
          </a:p>
        </p:txBody>
      </p:sp>
      <p:sp>
        <p:nvSpPr>
          <p:cNvPr id="17" name="TextBox 16"/>
          <p:cNvSpPr txBox="1"/>
          <p:nvPr/>
        </p:nvSpPr>
        <p:spPr>
          <a:xfrm>
            <a:off x="1147721" y="5393740"/>
            <a:ext cx="3547689" cy="461665"/>
          </a:xfrm>
          <a:prstGeom prst="rect">
            <a:avLst/>
          </a:prstGeom>
          <a:noFill/>
        </p:spPr>
        <p:txBody>
          <a:bodyPr wrap="square" rtlCol="0">
            <a:spAutoFit/>
          </a:bodyPr>
          <a:lstStyle/>
          <a:p>
            <a:r>
              <a:rPr lang="en-US" sz="2400" i="1" dirty="0" err="1">
                <a:solidFill>
                  <a:srgbClr val="0070C0"/>
                </a:solidFill>
              </a:rPr>
              <a:t>C</a:t>
            </a:r>
            <a:r>
              <a:rPr lang="en-US" sz="2400" baseline="-25000" dirty="0" err="1">
                <a:solidFill>
                  <a:srgbClr val="0070C0"/>
                </a:solidFill>
              </a:rPr>
              <a:t>cu</a:t>
            </a:r>
            <a:r>
              <a:rPr lang="en-US" sz="2400" dirty="0">
                <a:solidFill>
                  <a:srgbClr val="0070C0"/>
                </a:solidFill>
              </a:rPr>
              <a:t> = 0.0232 M ± 0.0022 M</a:t>
            </a:r>
          </a:p>
        </p:txBody>
      </p:sp>
      <p:sp>
        <p:nvSpPr>
          <p:cNvPr id="8" name="TextBox 7"/>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355152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8" y="286604"/>
            <a:ext cx="10567499" cy="813148"/>
          </a:xfrm>
        </p:spPr>
        <p:txBody>
          <a:bodyPr>
            <a:noAutofit/>
          </a:bodyPr>
          <a:lstStyle/>
          <a:p>
            <a:r>
              <a:rPr lang="en-US" dirty="0"/>
              <a:t>Analysis of Binary Mixture: Cu and Ni</a:t>
            </a:r>
          </a:p>
        </p:txBody>
      </p:sp>
      <p:sp>
        <p:nvSpPr>
          <p:cNvPr id="9" name="TextBox 8"/>
          <p:cNvSpPr txBox="1"/>
          <p:nvPr/>
        </p:nvSpPr>
        <p:spPr>
          <a:xfrm>
            <a:off x="266218" y="1395550"/>
            <a:ext cx="5625296" cy="2185214"/>
          </a:xfrm>
          <a:prstGeom prst="rect">
            <a:avLst/>
          </a:prstGeom>
          <a:noFill/>
        </p:spPr>
        <p:txBody>
          <a:bodyPr wrap="square" rtlCol="0">
            <a:spAutoFit/>
          </a:bodyPr>
          <a:lstStyle/>
          <a:p>
            <a:pPr algn="ctr">
              <a:spcAft>
                <a:spcPts val="1200"/>
              </a:spcAft>
            </a:pPr>
            <a:r>
              <a:rPr lang="en-US" sz="2800" i="1" dirty="0">
                <a:solidFill>
                  <a:srgbClr val="0070C0"/>
                </a:solidFill>
              </a:rPr>
              <a:t>A</a:t>
            </a:r>
            <a:r>
              <a:rPr lang="en-US" sz="2800" baseline="-25000" dirty="0">
                <a:solidFill>
                  <a:srgbClr val="0070C0"/>
                </a:solidFill>
                <a:latin typeface="Symbol" charset="2"/>
                <a:ea typeface="Symbol" charset="2"/>
                <a:cs typeface="Symbol" charset="2"/>
              </a:rPr>
              <a:t>l1,</a:t>
            </a:r>
            <a:r>
              <a:rPr lang="en-US" sz="2800" baseline="-25000" dirty="0">
                <a:solidFill>
                  <a:srgbClr val="0070C0"/>
                </a:solidFill>
              </a:rPr>
              <a:t>mix</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l1,</a:t>
            </a:r>
            <a:r>
              <a:rPr lang="en-US" sz="2800" baseline="-25000" dirty="0">
                <a:solidFill>
                  <a:srgbClr val="0070C0"/>
                </a:solidFill>
              </a:rPr>
              <a:t>Cu</a:t>
            </a:r>
            <a:r>
              <a:rPr lang="en-US" sz="2800" i="1" dirty="0">
                <a:solidFill>
                  <a:srgbClr val="0070C0"/>
                </a:solidFill>
              </a:rPr>
              <a:t>bC</a:t>
            </a:r>
            <a:r>
              <a:rPr lang="en-US" sz="2800" baseline="-25000" dirty="0">
                <a:solidFill>
                  <a:srgbClr val="0070C0"/>
                </a:solidFill>
              </a:rPr>
              <a:t>Cu</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l1,</a:t>
            </a:r>
            <a:r>
              <a:rPr lang="en-US" sz="2800" baseline="-25000" dirty="0">
                <a:solidFill>
                  <a:srgbClr val="0070C0"/>
                </a:solidFill>
              </a:rPr>
              <a:t>Ni</a:t>
            </a:r>
            <a:r>
              <a:rPr lang="en-US" sz="2800" i="1" dirty="0">
                <a:solidFill>
                  <a:srgbClr val="0070C0"/>
                </a:solidFill>
              </a:rPr>
              <a:t>bC</a:t>
            </a:r>
            <a:r>
              <a:rPr lang="en-US" sz="2800" baseline="-25000" dirty="0">
                <a:solidFill>
                  <a:srgbClr val="0070C0"/>
                </a:solidFill>
              </a:rPr>
              <a:t>Ni</a:t>
            </a:r>
          </a:p>
          <a:p>
            <a:pPr algn="ctr">
              <a:spcAft>
                <a:spcPts val="1200"/>
              </a:spcAft>
            </a:pPr>
            <a:r>
              <a:rPr lang="en-US" sz="2800" i="1" dirty="0">
                <a:solidFill>
                  <a:srgbClr val="0070C0"/>
                </a:solidFill>
              </a:rPr>
              <a:t>A</a:t>
            </a:r>
            <a:r>
              <a:rPr lang="en-US" sz="2800" baseline="-25000" dirty="0">
                <a:solidFill>
                  <a:srgbClr val="0070C0"/>
                </a:solidFill>
                <a:latin typeface="Symbol" charset="2"/>
                <a:ea typeface="Symbol" charset="2"/>
                <a:cs typeface="Symbol" charset="2"/>
              </a:rPr>
              <a:t>l2,</a:t>
            </a:r>
            <a:r>
              <a:rPr lang="en-US" sz="2800" baseline="-25000" dirty="0">
                <a:solidFill>
                  <a:srgbClr val="0070C0"/>
                </a:solidFill>
              </a:rPr>
              <a:t>mix</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l2,</a:t>
            </a:r>
            <a:r>
              <a:rPr lang="en-US" sz="2800" baseline="-25000" dirty="0">
                <a:solidFill>
                  <a:srgbClr val="0070C0"/>
                </a:solidFill>
              </a:rPr>
              <a:t>Cu</a:t>
            </a:r>
            <a:r>
              <a:rPr lang="en-US" sz="2800" i="1" dirty="0">
                <a:solidFill>
                  <a:srgbClr val="0070C0"/>
                </a:solidFill>
              </a:rPr>
              <a:t>bC</a:t>
            </a:r>
            <a:r>
              <a:rPr lang="en-US" sz="2800" baseline="-25000" dirty="0">
                <a:solidFill>
                  <a:srgbClr val="0070C0"/>
                </a:solidFill>
              </a:rPr>
              <a:t>Cu</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l2,</a:t>
            </a:r>
            <a:r>
              <a:rPr lang="en-US" sz="2800" baseline="-25000" dirty="0">
                <a:solidFill>
                  <a:srgbClr val="0070C0"/>
                </a:solidFill>
              </a:rPr>
              <a:t>Ni</a:t>
            </a:r>
            <a:r>
              <a:rPr lang="en-US" sz="2800" i="1" dirty="0">
                <a:solidFill>
                  <a:srgbClr val="0070C0"/>
                </a:solidFill>
              </a:rPr>
              <a:t>bC</a:t>
            </a:r>
            <a:r>
              <a:rPr lang="en-US" sz="2800" baseline="-25000" dirty="0">
                <a:solidFill>
                  <a:srgbClr val="0070C0"/>
                </a:solidFill>
              </a:rPr>
              <a:t>Ni</a:t>
            </a:r>
          </a:p>
          <a:p>
            <a:pPr marL="287338" indent="-287338">
              <a:spcAft>
                <a:spcPts val="1200"/>
              </a:spcAft>
              <a:buFont typeface="+mj-lt"/>
              <a:buAutoNum type="arabicPeriod"/>
            </a:pPr>
            <a:r>
              <a:rPr lang="en-US" sz="2000" b="1" dirty="0">
                <a:solidFill>
                  <a:srgbClr val="FF0000"/>
                </a:solidFill>
                <a:latin typeface="Calibri" charset="0"/>
                <a:ea typeface="Calibri" charset="0"/>
                <a:cs typeface="Calibri" charset="0"/>
              </a:rPr>
              <a:t>plot spectra for a Cu standard, for a Ni standard, and for a mixture, and identify the wavelengths  to use for the analysis</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041876"/>
            <a:ext cx="5808578" cy="5289475"/>
          </a:xfrm>
          <a:prstGeom prst="rect">
            <a:avLst/>
          </a:prstGeom>
        </p:spPr>
      </p:pic>
      <p:sp>
        <p:nvSpPr>
          <p:cNvPr id="12" name="TextBox 11"/>
          <p:cNvSpPr txBox="1"/>
          <p:nvPr/>
        </p:nvSpPr>
        <p:spPr>
          <a:xfrm>
            <a:off x="2081064" y="3580764"/>
            <a:ext cx="1995603" cy="830997"/>
          </a:xfrm>
          <a:prstGeom prst="rect">
            <a:avLst/>
          </a:prstGeom>
          <a:noFill/>
        </p:spPr>
        <p:txBody>
          <a:bodyPr wrap="square" rtlCol="0">
            <a:spAutoFit/>
          </a:bodyPr>
          <a:lstStyle/>
          <a:p>
            <a:r>
              <a:rPr lang="en-US" sz="2400" dirty="0">
                <a:solidFill>
                  <a:srgbClr val="0070C0"/>
                </a:solidFill>
                <a:latin typeface="Symbol" charset="2"/>
                <a:ea typeface="Symbol" charset="2"/>
                <a:cs typeface="Symbol" charset="2"/>
              </a:rPr>
              <a:t>l</a:t>
            </a:r>
            <a:r>
              <a:rPr lang="en-US" sz="2400" dirty="0">
                <a:solidFill>
                  <a:srgbClr val="0070C0"/>
                </a:solidFill>
              </a:rPr>
              <a:t>1 = </a:t>
            </a:r>
            <a:r>
              <a:rPr lang="en-US" sz="2400">
                <a:solidFill>
                  <a:srgbClr val="0070C0"/>
                </a:solidFill>
              </a:rPr>
              <a:t>809.1 nm </a:t>
            </a:r>
          </a:p>
          <a:p>
            <a:r>
              <a:rPr lang="en-US" sz="2400" dirty="0">
                <a:solidFill>
                  <a:srgbClr val="0070C0"/>
                </a:solidFill>
                <a:latin typeface="Symbol" charset="2"/>
                <a:ea typeface="Symbol" charset="2"/>
                <a:cs typeface="Symbol" charset="2"/>
              </a:rPr>
              <a:t>l</a:t>
            </a:r>
            <a:r>
              <a:rPr lang="en-US" sz="2400" dirty="0">
                <a:solidFill>
                  <a:srgbClr val="0070C0"/>
                </a:solidFill>
              </a:rPr>
              <a:t>2 = 394.2 nm</a:t>
            </a:r>
          </a:p>
        </p:txBody>
      </p:sp>
      <p:sp>
        <p:nvSpPr>
          <p:cNvPr id="16" name="Rectangle 15"/>
          <p:cNvSpPr/>
          <p:nvPr/>
        </p:nvSpPr>
        <p:spPr>
          <a:xfrm>
            <a:off x="123568" y="5924589"/>
            <a:ext cx="597243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 lines( ), legend( ), </a:t>
            </a:r>
            <a:r>
              <a:rPr lang="en-US" dirty="0" err="1">
                <a:solidFill>
                  <a:srgbClr val="FF0000"/>
                </a:solidFill>
                <a:latin typeface="Calibri" charset="0"/>
                <a:ea typeface="Calibri" charset="0"/>
                <a:cs typeface="Calibri" charset="0"/>
              </a:rPr>
              <a:t>which.max</a:t>
            </a:r>
            <a:r>
              <a:rPr lang="en-US" dirty="0">
                <a:solidFill>
                  <a:srgbClr val="FF0000"/>
                </a:solidFill>
                <a:latin typeface="Calibri" charset="0"/>
                <a:ea typeface="Calibri" charset="0"/>
                <a:cs typeface="Calibri" charset="0"/>
              </a:rPr>
              <a:t>( ), abline( ) </a:t>
            </a:r>
            <a:endParaRPr lang="en-US" dirty="0">
              <a:solidFill>
                <a:srgbClr val="FF0000"/>
              </a:solidFill>
            </a:endParaRPr>
          </a:p>
        </p:txBody>
      </p:sp>
      <p:sp>
        <p:nvSpPr>
          <p:cNvPr id="7" name="TextBox 6"/>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334727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8" y="286604"/>
            <a:ext cx="10567499" cy="813148"/>
          </a:xfrm>
        </p:spPr>
        <p:txBody>
          <a:bodyPr>
            <a:noAutofit/>
          </a:bodyPr>
          <a:lstStyle/>
          <a:p>
            <a:r>
              <a:rPr lang="en-US" dirty="0"/>
              <a:t>Analysis of Binary Mixture: Cu and Ni</a:t>
            </a:r>
          </a:p>
        </p:txBody>
      </p:sp>
      <p:sp>
        <p:nvSpPr>
          <p:cNvPr id="6" name="Rectangle 5"/>
          <p:cNvSpPr/>
          <p:nvPr/>
        </p:nvSpPr>
        <p:spPr>
          <a:xfrm>
            <a:off x="615829" y="5026996"/>
            <a:ext cx="5062604" cy="400110"/>
          </a:xfrm>
          <a:prstGeom prst="rect">
            <a:avLst/>
          </a:prstGeom>
        </p:spPr>
        <p:txBody>
          <a:bodyPr wrap="none">
            <a:spAutoFit/>
          </a:bodyPr>
          <a:lstStyle/>
          <a:p>
            <a:r>
              <a:rPr lang="en-US" sz="2000" i="1" dirty="0">
                <a:solidFill>
                  <a:srgbClr val="0070C0"/>
                </a:solidFill>
                <a:latin typeface="Symbol" charset="2"/>
                <a:ea typeface="Symbol" charset="2"/>
                <a:cs typeface="Symbol" charset="2"/>
              </a:rPr>
              <a:t>e</a:t>
            </a:r>
            <a:r>
              <a:rPr lang="en-US" sz="2000" baseline="-25000" dirty="0">
                <a:solidFill>
                  <a:srgbClr val="0070C0"/>
                </a:solidFill>
                <a:latin typeface="Symbol" charset="2"/>
                <a:ea typeface="Symbol" charset="2"/>
                <a:cs typeface="Symbol" charset="2"/>
              </a:rPr>
              <a:t>809.1,</a:t>
            </a:r>
            <a:r>
              <a:rPr lang="en-US" sz="2000" baseline="-25000" dirty="0">
                <a:solidFill>
                  <a:srgbClr val="0070C0"/>
                </a:solidFill>
              </a:rPr>
              <a:t>Cu</a:t>
            </a:r>
            <a:r>
              <a:rPr lang="en-US" sz="2000" i="1" dirty="0">
                <a:solidFill>
                  <a:srgbClr val="0070C0"/>
                </a:solidFill>
              </a:rPr>
              <a:t>b </a:t>
            </a:r>
            <a:r>
              <a:rPr lang="en-US" sz="2000" dirty="0">
                <a:solidFill>
                  <a:srgbClr val="0070C0"/>
                </a:solidFill>
              </a:rPr>
              <a:t>= 12.78 M</a:t>
            </a:r>
            <a:r>
              <a:rPr lang="en-US" sz="2000" baseline="30000" dirty="0">
                <a:solidFill>
                  <a:srgbClr val="0070C0"/>
                </a:solidFill>
              </a:rPr>
              <a:t>–1</a:t>
            </a:r>
            <a:r>
              <a:rPr lang="en-US" sz="2000" dirty="0">
                <a:solidFill>
                  <a:srgbClr val="0070C0"/>
                </a:solidFill>
              </a:rPr>
              <a:t> and  </a:t>
            </a:r>
            <a:r>
              <a:rPr lang="en-US" sz="2000" i="1" dirty="0">
                <a:solidFill>
                  <a:srgbClr val="0070C0"/>
                </a:solidFill>
                <a:latin typeface="Symbol" charset="2"/>
                <a:ea typeface="Symbol" charset="2"/>
                <a:cs typeface="Symbol" charset="2"/>
              </a:rPr>
              <a:t>e</a:t>
            </a:r>
            <a:r>
              <a:rPr lang="en-US" sz="2000" baseline="-25000" dirty="0">
                <a:solidFill>
                  <a:srgbClr val="0070C0"/>
                </a:solidFill>
                <a:latin typeface="Symbol" charset="2"/>
                <a:ea typeface="Symbol" charset="2"/>
                <a:cs typeface="Symbol" charset="2"/>
              </a:rPr>
              <a:t>394.2,</a:t>
            </a:r>
            <a:r>
              <a:rPr lang="en-US" sz="2000" baseline="-25000" dirty="0">
                <a:solidFill>
                  <a:srgbClr val="0070C0"/>
                </a:solidFill>
              </a:rPr>
              <a:t>Cu</a:t>
            </a:r>
            <a:r>
              <a:rPr lang="en-US" sz="2000" i="1" dirty="0">
                <a:solidFill>
                  <a:srgbClr val="0070C0"/>
                </a:solidFill>
              </a:rPr>
              <a:t>b </a:t>
            </a:r>
            <a:r>
              <a:rPr lang="en-US" sz="2000" dirty="0">
                <a:solidFill>
                  <a:srgbClr val="0070C0"/>
                </a:solidFill>
              </a:rPr>
              <a:t>= 0.017 M</a:t>
            </a:r>
            <a:r>
              <a:rPr lang="en-US" sz="2000" baseline="30000" dirty="0">
                <a:solidFill>
                  <a:srgbClr val="0070C0"/>
                </a:solidFill>
              </a:rPr>
              <a:t>–1</a:t>
            </a:r>
            <a:r>
              <a:rPr lang="en-US" sz="2000" dirty="0">
                <a:solidFill>
                  <a:srgbClr val="0070C0"/>
                </a:solidFill>
              </a:rPr>
              <a:t> </a:t>
            </a:r>
          </a:p>
        </p:txBody>
      </p:sp>
      <p:sp>
        <p:nvSpPr>
          <p:cNvPr id="13" name="Rectangle 12"/>
          <p:cNvSpPr/>
          <p:nvPr/>
        </p:nvSpPr>
        <p:spPr>
          <a:xfrm>
            <a:off x="615829" y="4469097"/>
            <a:ext cx="5028941" cy="400110"/>
          </a:xfrm>
          <a:prstGeom prst="rect">
            <a:avLst/>
          </a:prstGeom>
        </p:spPr>
        <p:txBody>
          <a:bodyPr wrap="none">
            <a:spAutoFit/>
          </a:bodyPr>
          <a:lstStyle/>
          <a:p>
            <a:r>
              <a:rPr lang="en-US" sz="2000" i="1" dirty="0">
                <a:solidFill>
                  <a:srgbClr val="0070C0"/>
                </a:solidFill>
                <a:latin typeface="Symbol" charset="2"/>
                <a:ea typeface="Symbol" charset="2"/>
                <a:cs typeface="Symbol" charset="2"/>
              </a:rPr>
              <a:t>e</a:t>
            </a:r>
            <a:r>
              <a:rPr lang="en-US" sz="2000" baseline="-25000" dirty="0">
                <a:solidFill>
                  <a:srgbClr val="0070C0"/>
                </a:solidFill>
                <a:latin typeface="Symbol" charset="2"/>
                <a:ea typeface="Symbol" charset="2"/>
                <a:cs typeface="Symbol" charset="2"/>
              </a:rPr>
              <a:t>809.1,</a:t>
            </a:r>
            <a:r>
              <a:rPr lang="en-US" sz="2000" baseline="-25000" dirty="0">
                <a:solidFill>
                  <a:srgbClr val="0070C0"/>
                </a:solidFill>
              </a:rPr>
              <a:t>Ni</a:t>
            </a:r>
            <a:r>
              <a:rPr lang="en-US" sz="2000" i="1" dirty="0">
                <a:solidFill>
                  <a:srgbClr val="0070C0"/>
                </a:solidFill>
              </a:rPr>
              <a:t>b </a:t>
            </a:r>
            <a:r>
              <a:rPr lang="en-US" sz="2000" dirty="0">
                <a:solidFill>
                  <a:srgbClr val="0070C0"/>
                </a:solidFill>
              </a:rPr>
              <a:t>= 0.837 M</a:t>
            </a:r>
            <a:r>
              <a:rPr lang="en-US" sz="2000" baseline="30000" dirty="0">
                <a:solidFill>
                  <a:srgbClr val="0070C0"/>
                </a:solidFill>
              </a:rPr>
              <a:t>–1</a:t>
            </a:r>
            <a:r>
              <a:rPr lang="en-US" sz="2000" dirty="0">
                <a:solidFill>
                  <a:srgbClr val="0070C0"/>
                </a:solidFill>
              </a:rPr>
              <a:t> and  </a:t>
            </a:r>
            <a:r>
              <a:rPr lang="en-US" sz="2000" i="1" dirty="0">
                <a:solidFill>
                  <a:srgbClr val="0070C0"/>
                </a:solidFill>
                <a:latin typeface="Symbol" charset="2"/>
                <a:ea typeface="Symbol" charset="2"/>
                <a:cs typeface="Symbol" charset="2"/>
              </a:rPr>
              <a:t>e</a:t>
            </a:r>
            <a:r>
              <a:rPr lang="en-US" sz="2000" baseline="-25000" dirty="0">
                <a:solidFill>
                  <a:srgbClr val="0070C0"/>
                </a:solidFill>
                <a:latin typeface="Symbol" charset="2"/>
                <a:ea typeface="Symbol" charset="2"/>
                <a:cs typeface="Symbol" charset="2"/>
              </a:rPr>
              <a:t>394.2,Ni</a:t>
            </a:r>
            <a:r>
              <a:rPr lang="en-US" sz="2000" i="1" dirty="0">
                <a:solidFill>
                  <a:srgbClr val="0070C0"/>
                </a:solidFill>
              </a:rPr>
              <a:t>b </a:t>
            </a:r>
            <a:r>
              <a:rPr lang="en-US" sz="2000" dirty="0">
                <a:solidFill>
                  <a:srgbClr val="0070C0"/>
                </a:solidFill>
              </a:rPr>
              <a:t>= 4.870 M</a:t>
            </a:r>
            <a:r>
              <a:rPr lang="en-US" sz="2000" baseline="30000" dirty="0">
                <a:solidFill>
                  <a:srgbClr val="0070C0"/>
                </a:solidFill>
              </a:rPr>
              <a:t>–1</a:t>
            </a:r>
            <a:r>
              <a:rPr lang="en-US" sz="2000" dirty="0">
                <a:solidFill>
                  <a:srgbClr val="0070C0"/>
                </a:solidFill>
              </a:rPr>
              <a:t> </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7576" y="1041877"/>
            <a:ext cx="5802974" cy="5277900"/>
          </a:xfrm>
          <a:prstGeom prst="rect">
            <a:avLst/>
          </a:prstGeom>
        </p:spPr>
      </p:pic>
      <p:sp>
        <p:nvSpPr>
          <p:cNvPr id="14" name="TextBox 13"/>
          <p:cNvSpPr txBox="1"/>
          <p:nvPr/>
        </p:nvSpPr>
        <p:spPr>
          <a:xfrm>
            <a:off x="266218" y="1395550"/>
            <a:ext cx="5625296" cy="2954655"/>
          </a:xfrm>
          <a:prstGeom prst="rect">
            <a:avLst/>
          </a:prstGeom>
          <a:noFill/>
        </p:spPr>
        <p:txBody>
          <a:bodyPr wrap="square" rtlCol="0">
            <a:spAutoFit/>
          </a:bodyPr>
          <a:lstStyle/>
          <a:p>
            <a:pPr algn="ctr">
              <a:spcAft>
                <a:spcPts val="1200"/>
              </a:spcAft>
            </a:pPr>
            <a:r>
              <a:rPr lang="en-US" sz="2800" i="1" dirty="0">
                <a:solidFill>
                  <a:srgbClr val="0070C0"/>
                </a:solidFill>
              </a:rPr>
              <a:t>A</a:t>
            </a:r>
            <a:r>
              <a:rPr lang="en-US" sz="2800" baseline="-25000" dirty="0">
                <a:solidFill>
                  <a:srgbClr val="0070C0"/>
                </a:solidFill>
                <a:latin typeface="Symbol" charset="2"/>
                <a:ea typeface="Symbol" charset="2"/>
                <a:cs typeface="Symbol" charset="2"/>
              </a:rPr>
              <a:t>l1,</a:t>
            </a:r>
            <a:r>
              <a:rPr lang="en-US" sz="2800" baseline="-25000" dirty="0">
                <a:solidFill>
                  <a:srgbClr val="0070C0"/>
                </a:solidFill>
              </a:rPr>
              <a:t>mix</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l1,</a:t>
            </a:r>
            <a:r>
              <a:rPr lang="en-US" sz="2800" baseline="-25000" dirty="0">
                <a:solidFill>
                  <a:srgbClr val="0070C0"/>
                </a:solidFill>
              </a:rPr>
              <a:t>Cu</a:t>
            </a:r>
            <a:r>
              <a:rPr lang="en-US" sz="2800" i="1" dirty="0">
                <a:solidFill>
                  <a:srgbClr val="0070C0"/>
                </a:solidFill>
              </a:rPr>
              <a:t>bC</a:t>
            </a:r>
            <a:r>
              <a:rPr lang="en-US" sz="2800" baseline="-25000" dirty="0">
                <a:solidFill>
                  <a:srgbClr val="0070C0"/>
                </a:solidFill>
              </a:rPr>
              <a:t>Cu</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l1,</a:t>
            </a:r>
            <a:r>
              <a:rPr lang="en-US" sz="2800" baseline="-25000" dirty="0">
                <a:solidFill>
                  <a:srgbClr val="0070C0"/>
                </a:solidFill>
              </a:rPr>
              <a:t>Ni</a:t>
            </a:r>
            <a:r>
              <a:rPr lang="en-US" sz="2800" i="1" dirty="0">
                <a:solidFill>
                  <a:srgbClr val="0070C0"/>
                </a:solidFill>
              </a:rPr>
              <a:t>bC</a:t>
            </a:r>
            <a:r>
              <a:rPr lang="en-US" sz="2800" baseline="-25000" dirty="0">
                <a:solidFill>
                  <a:srgbClr val="0070C0"/>
                </a:solidFill>
              </a:rPr>
              <a:t>Ni</a:t>
            </a:r>
          </a:p>
          <a:p>
            <a:pPr algn="ctr">
              <a:spcAft>
                <a:spcPts val="1200"/>
              </a:spcAft>
            </a:pPr>
            <a:r>
              <a:rPr lang="en-US" sz="2800" i="1" dirty="0">
                <a:solidFill>
                  <a:srgbClr val="0070C0"/>
                </a:solidFill>
              </a:rPr>
              <a:t>A</a:t>
            </a:r>
            <a:r>
              <a:rPr lang="en-US" sz="2800" baseline="-25000" dirty="0">
                <a:solidFill>
                  <a:srgbClr val="0070C0"/>
                </a:solidFill>
                <a:latin typeface="Symbol" charset="2"/>
                <a:ea typeface="Symbol" charset="2"/>
                <a:cs typeface="Symbol" charset="2"/>
              </a:rPr>
              <a:t>l2,</a:t>
            </a:r>
            <a:r>
              <a:rPr lang="en-US" sz="2800" baseline="-25000" dirty="0">
                <a:solidFill>
                  <a:srgbClr val="0070C0"/>
                </a:solidFill>
              </a:rPr>
              <a:t>mix</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l2,</a:t>
            </a:r>
            <a:r>
              <a:rPr lang="en-US" sz="2800" baseline="-25000" dirty="0">
                <a:solidFill>
                  <a:srgbClr val="0070C0"/>
                </a:solidFill>
              </a:rPr>
              <a:t>Cu</a:t>
            </a:r>
            <a:r>
              <a:rPr lang="en-US" sz="2800" i="1" dirty="0">
                <a:solidFill>
                  <a:srgbClr val="0070C0"/>
                </a:solidFill>
              </a:rPr>
              <a:t>bC</a:t>
            </a:r>
            <a:r>
              <a:rPr lang="en-US" sz="2800" baseline="-25000" dirty="0">
                <a:solidFill>
                  <a:srgbClr val="0070C0"/>
                </a:solidFill>
              </a:rPr>
              <a:t>Cu</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l2,</a:t>
            </a:r>
            <a:r>
              <a:rPr lang="en-US" sz="2800" baseline="-25000" dirty="0">
                <a:solidFill>
                  <a:srgbClr val="0070C0"/>
                </a:solidFill>
              </a:rPr>
              <a:t>Ni</a:t>
            </a:r>
            <a:r>
              <a:rPr lang="en-US" sz="2800" i="1" dirty="0">
                <a:solidFill>
                  <a:srgbClr val="0070C0"/>
                </a:solidFill>
              </a:rPr>
              <a:t>bC</a:t>
            </a:r>
            <a:r>
              <a:rPr lang="en-US" sz="2800" baseline="-25000" dirty="0">
                <a:solidFill>
                  <a:srgbClr val="0070C0"/>
                </a:solidFill>
              </a:rPr>
              <a:t>Ni</a:t>
            </a:r>
          </a:p>
          <a:p>
            <a:pPr marL="287338" indent="-287338">
              <a:spcAft>
                <a:spcPts val="1200"/>
              </a:spcAft>
              <a:buFont typeface="+mj-lt"/>
              <a:buAutoNum type="arabicPeriod"/>
            </a:pPr>
            <a:r>
              <a:rPr lang="en-US" sz="2000" dirty="0">
                <a:latin typeface="Calibri" charset="0"/>
                <a:ea typeface="Calibri" charset="0"/>
                <a:cs typeface="Calibri" charset="0"/>
              </a:rPr>
              <a:t>plot spectra for a Cu standard, for a Ni standard, and for a mixture, and identify the wavelengths  to use for the analysis</a:t>
            </a:r>
          </a:p>
          <a:p>
            <a:pPr marL="287338" indent="-287338">
              <a:spcAft>
                <a:spcPts val="1200"/>
              </a:spcAft>
              <a:buFont typeface="+mj-lt"/>
              <a:buAutoNum type="arabicPeriod"/>
            </a:pPr>
            <a:r>
              <a:rPr lang="en-US" sz="2000" b="1" dirty="0">
                <a:solidFill>
                  <a:srgbClr val="FF0000"/>
                </a:solidFill>
                <a:latin typeface="Calibri" charset="0"/>
                <a:ea typeface="Calibri" charset="0"/>
                <a:cs typeface="Calibri" charset="0"/>
              </a:rPr>
              <a:t>plot calibration data and determine values for </a:t>
            </a:r>
            <a:r>
              <a:rPr lang="en-US" sz="2000" b="1" dirty="0" err="1">
                <a:solidFill>
                  <a:srgbClr val="FF0000"/>
                </a:solidFill>
                <a:latin typeface="Symbol" charset="2"/>
                <a:ea typeface="Symbol" charset="2"/>
                <a:cs typeface="Symbol" charset="2"/>
              </a:rPr>
              <a:t>e</a:t>
            </a:r>
            <a:r>
              <a:rPr lang="en-US" sz="2000" b="1" dirty="0" err="1">
                <a:solidFill>
                  <a:srgbClr val="FF0000"/>
                </a:solidFill>
                <a:latin typeface="Calibri" charset="0"/>
                <a:ea typeface="Calibri" charset="0"/>
                <a:cs typeface="Calibri" charset="0"/>
              </a:rPr>
              <a:t>b</a:t>
            </a:r>
            <a:r>
              <a:rPr lang="en-US" sz="2000" b="1" dirty="0">
                <a:solidFill>
                  <a:srgbClr val="FF0000"/>
                </a:solidFill>
                <a:latin typeface="Calibri" charset="0"/>
                <a:ea typeface="Calibri" charset="0"/>
                <a:cs typeface="Calibri" charset="0"/>
              </a:rPr>
              <a:t> for each metal at each wavelength</a:t>
            </a:r>
          </a:p>
        </p:txBody>
      </p:sp>
      <p:sp>
        <p:nvSpPr>
          <p:cNvPr id="15" name="Rectangle 14"/>
          <p:cNvSpPr/>
          <p:nvPr/>
        </p:nvSpPr>
        <p:spPr>
          <a:xfrm>
            <a:off x="123568" y="5924589"/>
            <a:ext cx="597243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 legend( ), lm( ), abline( )</a:t>
            </a:r>
            <a:endParaRPr lang="en-US" dirty="0">
              <a:solidFill>
                <a:srgbClr val="FF0000"/>
              </a:solidFill>
            </a:endParaRPr>
          </a:p>
        </p:txBody>
      </p:sp>
      <p:sp>
        <p:nvSpPr>
          <p:cNvPr id="8" name="TextBox 7"/>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300640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8" y="286604"/>
            <a:ext cx="10703425" cy="813148"/>
          </a:xfrm>
        </p:spPr>
        <p:txBody>
          <a:bodyPr>
            <a:noAutofit/>
          </a:bodyPr>
          <a:lstStyle/>
          <a:p>
            <a:r>
              <a:rPr lang="en-US" dirty="0"/>
              <a:t>Analysis of Binary Mixture: Cu and Ni</a:t>
            </a:r>
          </a:p>
        </p:txBody>
      </p:sp>
      <p:sp>
        <p:nvSpPr>
          <p:cNvPr id="4" name="TextBox 3"/>
          <p:cNvSpPr txBox="1"/>
          <p:nvPr/>
        </p:nvSpPr>
        <p:spPr>
          <a:xfrm>
            <a:off x="1097278" y="5215389"/>
            <a:ext cx="3761773" cy="400110"/>
          </a:xfrm>
          <a:prstGeom prst="rect">
            <a:avLst/>
          </a:prstGeom>
          <a:noFill/>
        </p:spPr>
        <p:txBody>
          <a:bodyPr wrap="square" rtlCol="0">
            <a:spAutoFit/>
          </a:bodyPr>
          <a:lstStyle/>
          <a:p>
            <a:r>
              <a:rPr lang="en-US" sz="2000" i="1" dirty="0" err="1">
                <a:solidFill>
                  <a:srgbClr val="0070C0"/>
                </a:solidFill>
              </a:rPr>
              <a:t>C</a:t>
            </a:r>
            <a:r>
              <a:rPr lang="en-US" sz="2000" baseline="-25000" dirty="0" err="1">
                <a:solidFill>
                  <a:srgbClr val="0070C0"/>
                </a:solidFill>
              </a:rPr>
              <a:t>Cu</a:t>
            </a:r>
            <a:r>
              <a:rPr lang="en-US" sz="2000" dirty="0">
                <a:solidFill>
                  <a:srgbClr val="0070C0"/>
                </a:solidFill>
              </a:rPr>
              <a:t> = 0.0182 M and </a:t>
            </a:r>
            <a:r>
              <a:rPr lang="en-US" sz="2000" i="1" dirty="0" err="1">
                <a:solidFill>
                  <a:srgbClr val="0070C0"/>
                </a:solidFill>
              </a:rPr>
              <a:t>C</a:t>
            </a:r>
            <a:r>
              <a:rPr lang="en-US" sz="2000" baseline="-25000" dirty="0" err="1">
                <a:solidFill>
                  <a:srgbClr val="0070C0"/>
                </a:solidFill>
              </a:rPr>
              <a:t>Ni</a:t>
            </a:r>
            <a:r>
              <a:rPr lang="en-US" sz="2000" dirty="0">
                <a:solidFill>
                  <a:srgbClr val="0070C0"/>
                </a:solidFill>
              </a:rPr>
              <a:t> = 0.0506 M</a:t>
            </a:r>
          </a:p>
        </p:txBody>
      </p:sp>
      <p:sp>
        <p:nvSpPr>
          <p:cNvPr id="7" name="TextBox 6"/>
          <p:cNvSpPr txBox="1"/>
          <p:nvPr/>
        </p:nvSpPr>
        <p:spPr>
          <a:xfrm>
            <a:off x="266218" y="1395550"/>
            <a:ext cx="5625296" cy="3724096"/>
          </a:xfrm>
          <a:prstGeom prst="rect">
            <a:avLst/>
          </a:prstGeom>
          <a:noFill/>
        </p:spPr>
        <p:txBody>
          <a:bodyPr wrap="square" rtlCol="0">
            <a:spAutoFit/>
          </a:bodyPr>
          <a:lstStyle/>
          <a:p>
            <a:pPr algn="ctr">
              <a:spcAft>
                <a:spcPts val="1200"/>
              </a:spcAft>
            </a:pPr>
            <a:r>
              <a:rPr lang="en-US" sz="2800" i="1" dirty="0">
                <a:solidFill>
                  <a:srgbClr val="0070C0"/>
                </a:solidFill>
              </a:rPr>
              <a:t>A</a:t>
            </a:r>
            <a:r>
              <a:rPr lang="en-US" sz="2800" baseline="-25000" dirty="0">
                <a:solidFill>
                  <a:srgbClr val="0070C0"/>
                </a:solidFill>
                <a:latin typeface="Symbol" charset="2"/>
                <a:ea typeface="Symbol" charset="2"/>
                <a:cs typeface="Symbol" charset="2"/>
              </a:rPr>
              <a:t>l1,</a:t>
            </a:r>
            <a:r>
              <a:rPr lang="en-US" sz="2800" baseline="-25000" dirty="0">
                <a:solidFill>
                  <a:srgbClr val="0070C0"/>
                </a:solidFill>
              </a:rPr>
              <a:t>mix</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l1,</a:t>
            </a:r>
            <a:r>
              <a:rPr lang="en-US" sz="2800" baseline="-25000" dirty="0">
                <a:solidFill>
                  <a:srgbClr val="0070C0"/>
                </a:solidFill>
              </a:rPr>
              <a:t>Cu</a:t>
            </a:r>
            <a:r>
              <a:rPr lang="en-US" sz="2800" i="1" dirty="0">
                <a:solidFill>
                  <a:srgbClr val="0070C0"/>
                </a:solidFill>
              </a:rPr>
              <a:t>bC</a:t>
            </a:r>
            <a:r>
              <a:rPr lang="en-US" sz="2800" baseline="-25000" dirty="0">
                <a:solidFill>
                  <a:srgbClr val="0070C0"/>
                </a:solidFill>
              </a:rPr>
              <a:t>Cu</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l1,</a:t>
            </a:r>
            <a:r>
              <a:rPr lang="en-US" sz="2800" baseline="-25000" dirty="0">
                <a:solidFill>
                  <a:srgbClr val="0070C0"/>
                </a:solidFill>
              </a:rPr>
              <a:t>Ni</a:t>
            </a:r>
            <a:r>
              <a:rPr lang="en-US" sz="2800" i="1" dirty="0">
                <a:solidFill>
                  <a:srgbClr val="0070C0"/>
                </a:solidFill>
              </a:rPr>
              <a:t>bC</a:t>
            </a:r>
            <a:r>
              <a:rPr lang="en-US" sz="2800" baseline="-25000" dirty="0">
                <a:solidFill>
                  <a:srgbClr val="0070C0"/>
                </a:solidFill>
              </a:rPr>
              <a:t>Ni</a:t>
            </a:r>
          </a:p>
          <a:p>
            <a:pPr algn="ctr">
              <a:spcAft>
                <a:spcPts val="1200"/>
              </a:spcAft>
            </a:pPr>
            <a:r>
              <a:rPr lang="en-US" sz="2800" i="1" dirty="0">
                <a:solidFill>
                  <a:srgbClr val="0070C0"/>
                </a:solidFill>
              </a:rPr>
              <a:t>A</a:t>
            </a:r>
            <a:r>
              <a:rPr lang="en-US" sz="2800" baseline="-25000" dirty="0">
                <a:solidFill>
                  <a:srgbClr val="0070C0"/>
                </a:solidFill>
                <a:latin typeface="Symbol" charset="2"/>
                <a:ea typeface="Symbol" charset="2"/>
                <a:cs typeface="Symbol" charset="2"/>
              </a:rPr>
              <a:t>l2,</a:t>
            </a:r>
            <a:r>
              <a:rPr lang="en-US" sz="2800" baseline="-25000" dirty="0">
                <a:solidFill>
                  <a:srgbClr val="0070C0"/>
                </a:solidFill>
              </a:rPr>
              <a:t>mix</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l2,</a:t>
            </a:r>
            <a:r>
              <a:rPr lang="en-US" sz="2800" baseline="-25000" dirty="0">
                <a:solidFill>
                  <a:srgbClr val="0070C0"/>
                </a:solidFill>
              </a:rPr>
              <a:t>Cu</a:t>
            </a:r>
            <a:r>
              <a:rPr lang="en-US" sz="2800" i="1" dirty="0">
                <a:solidFill>
                  <a:srgbClr val="0070C0"/>
                </a:solidFill>
              </a:rPr>
              <a:t>bC</a:t>
            </a:r>
            <a:r>
              <a:rPr lang="en-US" sz="2800" baseline="-25000" dirty="0">
                <a:solidFill>
                  <a:srgbClr val="0070C0"/>
                </a:solidFill>
              </a:rPr>
              <a:t>Cu</a:t>
            </a:r>
            <a:r>
              <a:rPr lang="en-US" sz="2800" dirty="0">
                <a:solidFill>
                  <a:srgbClr val="0070C0"/>
                </a:solidFill>
              </a:rPr>
              <a:t> + </a:t>
            </a:r>
            <a:r>
              <a:rPr lang="en-US" sz="2800" i="1" dirty="0">
                <a:solidFill>
                  <a:srgbClr val="0070C0"/>
                </a:solidFill>
                <a:latin typeface="Symbol" charset="2"/>
                <a:ea typeface="Symbol" charset="2"/>
                <a:cs typeface="Symbol" charset="2"/>
              </a:rPr>
              <a:t>e</a:t>
            </a:r>
            <a:r>
              <a:rPr lang="en-US" sz="2800" baseline="-25000" dirty="0">
                <a:solidFill>
                  <a:srgbClr val="0070C0"/>
                </a:solidFill>
                <a:latin typeface="Symbol" charset="2"/>
                <a:ea typeface="Symbol" charset="2"/>
                <a:cs typeface="Symbol" charset="2"/>
              </a:rPr>
              <a:t>l2,</a:t>
            </a:r>
            <a:r>
              <a:rPr lang="en-US" sz="2800" baseline="-25000" dirty="0">
                <a:solidFill>
                  <a:srgbClr val="0070C0"/>
                </a:solidFill>
              </a:rPr>
              <a:t>Ni</a:t>
            </a:r>
            <a:r>
              <a:rPr lang="en-US" sz="2800" i="1" dirty="0">
                <a:solidFill>
                  <a:srgbClr val="0070C0"/>
                </a:solidFill>
              </a:rPr>
              <a:t>bC</a:t>
            </a:r>
            <a:r>
              <a:rPr lang="en-US" sz="2800" baseline="-25000" dirty="0">
                <a:solidFill>
                  <a:srgbClr val="0070C0"/>
                </a:solidFill>
              </a:rPr>
              <a:t>Ni</a:t>
            </a:r>
          </a:p>
          <a:p>
            <a:pPr marL="287338" indent="-287338">
              <a:spcAft>
                <a:spcPts val="1200"/>
              </a:spcAft>
              <a:buFont typeface="+mj-lt"/>
              <a:buAutoNum type="arabicPeriod"/>
            </a:pPr>
            <a:r>
              <a:rPr lang="en-US" sz="2000" dirty="0">
                <a:latin typeface="Calibri" charset="0"/>
                <a:ea typeface="Calibri" charset="0"/>
                <a:cs typeface="Calibri" charset="0"/>
              </a:rPr>
              <a:t>plot spectra for a Cu standard, for a Ni standard, and for a mixture, and identify the wavelengths  to use for the analysis</a:t>
            </a:r>
          </a:p>
          <a:p>
            <a:pPr marL="287338" indent="-287338">
              <a:spcAft>
                <a:spcPts val="1200"/>
              </a:spcAft>
              <a:buFont typeface="+mj-lt"/>
              <a:buAutoNum type="arabicPeriod"/>
            </a:pPr>
            <a:r>
              <a:rPr lang="en-US" sz="2000" dirty="0">
                <a:latin typeface="Calibri" charset="0"/>
                <a:ea typeface="Calibri" charset="0"/>
                <a:cs typeface="Calibri" charset="0"/>
              </a:rPr>
              <a:t>plot calibration data and determine values for </a:t>
            </a:r>
            <a:r>
              <a:rPr lang="en-US" sz="2000" dirty="0" err="1">
                <a:latin typeface="Symbol" charset="2"/>
                <a:ea typeface="Symbol" charset="2"/>
                <a:cs typeface="Symbol" charset="2"/>
              </a:rPr>
              <a:t>e</a:t>
            </a:r>
            <a:r>
              <a:rPr lang="en-US" sz="2000" dirty="0" err="1">
                <a:latin typeface="Calibri" charset="0"/>
                <a:ea typeface="Calibri" charset="0"/>
                <a:cs typeface="Calibri" charset="0"/>
              </a:rPr>
              <a:t>b</a:t>
            </a:r>
            <a:r>
              <a:rPr lang="en-US" sz="2000" dirty="0">
                <a:latin typeface="Calibri" charset="0"/>
                <a:ea typeface="Calibri" charset="0"/>
                <a:cs typeface="Calibri" charset="0"/>
              </a:rPr>
              <a:t> for each metal at each wavelength</a:t>
            </a:r>
          </a:p>
          <a:p>
            <a:pPr marL="287338" indent="-287338">
              <a:spcAft>
                <a:spcPts val="1200"/>
              </a:spcAft>
              <a:buFont typeface="+mj-lt"/>
              <a:buAutoNum type="arabicPeriod"/>
            </a:pPr>
            <a:r>
              <a:rPr lang="en-US" sz="2000" b="1" dirty="0">
                <a:solidFill>
                  <a:srgbClr val="FF0000"/>
                </a:solidFill>
                <a:latin typeface="Calibri" charset="0"/>
                <a:ea typeface="Calibri" charset="0"/>
                <a:cs typeface="Calibri" charset="0"/>
              </a:rPr>
              <a:t>use </a:t>
            </a:r>
            <a:r>
              <a:rPr lang="en-US" sz="2000" dirty="0">
                <a:solidFill>
                  <a:srgbClr val="FF0000"/>
                </a:solidFill>
                <a:latin typeface="American Typewriter" charset="0"/>
                <a:ea typeface="American Typewriter" charset="0"/>
                <a:cs typeface="American Typewriter" charset="0"/>
              </a:rPr>
              <a:t>R</a:t>
            </a:r>
            <a:r>
              <a:rPr lang="en-US" sz="2000" b="1" dirty="0">
                <a:solidFill>
                  <a:srgbClr val="FF0000"/>
                </a:solidFill>
                <a:latin typeface="Calibri" charset="0"/>
                <a:ea typeface="Calibri" charset="0"/>
                <a:cs typeface="Calibri" charset="0"/>
              </a:rPr>
              <a:t>’s solve function to calculate concentrations of copper and nickel in mixture </a:t>
            </a:r>
          </a:p>
        </p:txBody>
      </p:sp>
      <p:sp>
        <p:nvSpPr>
          <p:cNvPr id="8" name="Rectangle 7"/>
          <p:cNvSpPr/>
          <p:nvPr/>
        </p:nvSpPr>
        <p:spPr>
          <a:xfrm>
            <a:off x="123568" y="5924589"/>
            <a:ext cx="597243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matrix( ), </a:t>
            </a:r>
            <a:r>
              <a:rPr lang="en-US" dirty="0" err="1">
                <a:solidFill>
                  <a:srgbClr val="FF0000"/>
                </a:solidFill>
                <a:latin typeface="Calibri" charset="0"/>
                <a:ea typeface="Calibri" charset="0"/>
                <a:cs typeface="Calibri" charset="0"/>
              </a:rPr>
              <a:t>colnames</a:t>
            </a:r>
            <a:r>
              <a:rPr lang="en-US" dirty="0">
                <a:solidFill>
                  <a:srgbClr val="FF0000"/>
                </a:solidFill>
                <a:latin typeface="Calibri" charset="0"/>
                <a:ea typeface="Calibri" charset="0"/>
                <a:cs typeface="Calibri" charset="0"/>
              </a:rPr>
              <a:t>( ), </a:t>
            </a:r>
            <a:r>
              <a:rPr lang="en-US" dirty="0" err="1">
                <a:solidFill>
                  <a:srgbClr val="FF0000"/>
                </a:solidFill>
                <a:latin typeface="Calibri" charset="0"/>
                <a:ea typeface="Calibri" charset="0"/>
                <a:cs typeface="Calibri" charset="0"/>
              </a:rPr>
              <a:t>rownames</a:t>
            </a:r>
            <a:r>
              <a:rPr lang="en-US" dirty="0">
                <a:solidFill>
                  <a:srgbClr val="FF0000"/>
                </a:solidFill>
                <a:latin typeface="Calibri" charset="0"/>
                <a:ea typeface="Calibri" charset="0"/>
                <a:cs typeface="Calibri" charset="0"/>
              </a:rPr>
              <a:t>( ), solve( )</a:t>
            </a:r>
            <a:endParaRPr lang="en-US" dirty="0">
              <a:solidFill>
                <a:srgbClr val="FF0000"/>
              </a:solidFill>
            </a:endParaRPr>
          </a:p>
        </p:txBody>
      </p:sp>
      <p:sp>
        <p:nvSpPr>
          <p:cNvPr id="9" name="TextBox 8"/>
          <p:cNvSpPr txBox="1"/>
          <p:nvPr/>
        </p:nvSpPr>
        <p:spPr>
          <a:xfrm>
            <a:off x="6219463" y="1319666"/>
            <a:ext cx="5696987" cy="4801314"/>
          </a:xfrm>
          <a:prstGeom prst="rect">
            <a:avLst/>
          </a:prstGeom>
          <a:noFill/>
        </p:spPr>
        <p:txBody>
          <a:bodyPr wrap="square" rtlCol="0">
            <a:spAutoFit/>
          </a:bodyPr>
          <a:lstStyle/>
          <a:p>
            <a:r>
              <a:rPr lang="en-US" sz="2000" dirty="0"/>
              <a:t>2×2 matrix of </a:t>
            </a:r>
            <a:r>
              <a:rPr lang="en-US" sz="2000" dirty="0" err="1">
                <a:latin typeface="Symbol" charset="2"/>
                <a:ea typeface="Symbol" charset="2"/>
                <a:cs typeface="Symbol" charset="2"/>
              </a:rPr>
              <a:t>e</a:t>
            </a:r>
            <a:r>
              <a:rPr lang="en-US" sz="2000" dirty="0" err="1">
                <a:latin typeface="Calibri" charset="0"/>
                <a:ea typeface="Calibri" charset="0"/>
                <a:cs typeface="Calibri" charset="0"/>
              </a:rPr>
              <a:t>b</a:t>
            </a:r>
            <a:r>
              <a:rPr lang="en-US" sz="2000" dirty="0"/>
              <a:t> values</a:t>
            </a:r>
          </a:p>
          <a:p>
            <a:endParaRPr lang="en-US" sz="1600" dirty="0">
              <a:solidFill>
                <a:srgbClr val="00B0F0"/>
              </a:solidFill>
            </a:endParaRPr>
          </a:p>
          <a:p>
            <a:pPr algn="ctr"/>
            <a:r>
              <a:rPr lang="ro-RO" sz="1600" dirty="0">
                <a:solidFill>
                  <a:srgbClr val="7030A0"/>
                </a:solidFill>
              </a:rPr>
              <a:t>                                      Cu                      Ni</a:t>
            </a:r>
          </a:p>
          <a:p>
            <a:pPr algn="ctr"/>
            <a:r>
              <a:rPr lang="ro-RO" sz="1600" dirty="0">
                <a:solidFill>
                  <a:srgbClr val="7030A0"/>
                </a:solidFill>
              </a:rPr>
              <a:t>809.1 nm   12.77888326      0.8369356</a:t>
            </a:r>
          </a:p>
          <a:p>
            <a:pPr algn="ctr"/>
            <a:r>
              <a:rPr lang="ro-RO" sz="1600" dirty="0">
                <a:solidFill>
                  <a:srgbClr val="7030A0"/>
                </a:solidFill>
              </a:rPr>
              <a:t>394.2 nm     0.01747073      4.8700205</a:t>
            </a:r>
          </a:p>
          <a:p>
            <a:endParaRPr lang="ro-RO" dirty="0">
              <a:solidFill>
                <a:srgbClr val="7030A0"/>
              </a:solidFill>
            </a:endParaRPr>
          </a:p>
          <a:p>
            <a:r>
              <a:rPr lang="en-US" sz="2000" dirty="0"/>
              <a:t>2×1 matrix of absorbance values </a:t>
            </a:r>
          </a:p>
          <a:p>
            <a:endParaRPr lang="en-US" sz="1600" dirty="0"/>
          </a:p>
          <a:p>
            <a:pPr algn="ctr"/>
            <a:r>
              <a:rPr lang="it-IT" sz="1600" dirty="0">
                <a:solidFill>
                  <a:srgbClr val="7030A0"/>
                </a:solidFill>
              </a:rPr>
              <a:t>                         </a:t>
            </a:r>
            <a:r>
              <a:rPr lang="it-IT" sz="1600" dirty="0" err="1">
                <a:solidFill>
                  <a:srgbClr val="7030A0"/>
                </a:solidFill>
              </a:rPr>
              <a:t>mixture</a:t>
            </a:r>
            <a:r>
              <a:rPr lang="it-IT" sz="1600" dirty="0">
                <a:solidFill>
                  <a:srgbClr val="7030A0"/>
                </a:solidFill>
              </a:rPr>
              <a:t>  </a:t>
            </a:r>
          </a:p>
          <a:p>
            <a:pPr algn="ctr"/>
            <a:r>
              <a:rPr lang="it-IT" sz="1600" dirty="0">
                <a:solidFill>
                  <a:srgbClr val="7030A0"/>
                </a:solidFill>
              </a:rPr>
              <a:t>809.1 nm    0.2789825</a:t>
            </a:r>
          </a:p>
          <a:p>
            <a:pPr algn="ctr"/>
            <a:r>
              <a:rPr lang="it-IT" sz="1600" dirty="0">
                <a:solidFill>
                  <a:srgbClr val="7030A0"/>
                </a:solidFill>
              </a:rPr>
              <a:t>394.2 nm    0.2415476</a:t>
            </a:r>
            <a:endParaRPr lang="en-US" sz="1600" dirty="0">
              <a:solidFill>
                <a:srgbClr val="7030A0"/>
              </a:solidFill>
            </a:endParaRPr>
          </a:p>
          <a:p>
            <a:endParaRPr lang="en-US" sz="1600" dirty="0">
              <a:solidFill>
                <a:srgbClr val="00B0F0"/>
              </a:solidFill>
            </a:endParaRPr>
          </a:p>
          <a:p>
            <a:r>
              <a:rPr lang="en-US" sz="2000" dirty="0"/>
              <a:t>calculate 2×1 matrix of concentrations </a:t>
            </a:r>
          </a:p>
          <a:p>
            <a:r>
              <a:rPr lang="en-US" sz="2000" dirty="0"/>
              <a:t>                 [</a:t>
            </a:r>
            <a:r>
              <a:rPr lang="en-US" sz="2000" dirty="0" err="1"/>
              <a:t>eb</a:t>
            </a:r>
            <a:r>
              <a:rPr lang="en-US" sz="2000" dirty="0"/>
              <a:t>] × [conc] = [abs]</a:t>
            </a:r>
          </a:p>
          <a:p>
            <a:endParaRPr lang="en-US" sz="1600" dirty="0"/>
          </a:p>
          <a:p>
            <a:pPr algn="ctr"/>
            <a:r>
              <a:rPr lang="ro-RO" sz="1600" dirty="0">
                <a:solidFill>
                  <a:srgbClr val="7030A0"/>
                </a:solidFill>
              </a:rPr>
              <a:t>               </a:t>
            </a:r>
            <a:r>
              <a:rPr lang="ro-RO" sz="1600" dirty="0" err="1">
                <a:solidFill>
                  <a:srgbClr val="7030A0"/>
                </a:solidFill>
              </a:rPr>
              <a:t>mixture</a:t>
            </a:r>
            <a:endParaRPr lang="ro-RO" sz="1600" dirty="0">
              <a:solidFill>
                <a:srgbClr val="7030A0"/>
              </a:solidFill>
            </a:endParaRPr>
          </a:p>
          <a:p>
            <a:pPr algn="ctr"/>
            <a:r>
              <a:rPr lang="ro-RO" sz="1600" dirty="0">
                <a:solidFill>
                  <a:srgbClr val="7030A0"/>
                </a:solidFill>
              </a:rPr>
              <a:t>Cu   0.01858748</a:t>
            </a:r>
          </a:p>
          <a:p>
            <a:pPr algn="ctr"/>
            <a:r>
              <a:rPr lang="ro-RO" sz="1600" dirty="0">
                <a:solidFill>
                  <a:srgbClr val="7030A0"/>
                </a:solidFill>
              </a:rPr>
              <a:t>Ni    0.04953220</a:t>
            </a:r>
            <a:endParaRPr lang="en-US" sz="1600" dirty="0">
              <a:solidFill>
                <a:srgbClr val="7030A0"/>
              </a:solidFill>
            </a:endParaRPr>
          </a:p>
        </p:txBody>
      </p:sp>
      <p:sp>
        <p:nvSpPr>
          <p:cNvPr id="10" name="TextBox 9"/>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865952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Notation for Beer’s Law (</a:t>
            </a:r>
            <a:r>
              <a:rPr lang="en-US" i="1" dirty="0"/>
              <a:t>A</a:t>
            </a:r>
            <a:r>
              <a:rPr lang="en-US" dirty="0"/>
              <a:t> = </a:t>
            </a:r>
            <a:r>
              <a:rPr lang="en-US" i="1" dirty="0" err="1">
                <a:latin typeface="Symbol" charset="2"/>
                <a:ea typeface="Symbol" charset="2"/>
                <a:cs typeface="Symbol" charset="2"/>
              </a:rPr>
              <a:t>e</a:t>
            </a:r>
            <a:r>
              <a:rPr lang="en-US" i="1" dirty="0" err="1"/>
              <a:t>bC</a:t>
            </a:r>
            <a:r>
              <a:rPr lang="en-US" dirty="0"/>
              <a:t>)</a:t>
            </a:r>
          </a:p>
        </p:txBody>
      </p:sp>
      <p:sp>
        <p:nvSpPr>
          <p:cNvPr id="6" name="TextBox 5"/>
          <p:cNvSpPr txBox="1"/>
          <p:nvPr/>
        </p:nvSpPr>
        <p:spPr>
          <a:xfrm>
            <a:off x="268146" y="1509169"/>
            <a:ext cx="11655707" cy="4124206"/>
          </a:xfrm>
          <a:prstGeom prst="rect">
            <a:avLst/>
          </a:prstGeom>
          <a:noFill/>
        </p:spPr>
        <p:txBody>
          <a:bodyPr wrap="square" rtlCol="0">
            <a:spAutoFit/>
          </a:bodyPr>
          <a:lstStyle/>
          <a:p>
            <a:pPr>
              <a:spcAft>
                <a:spcPts val="1200"/>
              </a:spcAft>
            </a:pPr>
            <a:r>
              <a:rPr lang="en-US" sz="2400" dirty="0">
                <a:solidFill>
                  <a:srgbClr val="FF0000"/>
                </a:solidFill>
              </a:rPr>
              <a:t>two analytes</a:t>
            </a:r>
            <a:r>
              <a:rPr lang="en-US" sz="2400" dirty="0"/>
              <a:t>: two samples with absorbance measured at two wavelengths</a:t>
            </a:r>
          </a:p>
          <a:p>
            <a:pPr algn="ctr">
              <a:spcAft>
                <a:spcPts val="1200"/>
              </a:spcAft>
            </a:pPr>
            <a:r>
              <a:rPr lang="en-US" sz="2400" dirty="0">
                <a:solidFill>
                  <a:srgbClr val="0070C0"/>
                </a:solidFill>
              </a:rPr>
              <a:t>[</a:t>
            </a:r>
            <a:r>
              <a:rPr lang="en-US" sz="2400" i="1" dirty="0">
                <a:solidFill>
                  <a:srgbClr val="0070C0"/>
                </a:solidFill>
              </a:rPr>
              <a:t>A</a:t>
            </a:r>
            <a:r>
              <a:rPr lang="en-US" sz="2400" dirty="0">
                <a:solidFill>
                  <a:srgbClr val="0070C0"/>
                </a:solidFill>
              </a:rPr>
              <a:t>]</a:t>
            </a:r>
            <a:r>
              <a:rPr lang="en-US" sz="2400" baseline="-25000" dirty="0">
                <a:solidFill>
                  <a:srgbClr val="0070C0"/>
                </a:solidFill>
              </a:rPr>
              <a:t>2</a:t>
            </a:r>
            <a:r>
              <a:rPr lang="en-US" sz="2400" dirty="0">
                <a:solidFill>
                  <a:srgbClr val="0070C0"/>
                </a:solidFill>
              </a:rPr>
              <a:t> </a:t>
            </a:r>
            <a:r>
              <a:rPr lang="en-US" sz="2400" baseline="-25000" dirty="0">
                <a:solidFill>
                  <a:srgbClr val="0070C0"/>
                </a:solidFill>
              </a:rPr>
              <a:t>samples × 2 wavelengths </a:t>
            </a:r>
            <a:r>
              <a:rPr lang="en-US" sz="2400" dirty="0">
                <a:solidFill>
                  <a:srgbClr val="0070C0"/>
                </a:solidFill>
              </a:rPr>
              <a:t>= [</a:t>
            </a:r>
            <a:r>
              <a:rPr lang="en-US" sz="2400" i="1" dirty="0">
                <a:solidFill>
                  <a:srgbClr val="0070C0"/>
                </a:solidFill>
              </a:rPr>
              <a:t>C</a:t>
            </a:r>
            <a:r>
              <a:rPr lang="en-US" sz="2400" dirty="0">
                <a:solidFill>
                  <a:srgbClr val="0070C0"/>
                </a:solidFill>
              </a:rPr>
              <a:t>]</a:t>
            </a:r>
            <a:r>
              <a:rPr lang="en-US" sz="2400" baseline="-25000" dirty="0">
                <a:solidFill>
                  <a:srgbClr val="0070C0"/>
                </a:solidFill>
              </a:rPr>
              <a:t>2</a:t>
            </a:r>
            <a:r>
              <a:rPr lang="en-US" sz="2400" dirty="0">
                <a:solidFill>
                  <a:srgbClr val="0070C0"/>
                </a:solidFill>
              </a:rPr>
              <a:t> </a:t>
            </a:r>
            <a:r>
              <a:rPr lang="en-US" sz="2400" baseline="-25000" dirty="0">
                <a:solidFill>
                  <a:srgbClr val="0070C0"/>
                </a:solidFill>
              </a:rPr>
              <a:t>samples × 2 analytes </a:t>
            </a:r>
            <a:r>
              <a:rPr lang="en-US" sz="2400" dirty="0">
                <a:solidFill>
                  <a:srgbClr val="0070C0"/>
                </a:solidFill>
              </a:rPr>
              <a:t>× [</a:t>
            </a:r>
            <a:r>
              <a:rPr lang="en-US" sz="2400" i="1" dirty="0" err="1">
                <a:solidFill>
                  <a:srgbClr val="0070C0"/>
                </a:solidFill>
                <a:latin typeface="Symbol" charset="2"/>
                <a:ea typeface="Symbol" charset="2"/>
                <a:cs typeface="Symbol" charset="2"/>
              </a:rPr>
              <a:t>e</a:t>
            </a:r>
            <a:r>
              <a:rPr lang="en-US" sz="2400" i="1" dirty="0" err="1">
                <a:solidFill>
                  <a:srgbClr val="0070C0"/>
                </a:solidFill>
              </a:rPr>
              <a:t>b</a:t>
            </a:r>
            <a:r>
              <a:rPr lang="en-US" sz="2400" dirty="0">
                <a:solidFill>
                  <a:srgbClr val="0070C0"/>
                </a:solidFill>
              </a:rPr>
              <a:t>]</a:t>
            </a:r>
            <a:r>
              <a:rPr lang="en-US" sz="2400" baseline="-25000" dirty="0">
                <a:solidFill>
                  <a:srgbClr val="0070C0"/>
                </a:solidFill>
              </a:rPr>
              <a:t>2</a:t>
            </a:r>
            <a:r>
              <a:rPr lang="en-US" sz="2400" dirty="0">
                <a:solidFill>
                  <a:srgbClr val="0070C0"/>
                </a:solidFill>
              </a:rPr>
              <a:t> </a:t>
            </a:r>
            <a:r>
              <a:rPr lang="en-US" sz="2400" baseline="-25000" dirty="0">
                <a:solidFill>
                  <a:srgbClr val="0070C0"/>
                </a:solidFill>
              </a:rPr>
              <a:t>analytes × 2 wavelengths</a:t>
            </a:r>
            <a:endParaRPr lang="en-US" sz="2400" dirty="0"/>
          </a:p>
          <a:p>
            <a:pPr>
              <a:spcAft>
                <a:spcPts val="1200"/>
              </a:spcAft>
            </a:pPr>
            <a:r>
              <a:rPr lang="en-US" sz="2400" dirty="0">
                <a:solidFill>
                  <a:srgbClr val="FF0000"/>
                </a:solidFill>
              </a:rPr>
              <a:t>one analyte</a:t>
            </a:r>
            <a:r>
              <a:rPr lang="en-US" sz="2400" dirty="0"/>
              <a:t>: one sample with absorbance measured at one wavelength</a:t>
            </a:r>
          </a:p>
          <a:p>
            <a:pPr algn="ctr">
              <a:spcAft>
                <a:spcPts val="1200"/>
              </a:spcAft>
            </a:pPr>
            <a:r>
              <a:rPr lang="en-US" sz="2400" dirty="0"/>
              <a:t> </a:t>
            </a:r>
            <a:r>
              <a:rPr lang="en-US" sz="2400" dirty="0">
                <a:solidFill>
                  <a:srgbClr val="0070C0"/>
                </a:solidFill>
              </a:rPr>
              <a:t>[</a:t>
            </a:r>
            <a:r>
              <a:rPr lang="en-US" sz="2400" i="1" dirty="0">
                <a:solidFill>
                  <a:srgbClr val="0070C0"/>
                </a:solidFill>
              </a:rPr>
              <a:t>A</a:t>
            </a:r>
            <a:r>
              <a:rPr lang="en-US" sz="2400" dirty="0">
                <a:solidFill>
                  <a:srgbClr val="0070C0"/>
                </a:solidFill>
              </a:rPr>
              <a:t>]</a:t>
            </a:r>
            <a:r>
              <a:rPr lang="en-US" sz="2400" baseline="-25000" dirty="0">
                <a:solidFill>
                  <a:srgbClr val="0070C0"/>
                </a:solidFill>
              </a:rPr>
              <a:t>1</a:t>
            </a:r>
            <a:r>
              <a:rPr lang="en-US" sz="2400" dirty="0">
                <a:solidFill>
                  <a:srgbClr val="0070C0"/>
                </a:solidFill>
              </a:rPr>
              <a:t> </a:t>
            </a:r>
            <a:r>
              <a:rPr lang="en-US" sz="2400" baseline="-25000" dirty="0">
                <a:solidFill>
                  <a:srgbClr val="0070C0"/>
                </a:solidFill>
              </a:rPr>
              <a:t>sample × 1 wavelength </a:t>
            </a:r>
            <a:r>
              <a:rPr lang="en-US" sz="2400" dirty="0">
                <a:solidFill>
                  <a:srgbClr val="0070C0"/>
                </a:solidFill>
              </a:rPr>
              <a:t>= [</a:t>
            </a:r>
            <a:r>
              <a:rPr lang="en-US" sz="2400" i="1" dirty="0">
                <a:solidFill>
                  <a:srgbClr val="0070C0"/>
                </a:solidFill>
              </a:rPr>
              <a:t>C</a:t>
            </a:r>
            <a:r>
              <a:rPr lang="en-US" sz="2400" dirty="0">
                <a:solidFill>
                  <a:srgbClr val="0070C0"/>
                </a:solidFill>
              </a:rPr>
              <a:t>]</a:t>
            </a:r>
            <a:r>
              <a:rPr lang="en-US" sz="2400" baseline="-25000" dirty="0">
                <a:solidFill>
                  <a:srgbClr val="0070C0"/>
                </a:solidFill>
              </a:rPr>
              <a:t>1</a:t>
            </a:r>
            <a:r>
              <a:rPr lang="en-US" sz="2400" dirty="0">
                <a:solidFill>
                  <a:srgbClr val="0070C0"/>
                </a:solidFill>
              </a:rPr>
              <a:t> </a:t>
            </a:r>
            <a:r>
              <a:rPr lang="en-US" sz="2400" baseline="-25000" dirty="0">
                <a:solidFill>
                  <a:srgbClr val="0070C0"/>
                </a:solidFill>
              </a:rPr>
              <a:t>sample × 1 analyte </a:t>
            </a:r>
            <a:r>
              <a:rPr lang="en-US" sz="2400" dirty="0">
                <a:solidFill>
                  <a:srgbClr val="0070C0"/>
                </a:solidFill>
              </a:rPr>
              <a:t>× [</a:t>
            </a:r>
            <a:r>
              <a:rPr lang="en-US" sz="2400" i="1" dirty="0" err="1">
                <a:solidFill>
                  <a:srgbClr val="0070C0"/>
                </a:solidFill>
                <a:latin typeface="Symbol" charset="2"/>
                <a:ea typeface="Symbol" charset="2"/>
                <a:cs typeface="Symbol" charset="2"/>
              </a:rPr>
              <a:t>e</a:t>
            </a:r>
            <a:r>
              <a:rPr lang="en-US" sz="2400" i="1" dirty="0" err="1">
                <a:solidFill>
                  <a:srgbClr val="0070C0"/>
                </a:solidFill>
              </a:rPr>
              <a:t>b</a:t>
            </a:r>
            <a:r>
              <a:rPr lang="en-US" sz="2400" dirty="0">
                <a:solidFill>
                  <a:srgbClr val="0070C0"/>
                </a:solidFill>
              </a:rPr>
              <a:t>]</a:t>
            </a:r>
            <a:r>
              <a:rPr lang="en-US" sz="2400" baseline="-25000" dirty="0">
                <a:solidFill>
                  <a:srgbClr val="0070C0"/>
                </a:solidFill>
              </a:rPr>
              <a:t>1</a:t>
            </a:r>
            <a:r>
              <a:rPr lang="en-US" sz="2400" dirty="0">
                <a:solidFill>
                  <a:srgbClr val="0070C0"/>
                </a:solidFill>
              </a:rPr>
              <a:t> </a:t>
            </a:r>
            <a:r>
              <a:rPr lang="en-US" sz="2400" baseline="-25000" dirty="0">
                <a:solidFill>
                  <a:srgbClr val="0070C0"/>
                </a:solidFill>
              </a:rPr>
              <a:t>analyte × 1 wavelength</a:t>
            </a:r>
          </a:p>
          <a:p>
            <a:pPr>
              <a:spcAft>
                <a:spcPts val="1200"/>
              </a:spcAft>
            </a:pPr>
            <a:r>
              <a:rPr lang="en-US" sz="2400" dirty="0">
                <a:solidFill>
                  <a:srgbClr val="FF0000"/>
                </a:solidFill>
              </a:rPr>
              <a:t>overdetermined system</a:t>
            </a:r>
            <a:r>
              <a:rPr lang="en-US" sz="2400" dirty="0"/>
              <a:t>: more samples and wavelengths than analytes</a:t>
            </a:r>
          </a:p>
          <a:p>
            <a:pPr algn="ctr">
              <a:spcAft>
                <a:spcPts val="1200"/>
              </a:spcAft>
            </a:pPr>
            <a:r>
              <a:rPr lang="en-US" sz="2400" dirty="0">
                <a:solidFill>
                  <a:srgbClr val="0070C0"/>
                </a:solidFill>
              </a:rPr>
              <a:t>[</a:t>
            </a:r>
            <a:r>
              <a:rPr lang="en-US" sz="2400" i="1" dirty="0">
                <a:solidFill>
                  <a:srgbClr val="0070C0"/>
                </a:solidFill>
              </a:rPr>
              <a:t>A</a:t>
            </a:r>
            <a:r>
              <a:rPr lang="en-US" sz="2400" dirty="0">
                <a:solidFill>
                  <a:srgbClr val="0070C0"/>
                </a:solidFill>
              </a:rPr>
              <a:t>]</a:t>
            </a:r>
            <a:r>
              <a:rPr lang="en-US" sz="2400" baseline="-25000" dirty="0">
                <a:solidFill>
                  <a:srgbClr val="0070C0"/>
                </a:solidFill>
              </a:rPr>
              <a:t>8</a:t>
            </a:r>
            <a:r>
              <a:rPr lang="en-US" sz="2400" dirty="0">
                <a:solidFill>
                  <a:srgbClr val="0070C0"/>
                </a:solidFill>
              </a:rPr>
              <a:t> </a:t>
            </a:r>
            <a:r>
              <a:rPr lang="en-US" sz="2400" baseline="-25000" dirty="0">
                <a:solidFill>
                  <a:srgbClr val="0070C0"/>
                </a:solidFill>
              </a:rPr>
              <a:t>samples × 5 wavelengths </a:t>
            </a:r>
            <a:r>
              <a:rPr lang="en-US" sz="2400" dirty="0">
                <a:solidFill>
                  <a:srgbClr val="0070C0"/>
                </a:solidFill>
              </a:rPr>
              <a:t>= [</a:t>
            </a:r>
            <a:r>
              <a:rPr lang="en-US" sz="2400" i="1" dirty="0">
                <a:solidFill>
                  <a:srgbClr val="0070C0"/>
                </a:solidFill>
              </a:rPr>
              <a:t>C</a:t>
            </a:r>
            <a:r>
              <a:rPr lang="en-US" sz="2400" dirty="0">
                <a:solidFill>
                  <a:srgbClr val="0070C0"/>
                </a:solidFill>
              </a:rPr>
              <a:t>]</a:t>
            </a:r>
            <a:r>
              <a:rPr lang="en-US" sz="2400" baseline="-25000" dirty="0">
                <a:solidFill>
                  <a:srgbClr val="0070C0"/>
                </a:solidFill>
              </a:rPr>
              <a:t>8</a:t>
            </a:r>
            <a:r>
              <a:rPr lang="en-US" sz="2400" dirty="0">
                <a:solidFill>
                  <a:srgbClr val="0070C0"/>
                </a:solidFill>
              </a:rPr>
              <a:t> </a:t>
            </a:r>
            <a:r>
              <a:rPr lang="en-US" sz="2400" baseline="-25000" dirty="0">
                <a:solidFill>
                  <a:srgbClr val="0070C0"/>
                </a:solidFill>
              </a:rPr>
              <a:t>samples × 2 analytes </a:t>
            </a:r>
            <a:r>
              <a:rPr lang="en-US" sz="2400" dirty="0">
                <a:solidFill>
                  <a:srgbClr val="0070C0"/>
                </a:solidFill>
              </a:rPr>
              <a:t>× [</a:t>
            </a:r>
            <a:r>
              <a:rPr lang="en-US" sz="2400" i="1" dirty="0" err="1">
                <a:solidFill>
                  <a:srgbClr val="0070C0"/>
                </a:solidFill>
                <a:latin typeface="Symbol" charset="2"/>
                <a:ea typeface="Symbol" charset="2"/>
                <a:cs typeface="Symbol" charset="2"/>
              </a:rPr>
              <a:t>e</a:t>
            </a:r>
            <a:r>
              <a:rPr lang="en-US" sz="2400" i="1" dirty="0" err="1">
                <a:solidFill>
                  <a:srgbClr val="0070C0"/>
                </a:solidFill>
              </a:rPr>
              <a:t>b</a:t>
            </a:r>
            <a:r>
              <a:rPr lang="en-US" sz="2400" dirty="0">
                <a:solidFill>
                  <a:srgbClr val="0070C0"/>
                </a:solidFill>
              </a:rPr>
              <a:t>]</a:t>
            </a:r>
            <a:r>
              <a:rPr lang="en-US" sz="2400" baseline="-25000" dirty="0">
                <a:solidFill>
                  <a:srgbClr val="0070C0"/>
                </a:solidFill>
              </a:rPr>
              <a:t>2</a:t>
            </a:r>
            <a:r>
              <a:rPr lang="en-US" sz="2400" dirty="0">
                <a:solidFill>
                  <a:srgbClr val="0070C0"/>
                </a:solidFill>
              </a:rPr>
              <a:t> </a:t>
            </a:r>
            <a:r>
              <a:rPr lang="en-US" sz="2400" baseline="-25000" dirty="0">
                <a:solidFill>
                  <a:srgbClr val="0070C0"/>
                </a:solidFill>
              </a:rPr>
              <a:t>analytes × 5 wavelengths</a:t>
            </a:r>
            <a:r>
              <a:rPr lang="en-US" sz="2400" dirty="0">
                <a:solidFill>
                  <a:srgbClr val="0070C0"/>
                </a:solidFill>
              </a:rPr>
              <a:t> + [</a:t>
            </a:r>
            <a:r>
              <a:rPr lang="en-US" sz="2400" i="1" dirty="0">
                <a:solidFill>
                  <a:srgbClr val="0070C0"/>
                </a:solidFill>
              </a:rPr>
              <a:t>RE</a:t>
            </a:r>
            <a:r>
              <a:rPr lang="en-US" sz="2400" dirty="0">
                <a:solidFill>
                  <a:srgbClr val="0070C0"/>
                </a:solidFill>
              </a:rPr>
              <a:t>]</a:t>
            </a:r>
            <a:r>
              <a:rPr lang="en-US" sz="2400" baseline="-25000" dirty="0">
                <a:solidFill>
                  <a:srgbClr val="0070C0"/>
                </a:solidFill>
              </a:rPr>
              <a:t> 8 samples × 5 wavelengths </a:t>
            </a:r>
          </a:p>
          <a:p>
            <a:pPr>
              <a:spcAft>
                <a:spcPts val="1200"/>
              </a:spcAft>
            </a:pPr>
            <a:r>
              <a:rPr lang="en-US" sz="2400" dirty="0">
                <a:solidFill>
                  <a:srgbClr val="FF0000"/>
                </a:solidFill>
              </a:rPr>
              <a:t>generalize</a:t>
            </a:r>
            <a:r>
              <a:rPr lang="en-US" sz="2400" dirty="0"/>
              <a:t>: </a:t>
            </a:r>
            <a:r>
              <a:rPr lang="en-US" sz="2400" i="1" dirty="0"/>
              <a:t>n</a:t>
            </a:r>
            <a:r>
              <a:rPr lang="en-US" sz="2400" dirty="0"/>
              <a:t> analytes, </a:t>
            </a:r>
            <a:r>
              <a:rPr lang="en-US" sz="2400" i="1" dirty="0"/>
              <a:t>s</a:t>
            </a:r>
            <a:r>
              <a:rPr lang="en-US" sz="2400" dirty="0"/>
              <a:t> samples, and </a:t>
            </a:r>
            <a:r>
              <a:rPr lang="en-US" sz="2400" i="1" dirty="0"/>
              <a:t>w</a:t>
            </a:r>
            <a:r>
              <a:rPr lang="en-US" sz="2400" dirty="0"/>
              <a:t> wavelengths where </a:t>
            </a:r>
            <a:r>
              <a:rPr lang="en-US" sz="2400" i="1" dirty="0"/>
              <a:t>n</a:t>
            </a:r>
            <a:r>
              <a:rPr lang="en-US" sz="2400" dirty="0"/>
              <a:t> ≤ smaller of </a:t>
            </a:r>
            <a:r>
              <a:rPr lang="en-US" sz="2400" i="1" dirty="0"/>
              <a:t>s</a:t>
            </a:r>
            <a:r>
              <a:rPr lang="en-US" sz="2400" dirty="0"/>
              <a:t> or </a:t>
            </a:r>
            <a:r>
              <a:rPr lang="en-US" sz="2400" i="1" dirty="0"/>
              <a:t>w </a:t>
            </a:r>
          </a:p>
          <a:p>
            <a:pPr algn="ctr">
              <a:spcAft>
                <a:spcPts val="1200"/>
              </a:spcAft>
            </a:pPr>
            <a:r>
              <a:rPr lang="en-US" sz="2400" dirty="0">
                <a:solidFill>
                  <a:srgbClr val="0070C0"/>
                </a:solidFill>
              </a:rPr>
              <a:t>[</a:t>
            </a:r>
            <a:r>
              <a:rPr lang="en-US" sz="2400" i="1" dirty="0">
                <a:solidFill>
                  <a:srgbClr val="0070C0"/>
                </a:solidFill>
              </a:rPr>
              <a:t>A</a:t>
            </a:r>
            <a:r>
              <a:rPr lang="en-US" sz="2400" dirty="0">
                <a:solidFill>
                  <a:srgbClr val="0070C0"/>
                </a:solidFill>
              </a:rPr>
              <a:t>]</a:t>
            </a:r>
            <a:r>
              <a:rPr lang="en-US" sz="2400" i="1" baseline="-25000" dirty="0">
                <a:solidFill>
                  <a:srgbClr val="0070C0"/>
                </a:solidFill>
              </a:rPr>
              <a:t>s</a:t>
            </a:r>
            <a:r>
              <a:rPr lang="en-US" sz="2400" dirty="0">
                <a:solidFill>
                  <a:srgbClr val="0070C0"/>
                </a:solidFill>
              </a:rPr>
              <a:t> </a:t>
            </a:r>
            <a:r>
              <a:rPr lang="en-US" sz="2400" baseline="-25000" dirty="0">
                <a:solidFill>
                  <a:srgbClr val="0070C0"/>
                </a:solidFill>
              </a:rPr>
              <a:t>× </a:t>
            </a:r>
            <a:r>
              <a:rPr lang="en-US" sz="2400" i="1" baseline="-25000" dirty="0">
                <a:solidFill>
                  <a:srgbClr val="0070C0"/>
                </a:solidFill>
              </a:rPr>
              <a:t>w</a:t>
            </a:r>
            <a:r>
              <a:rPr lang="en-US" sz="2400" baseline="-25000" dirty="0">
                <a:solidFill>
                  <a:srgbClr val="0070C0"/>
                </a:solidFill>
              </a:rPr>
              <a:t> </a:t>
            </a:r>
            <a:r>
              <a:rPr lang="en-US" sz="2400" dirty="0">
                <a:solidFill>
                  <a:srgbClr val="0070C0"/>
                </a:solidFill>
              </a:rPr>
              <a:t>= [</a:t>
            </a:r>
            <a:r>
              <a:rPr lang="en-US" sz="2400" i="1" dirty="0">
                <a:solidFill>
                  <a:srgbClr val="0070C0"/>
                </a:solidFill>
              </a:rPr>
              <a:t>C</a:t>
            </a:r>
            <a:r>
              <a:rPr lang="en-US" sz="2400" dirty="0">
                <a:solidFill>
                  <a:srgbClr val="0070C0"/>
                </a:solidFill>
              </a:rPr>
              <a:t>]</a:t>
            </a:r>
            <a:r>
              <a:rPr lang="en-US" sz="2400" i="1" baseline="-25000" dirty="0">
                <a:solidFill>
                  <a:srgbClr val="0070C0"/>
                </a:solidFill>
              </a:rPr>
              <a:t>s</a:t>
            </a:r>
            <a:r>
              <a:rPr lang="en-US" sz="2400" dirty="0">
                <a:solidFill>
                  <a:srgbClr val="0070C0"/>
                </a:solidFill>
              </a:rPr>
              <a:t> </a:t>
            </a:r>
            <a:r>
              <a:rPr lang="en-US" sz="2400" baseline="-25000" dirty="0">
                <a:solidFill>
                  <a:srgbClr val="0070C0"/>
                </a:solidFill>
              </a:rPr>
              <a:t>× </a:t>
            </a:r>
            <a:r>
              <a:rPr lang="en-US" sz="2400" i="1" baseline="-25000" dirty="0">
                <a:solidFill>
                  <a:srgbClr val="0070C0"/>
                </a:solidFill>
              </a:rPr>
              <a:t>n</a:t>
            </a:r>
            <a:r>
              <a:rPr lang="en-US" sz="2400" baseline="-25000" dirty="0">
                <a:solidFill>
                  <a:srgbClr val="0070C0"/>
                </a:solidFill>
              </a:rPr>
              <a:t> </a:t>
            </a:r>
            <a:r>
              <a:rPr lang="en-US" sz="2400" dirty="0">
                <a:solidFill>
                  <a:srgbClr val="0070C0"/>
                </a:solidFill>
              </a:rPr>
              <a:t>× [</a:t>
            </a:r>
            <a:r>
              <a:rPr lang="en-US" sz="2400" i="1" dirty="0" err="1">
                <a:solidFill>
                  <a:srgbClr val="0070C0"/>
                </a:solidFill>
                <a:latin typeface="Symbol" charset="2"/>
                <a:ea typeface="Symbol" charset="2"/>
                <a:cs typeface="Symbol" charset="2"/>
              </a:rPr>
              <a:t>e</a:t>
            </a:r>
            <a:r>
              <a:rPr lang="en-US" sz="2400" i="1" dirty="0" err="1">
                <a:solidFill>
                  <a:srgbClr val="0070C0"/>
                </a:solidFill>
              </a:rPr>
              <a:t>b</a:t>
            </a:r>
            <a:r>
              <a:rPr lang="en-US" sz="2400" dirty="0">
                <a:solidFill>
                  <a:srgbClr val="0070C0"/>
                </a:solidFill>
              </a:rPr>
              <a:t>]</a:t>
            </a:r>
            <a:r>
              <a:rPr lang="en-US" sz="2400" i="1" baseline="-25000" dirty="0">
                <a:solidFill>
                  <a:srgbClr val="0070C0"/>
                </a:solidFill>
              </a:rPr>
              <a:t>n</a:t>
            </a:r>
            <a:r>
              <a:rPr lang="en-US" sz="2400" dirty="0">
                <a:solidFill>
                  <a:srgbClr val="0070C0"/>
                </a:solidFill>
              </a:rPr>
              <a:t> </a:t>
            </a:r>
            <a:r>
              <a:rPr lang="en-US" sz="2400" baseline="-25000" dirty="0">
                <a:solidFill>
                  <a:srgbClr val="0070C0"/>
                </a:solidFill>
              </a:rPr>
              <a:t>× </a:t>
            </a:r>
            <a:r>
              <a:rPr lang="en-US" sz="2400" i="1" baseline="-25000" dirty="0">
                <a:solidFill>
                  <a:srgbClr val="0070C0"/>
                </a:solidFill>
              </a:rPr>
              <a:t>w</a:t>
            </a:r>
            <a:r>
              <a:rPr lang="en-US" sz="2400" dirty="0">
                <a:solidFill>
                  <a:srgbClr val="0070C0"/>
                </a:solidFill>
              </a:rPr>
              <a:t> + [</a:t>
            </a:r>
            <a:r>
              <a:rPr lang="en-US" sz="2400" i="1" dirty="0">
                <a:solidFill>
                  <a:srgbClr val="0070C0"/>
                </a:solidFill>
              </a:rPr>
              <a:t>RE</a:t>
            </a:r>
            <a:r>
              <a:rPr lang="en-US" sz="2400" dirty="0">
                <a:solidFill>
                  <a:srgbClr val="0070C0"/>
                </a:solidFill>
              </a:rPr>
              <a:t>]</a:t>
            </a:r>
            <a:r>
              <a:rPr lang="en-US" sz="2400" baseline="-25000" dirty="0">
                <a:solidFill>
                  <a:srgbClr val="0070C0"/>
                </a:solidFill>
              </a:rPr>
              <a:t> </a:t>
            </a:r>
            <a:r>
              <a:rPr lang="en-US" sz="2400" i="1" baseline="-25000" dirty="0">
                <a:solidFill>
                  <a:srgbClr val="0070C0"/>
                </a:solidFill>
              </a:rPr>
              <a:t>s</a:t>
            </a:r>
            <a:r>
              <a:rPr lang="en-US" sz="2400" baseline="-25000" dirty="0">
                <a:solidFill>
                  <a:srgbClr val="0070C0"/>
                </a:solidFill>
              </a:rPr>
              <a:t> × </a:t>
            </a:r>
            <a:r>
              <a:rPr lang="en-US" sz="2400" i="1" baseline="-25000" dirty="0">
                <a:solidFill>
                  <a:srgbClr val="0070C0"/>
                </a:solidFill>
              </a:rPr>
              <a:t>w</a:t>
            </a:r>
          </a:p>
        </p:txBody>
      </p:sp>
      <p:sp>
        <p:nvSpPr>
          <p:cNvPr id="4" name="TextBox 3"/>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996479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101" y="425761"/>
            <a:ext cx="11979797" cy="5355312"/>
          </a:xfrm>
          <a:prstGeom prst="rect">
            <a:avLst/>
          </a:prstGeom>
          <a:noFill/>
        </p:spPr>
        <p:txBody>
          <a:bodyPr wrap="square" rtlCol="0">
            <a:spAutoFit/>
          </a:bodyPr>
          <a:lstStyle/>
          <a:p>
            <a:pPr algn="ctr"/>
            <a:r>
              <a:rPr lang="en-US" sz="9600" dirty="0">
                <a:ln>
                  <a:solidFill>
                    <a:srgbClr val="FF0000"/>
                  </a:solidFill>
                </a:ln>
                <a:noFill/>
              </a:rPr>
              <a:t>Context</a:t>
            </a:r>
          </a:p>
          <a:p>
            <a:pPr algn="ctr"/>
            <a:r>
              <a:rPr lang="en-US" sz="9600" dirty="0">
                <a:ln>
                  <a:solidFill>
                    <a:srgbClr val="FF0000"/>
                  </a:solidFill>
                </a:ln>
                <a:noFill/>
              </a:rPr>
              <a:t>Prelude</a:t>
            </a:r>
          </a:p>
          <a:p>
            <a:pPr algn="ctr"/>
            <a:r>
              <a:rPr lang="en-US" sz="9600" b="1" dirty="0">
                <a:ln>
                  <a:solidFill>
                    <a:srgbClr val="FF0000"/>
                  </a:solidFill>
                </a:ln>
                <a:solidFill>
                  <a:srgbClr val="FF0000"/>
                </a:solidFill>
              </a:rPr>
              <a:t>Main Feature </a:t>
            </a:r>
          </a:p>
          <a:p>
            <a:pPr algn="ctr"/>
            <a:r>
              <a:rPr lang="en-US" sz="4400" dirty="0">
                <a:ln>
                  <a:solidFill>
                    <a:srgbClr val="FF0000"/>
                  </a:solidFill>
                </a:ln>
                <a:solidFill>
                  <a:srgbClr val="FF0000"/>
                </a:solidFill>
              </a:rPr>
              <a:t>(in 3 Parts w/2 Themes)</a:t>
            </a:r>
          </a:p>
        </p:txBody>
      </p:sp>
      <p:sp>
        <p:nvSpPr>
          <p:cNvPr id="3" name="TextBox 2"/>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158091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PCA Work?</a:t>
            </a:r>
          </a:p>
        </p:txBody>
      </p:sp>
      <p:sp>
        <p:nvSpPr>
          <p:cNvPr id="6" name="TextBox 5"/>
          <p:cNvSpPr txBox="1"/>
          <p:nvPr/>
        </p:nvSpPr>
        <p:spPr>
          <a:xfrm>
            <a:off x="251801" y="1203924"/>
            <a:ext cx="5715965" cy="2123658"/>
          </a:xfrm>
          <a:prstGeom prst="rect">
            <a:avLst/>
          </a:prstGeom>
          <a:noFill/>
        </p:spPr>
        <p:txBody>
          <a:bodyPr wrap="square" rtlCol="0">
            <a:spAutoFit/>
          </a:bodyPr>
          <a:lstStyle/>
          <a:p>
            <a:pPr>
              <a:spcAft>
                <a:spcPts val="2400"/>
              </a:spcAft>
            </a:pPr>
            <a:r>
              <a:rPr lang="en-US" sz="2000" dirty="0"/>
              <a:t>Suppose we have 21 samples and that we measure two properties—first variable and second variable—for each sample giving a matrix of data, </a:t>
            </a:r>
            <a:r>
              <a:rPr lang="en-US" sz="2000" dirty="0">
                <a:solidFill>
                  <a:srgbClr val="0070C0"/>
                </a:solidFill>
              </a:rPr>
              <a:t>[</a:t>
            </a:r>
            <a:r>
              <a:rPr lang="en-US" sz="2000" i="1" dirty="0">
                <a:solidFill>
                  <a:srgbClr val="0070C0"/>
                </a:solidFill>
              </a:rPr>
              <a:t>D</a:t>
            </a:r>
            <a:r>
              <a:rPr lang="en-US" sz="2000" dirty="0">
                <a:solidFill>
                  <a:srgbClr val="0070C0"/>
                </a:solidFill>
              </a:rPr>
              <a:t>]</a:t>
            </a:r>
            <a:r>
              <a:rPr lang="en-US" sz="2000" dirty="0"/>
              <a:t>, that has 21 rows and 2 columns. </a:t>
            </a:r>
            <a:endParaRPr lang="en-US" sz="2000" dirty="0">
              <a:solidFill>
                <a:srgbClr val="00B0F0"/>
              </a:solidFill>
            </a:endParaRPr>
          </a:p>
          <a:p>
            <a:pPr algn="ctr">
              <a:spcAft>
                <a:spcPts val="2400"/>
              </a:spcAft>
            </a:pPr>
            <a:r>
              <a:rPr lang="en-US" sz="3200" dirty="0">
                <a:solidFill>
                  <a:srgbClr val="0070C0"/>
                </a:solidFill>
              </a:rPr>
              <a:t>[</a:t>
            </a:r>
            <a:r>
              <a:rPr lang="en-US" sz="3200" i="1" dirty="0">
                <a:solidFill>
                  <a:srgbClr val="0070C0"/>
                </a:solidFill>
              </a:rPr>
              <a:t>D</a:t>
            </a:r>
            <a:r>
              <a:rPr lang="en-US" sz="3200" dirty="0">
                <a:solidFill>
                  <a:srgbClr val="0070C0"/>
                </a:solidFill>
              </a:rPr>
              <a:t>]</a:t>
            </a:r>
            <a:r>
              <a:rPr lang="en-US" sz="3200" baseline="-25000" dirty="0">
                <a:solidFill>
                  <a:srgbClr val="0070C0"/>
                </a:solidFill>
              </a:rPr>
              <a:t>21 x 2</a:t>
            </a:r>
            <a:endParaRPr lang="en-US" sz="3200" dirty="0">
              <a:solidFill>
                <a:srgbClr val="0070C0"/>
              </a:solidFill>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4905" y="1041877"/>
            <a:ext cx="5714422" cy="5265174"/>
          </a:xfrm>
          <a:prstGeom prst="rect">
            <a:avLst/>
          </a:prstGeom>
        </p:spPr>
      </p:pic>
      <p:sp>
        <p:nvSpPr>
          <p:cNvPr id="9" name="Rectangle 8"/>
          <p:cNvSpPr/>
          <p:nvPr/>
        </p:nvSpPr>
        <p:spPr>
          <a:xfrm>
            <a:off x="123568" y="5924589"/>
            <a:ext cx="597243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seq( ), rnorm( ), scale( ), plot( ), abline( )</a:t>
            </a:r>
            <a:endParaRPr lang="en-US" dirty="0">
              <a:solidFill>
                <a:srgbClr val="FF0000"/>
              </a:solidFill>
            </a:endParaRPr>
          </a:p>
        </p:txBody>
      </p:sp>
      <p:sp>
        <p:nvSpPr>
          <p:cNvPr id="7" name="TextBox 6"/>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2017450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PCA Work?</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4906" y="1041877"/>
            <a:ext cx="5772294" cy="5251621"/>
          </a:xfrm>
          <a:prstGeom prst="rect">
            <a:avLst/>
          </a:prstGeom>
        </p:spPr>
      </p:pic>
      <p:sp>
        <p:nvSpPr>
          <p:cNvPr id="10" name="TextBox 9"/>
          <p:cNvSpPr txBox="1"/>
          <p:nvPr/>
        </p:nvSpPr>
        <p:spPr>
          <a:xfrm>
            <a:off x="251801" y="1203924"/>
            <a:ext cx="5715965" cy="1323439"/>
          </a:xfrm>
          <a:prstGeom prst="rect">
            <a:avLst/>
          </a:prstGeom>
          <a:noFill/>
        </p:spPr>
        <p:txBody>
          <a:bodyPr wrap="square" rtlCol="0">
            <a:spAutoFit/>
          </a:bodyPr>
          <a:lstStyle/>
          <a:p>
            <a:pPr>
              <a:spcAft>
                <a:spcPts val="2400"/>
              </a:spcAft>
            </a:pPr>
            <a:r>
              <a:rPr lang="en-US" sz="2000" dirty="0"/>
              <a:t>Linear regression provides the line of best fit to the data and explains more of the data’s overall variance than either of the two individual variables; we call this the first principal component.</a:t>
            </a:r>
          </a:p>
        </p:txBody>
      </p:sp>
      <p:sp>
        <p:nvSpPr>
          <p:cNvPr id="11" name="Rectangle 10"/>
          <p:cNvSpPr/>
          <p:nvPr/>
        </p:nvSpPr>
        <p:spPr>
          <a:xfrm>
            <a:off x="123568" y="5924589"/>
            <a:ext cx="597243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lm( ), abline( )</a:t>
            </a:r>
            <a:endParaRPr lang="en-US" dirty="0">
              <a:solidFill>
                <a:srgbClr val="FF0000"/>
              </a:solidFill>
            </a:endParaRPr>
          </a:p>
        </p:txBody>
      </p:sp>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479780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PCA Work?</a:t>
            </a:r>
          </a:p>
        </p:txBody>
      </p:sp>
      <p:sp>
        <p:nvSpPr>
          <p:cNvPr id="3" name="TextBox 2"/>
          <p:cNvSpPr txBox="1"/>
          <p:nvPr/>
        </p:nvSpPr>
        <p:spPr>
          <a:xfrm>
            <a:off x="594293" y="4151600"/>
            <a:ext cx="1435261" cy="646331"/>
          </a:xfrm>
          <a:prstGeom prst="rect">
            <a:avLst/>
          </a:prstGeom>
          <a:noFill/>
        </p:spPr>
        <p:txBody>
          <a:bodyPr wrap="square" rtlCol="0">
            <a:spAutoFit/>
          </a:bodyPr>
          <a:lstStyle/>
          <a:p>
            <a:pPr algn="ctr"/>
            <a:r>
              <a:rPr lang="en-US" dirty="0"/>
              <a:t>each sample has a score</a:t>
            </a:r>
          </a:p>
        </p:txBody>
      </p:sp>
      <p:sp>
        <p:nvSpPr>
          <p:cNvPr id="4" name="TextBox 3"/>
          <p:cNvSpPr txBox="1"/>
          <p:nvPr/>
        </p:nvSpPr>
        <p:spPr>
          <a:xfrm>
            <a:off x="3334618" y="4258224"/>
            <a:ext cx="1446836" cy="646331"/>
          </a:xfrm>
          <a:prstGeom prst="rect">
            <a:avLst/>
          </a:prstGeom>
          <a:noFill/>
        </p:spPr>
        <p:txBody>
          <a:bodyPr wrap="square" rtlCol="0">
            <a:spAutoFit/>
          </a:bodyPr>
          <a:lstStyle/>
          <a:p>
            <a:pPr algn="ctr"/>
            <a:r>
              <a:rPr lang="en-US" dirty="0"/>
              <a:t>each variable has a loading</a:t>
            </a:r>
          </a:p>
        </p:txBody>
      </p:sp>
      <p:cxnSp>
        <p:nvCxnSpPr>
          <p:cNvPr id="11" name="Curved Connector 10"/>
          <p:cNvCxnSpPr>
            <a:stCxn id="3" idx="3"/>
          </p:cNvCxnSpPr>
          <p:nvPr/>
        </p:nvCxnSpPr>
        <p:spPr>
          <a:xfrm flipV="1">
            <a:off x="2029554" y="3547280"/>
            <a:ext cx="884576" cy="927486"/>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Curved Connector 20"/>
          <p:cNvCxnSpPr>
            <a:stCxn id="4" idx="1"/>
          </p:cNvCxnSpPr>
          <p:nvPr/>
        </p:nvCxnSpPr>
        <p:spPr>
          <a:xfrm rot="10800000" flipH="1">
            <a:off x="3334618" y="3547280"/>
            <a:ext cx="787078" cy="1034110"/>
          </a:xfrm>
          <a:prstGeom prst="curvedConnector4">
            <a:avLst>
              <a:gd name="adj1" fmla="val -29044"/>
              <a:gd name="adj2" fmla="val 65625"/>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8" name="Picture 4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7575" y="1041877"/>
            <a:ext cx="5814349" cy="5280009"/>
          </a:xfrm>
          <a:prstGeom prst="rect">
            <a:avLst/>
          </a:prstGeom>
        </p:spPr>
      </p:pic>
      <p:sp>
        <p:nvSpPr>
          <p:cNvPr id="49" name="TextBox 48"/>
          <p:cNvSpPr txBox="1"/>
          <p:nvPr/>
        </p:nvSpPr>
        <p:spPr>
          <a:xfrm>
            <a:off x="228652" y="1209668"/>
            <a:ext cx="5715965" cy="2985433"/>
          </a:xfrm>
          <a:prstGeom prst="rect">
            <a:avLst/>
          </a:prstGeom>
          <a:noFill/>
        </p:spPr>
        <p:txBody>
          <a:bodyPr wrap="square" rtlCol="0">
            <a:spAutoFit/>
          </a:bodyPr>
          <a:lstStyle/>
          <a:p>
            <a:pPr>
              <a:spcAft>
                <a:spcPts val="2400"/>
              </a:spcAft>
            </a:pPr>
            <a:r>
              <a:rPr lang="en-US" sz="2000" dirty="0"/>
              <a:t>Projecting the data onto the regression line gives the location of the data on the first principal component; these are called scores, (</a:t>
            </a:r>
            <a:r>
              <a:rPr lang="en-US" sz="2000" i="1" dirty="0">
                <a:solidFill>
                  <a:srgbClr val="0070C0"/>
                </a:solidFill>
              </a:rPr>
              <a:t>S</a:t>
            </a:r>
            <a:r>
              <a:rPr lang="en-US" sz="2000" dirty="0"/>
              <a:t>). The cosines of the angles between the first principal component and each of the original axes are called loadings, (</a:t>
            </a:r>
            <a:r>
              <a:rPr lang="en-US" sz="2000" i="1" dirty="0">
                <a:solidFill>
                  <a:srgbClr val="0070C0"/>
                </a:solidFill>
              </a:rPr>
              <a:t>L</a:t>
            </a:r>
            <a:r>
              <a:rPr lang="en-US" sz="2000" dirty="0"/>
              <a:t>).</a:t>
            </a:r>
          </a:p>
          <a:p>
            <a:pPr algn="ctr">
              <a:spcAft>
                <a:spcPts val="2400"/>
              </a:spcAft>
            </a:pPr>
            <a:r>
              <a:rPr lang="en-US" sz="2800" dirty="0">
                <a:solidFill>
                  <a:srgbClr val="0070C0"/>
                </a:solidFill>
              </a:rPr>
              <a:t>[</a:t>
            </a:r>
            <a:r>
              <a:rPr lang="en-US" sz="2800" i="1" dirty="0">
                <a:solidFill>
                  <a:srgbClr val="0070C0"/>
                </a:solidFill>
              </a:rPr>
              <a:t>D</a:t>
            </a:r>
            <a:r>
              <a:rPr lang="en-US" sz="2800" dirty="0">
                <a:solidFill>
                  <a:srgbClr val="0070C0"/>
                </a:solidFill>
              </a:rPr>
              <a:t>]</a:t>
            </a:r>
            <a:r>
              <a:rPr lang="en-US" sz="2800" baseline="-25000" dirty="0">
                <a:solidFill>
                  <a:srgbClr val="0070C0"/>
                </a:solidFill>
              </a:rPr>
              <a:t>21 x 2 </a:t>
            </a:r>
            <a:r>
              <a:rPr lang="en-US" sz="2800" dirty="0">
                <a:solidFill>
                  <a:srgbClr val="0070C0"/>
                </a:solidFill>
              </a:rPr>
              <a:t>= [</a:t>
            </a:r>
            <a:r>
              <a:rPr lang="en-US" sz="2800" i="1" dirty="0">
                <a:solidFill>
                  <a:srgbClr val="0070C0"/>
                </a:solidFill>
              </a:rPr>
              <a:t>S</a:t>
            </a:r>
            <a:r>
              <a:rPr lang="en-US" sz="2800" dirty="0">
                <a:solidFill>
                  <a:srgbClr val="0070C0"/>
                </a:solidFill>
              </a:rPr>
              <a:t>]</a:t>
            </a:r>
            <a:r>
              <a:rPr lang="en-US" sz="2800" baseline="-25000" dirty="0">
                <a:solidFill>
                  <a:srgbClr val="0070C0"/>
                </a:solidFill>
              </a:rPr>
              <a:t>21 x 1 </a:t>
            </a:r>
            <a:r>
              <a:rPr lang="en-US" sz="2800" dirty="0">
                <a:solidFill>
                  <a:srgbClr val="0070C0"/>
                </a:solidFill>
              </a:rPr>
              <a:t>× [</a:t>
            </a:r>
            <a:r>
              <a:rPr lang="en-US" sz="2800" i="1" dirty="0">
                <a:solidFill>
                  <a:srgbClr val="0070C0"/>
                </a:solidFill>
              </a:rPr>
              <a:t>L</a:t>
            </a:r>
            <a:r>
              <a:rPr lang="en-US" sz="2800" dirty="0">
                <a:solidFill>
                  <a:srgbClr val="0070C0"/>
                </a:solidFill>
              </a:rPr>
              <a:t>]</a:t>
            </a:r>
            <a:r>
              <a:rPr lang="en-US" sz="2800" baseline="-25000" dirty="0">
                <a:solidFill>
                  <a:srgbClr val="0070C0"/>
                </a:solidFill>
              </a:rPr>
              <a:t>1 x 2</a:t>
            </a:r>
          </a:p>
          <a:p>
            <a:pPr>
              <a:spcAft>
                <a:spcPts val="2400"/>
              </a:spcAft>
            </a:pPr>
            <a:endParaRPr lang="en-US" sz="2000" dirty="0"/>
          </a:p>
        </p:txBody>
      </p:sp>
      <p:sp>
        <p:nvSpPr>
          <p:cNvPr id="52" name="Rectangle 51"/>
          <p:cNvSpPr/>
          <p:nvPr/>
        </p:nvSpPr>
        <p:spPr>
          <a:xfrm>
            <a:off x="123568" y="5924589"/>
            <a:ext cx="597243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points( )</a:t>
            </a:r>
            <a:endParaRPr lang="en-US" dirty="0">
              <a:solidFill>
                <a:srgbClr val="FF0000"/>
              </a:solidFill>
            </a:endParaRPr>
          </a:p>
        </p:txBody>
      </p:sp>
      <p:sp>
        <p:nvSpPr>
          <p:cNvPr id="10" name="TextBox 9"/>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730743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PCA Work?</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7575" y="1030302"/>
            <a:ext cx="5814349" cy="5283318"/>
          </a:xfrm>
          <a:prstGeom prst="rect">
            <a:avLst/>
          </a:prstGeom>
        </p:spPr>
      </p:pic>
      <p:sp>
        <p:nvSpPr>
          <p:cNvPr id="12" name="TextBox 11"/>
          <p:cNvSpPr txBox="1"/>
          <p:nvPr/>
        </p:nvSpPr>
        <p:spPr>
          <a:xfrm>
            <a:off x="228652" y="1209668"/>
            <a:ext cx="5715965" cy="2062103"/>
          </a:xfrm>
          <a:prstGeom prst="rect">
            <a:avLst/>
          </a:prstGeom>
          <a:noFill/>
        </p:spPr>
        <p:txBody>
          <a:bodyPr wrap="square" rtlCol="0">
            <a:spAutoFit/>
          </a:bodyPr>
          <a:lstStyle/>
          <a:p>
            <a:pPr>
              <a:spcAft>
                <a:spcPts val="2400"/>
              </a:spcAft>
            </a:pPr>
            <a:r>
              <a:rPr lang="en-US" sz="2000" dirty="0"/>
              <a:t>Projecting the original data onto a line that is perpendicular to the first principal component gives the second principal component and adds in a second set of scores and loadings.</a:t>
            </a:r>
          </a:p>
          <a:p>
            <a:pPr algn="ctr">
              <a:spcAft>
                <a:spcPts val="2400"/>
              </a:spcAft>
            </a:pPr>
            <a:r>
              <a:rPr lang="en-US" sz="2800" dirty="0">
                <a:solidFill>
                  <a:srgbClr val="0070C0"/>
                </a:solidFill>
              </a:rPr>
              <a:t>[</a:t>
            </a:r>
            <a:r>
              <a:rPr lang="en-US" sz="2800" i="1" dirty="0">
                <a:solidFill>
                  <a:srgbClr val="0070C0"/>
                </a:solidFill>
              </a:rPr>
              <a:t>D</a:t>
            </a:r>
            <a:r>
              <a:rPr lang="en-US" sz="2800" dirty="0">
                <a:solidFill>
                  <a:srgbClr val="0070C0"/>
                </a:solidFill>
              </a:rPr>
              <a:t>]</a:t>
            </a:r>
            <a:r>
              <a:rPr lang="en-US" sz="2800" baseline="-25000" dirty="0">
                <a:solidFill>
                  <a:srgbClr val="0070C0"/>
                </a:solidFill>
              </a:rPr>
              <a:t>21 x 2 </a:t>
            </a:r>
            <a:r>
              <a:rPr lang="en-US" sz="2800" dirty="0">
                <a:solidFill>
                  <a:srgbClr val="0070C0"/>
                </a:solidFill>
              </a:rPr>
              <a:t>= [</a:t>
            </a:r>
            <a:r>
              <a:rPr lang="en-US" sz="2800" i="1" dirty="0">
                <a:solidFill>
                  <a:srgbClr val="0070C0"/>
                </a:solidFill>
              </a:rPr>
              <a:t>S</a:t>
            </a:r>
            <a:r>
              <a:rPr lang="en-US" sz="2800" dirty="0">
                <a:solidFill>
                  <a:srgbClr val="0070C0"/>
                </a:solidFill>
              </a:rPr>
              <a:t>]</a:t>
            </a:r>
            <a:r>
              <a:rPr lang="en-US" sz="2800" baseline="-25000" dirty="0">
                <a:solidFill>
                  <a:srgbClr val="0070C0"/>
                </a:solidFill>
              </a:rPr>
              <a:t>21 x 2 </a:t>
            </a:r>
            <a:r>
              <a:rPr lang="en-US" sz="2800" dirty="0">
                <a:solidFill>
                  <a:srgbClr val="0070C0"/>
                </a:solidFill>
              </a:rPr>
              <a:t>× [</a:t>
            </a:r>
            <a:r>
              <a:rPr lang="en-US" sz="2800" i="1" dirty="0">
                <a:solidFill>
                  <a:srgbClr val="0070C0"/>
                </a:solidFill>
              </a:rPr>
              <a:t>L</a:t>
            </a:r>
            <a:r>
              <a:rPr lang="en-US" sz="2800" dirty="0">
                <a:solidFill>
                  <a:srgbClr val="0070C0"/>
                </a:solidFill>
              </a:rPr>
              <a:t>]</a:t>
            </a:r>
            <a:r>
              <a:rPr lang="en-US" sz="2800" baseline="-25000" dirty="0">
                <a:solidFill>
                  <a:srgbClr val="0070C0"/>
                </a:solidFill>
              </a:rPr>
              <a:t>2 x 2</a:t>
            </a:r>
          </a:p>
        </p:txBody>
      </p:sp>
      <p:sp>
        <p:nvSpPr>
          <p:cNvPr id="14" name="Rectangle 13"/>
          <p:cNvSpPr/>
          <p:nvPr/>
        </p:nvSpPr>
        <p:spPr>
          <a:xfrm>
            <a:off x="123568" y="5924589"/>
            <a:ext cx="597243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abline( ), points( )</a:t>
            </a:r>
            <a:endParaRPr lang="en-US" dirty="0">
              <a:solidFill>
                <a:srgbClr val="FF0000"/>
              </a:solidFill>
            </a:endParaRPr>
          </a:p>
        </p:txBody>
      </p:sp>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364563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Does PCA Work?</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7575" y="1030302"/>
            <a:ext cx="5814349" cy="5283318"/>
          </a:xfrm>
          <a:prstGeom prst="rect">
            <a:avLst/>
          </a:prstGeom>
        </p:spPr>
      </p:pic>
      <p:sp>
        <p:nvSpPr>
          <p:cNvPr id="12" name="TextBox 11"/>
          <p:cNvSpPr txBox="1"/>
          <p:nvPr/>
        </p:nvSpPr>
        <p:spPr>
          <a:xfrm>
            <a:off x="228652" y="1209668"/>
            <a:ext cx="5715965" cy="2062103"/>
          </a:xfrm>
          <a:prstGeom prst="rect">
            <a:avLst/>
          </a:prstGeom>
          <a:noFill/>
        </p:spPr>
        <p:txBody>
          <a:bodyPr wrap="square" rtlCol="0">
            <a:spAutoFit/>
          </a:bodyPr>
          <a:lstStyle/>
          <a:p>
            <a:pPr>
              <a:spcAft>
                <a:spcPts val="2400"/>
              </a:spcAft>
            </a:pPr>
            <a:r>
              <a:rPr lang="en-US" sz="2000" dirty="0"/>
              <a:t>Projecting the original data onto a line that is perpendicular to the first principal component gives the second principal component and adds in a second set of scores and loadings.</a:t>
            </a:r>
          </a:p>
          <a:p>
            <a:pPr algn="ctr">
              <a:spcAft>
                <a:spcPts val="2400"/>
              </a:spcAft>
            </a:pPr>
            <a:r>
              <a:rPr lang="en-US" sz="2800" dirty="0">
                <a:solidFill>
                  <a:srgbClr val="7030A0"/>
                </a:solidFill>
              </a:rPr>
              <a:t>[</a:t>
            </a:r>
            <a:r>
              <a:rPr lang="en-US" sz="2800" i="1" dirty="0">
                <a:solidFill>
                  <a:srgbClr val="7030A0"/>
                </a:solidFill>
              </a:rPr>
              <a:t>D</a:t>
            </a:r>
            <a:r>
              <a:rPr lang="en-US" sz="2800" dirty="0">
                <a:solidFill>
                  <a:srgbClr val="7030A0"/>
                </a:solidFill>
              </a:rPr>
              <a:t>]</a:t>
            </a:r>
            <a:r>
              <a:rPr lang="en-US" sz="2800" baseline="-25000" dirty="0">
                <a:solidFill>
                  <a:srgbClr val="7030A0"/>
                </a:solidFill>
              </a:rPr>
              <a:t>21 x 2 </a:t>
            </a:r>
            <a:r>
              <a:rPr lang="en-US" sz="2800" dirty="0">
                <a:solidFill>
                  <a:srgbClr val="7030A0"/>
                </a:solidFill>
              </a:rPr>
              <a:t>= [</a:t>
            </a:r>
            <a:r>
              <a:rPr lang="en-US" sz="2800" i="1" dirty="0">
                <a:solidFill>
                  <a:srgbClr val="7030A0"/>
                </a:solidFill>
              </a:rPr>
              <a:t>S</a:t>
            </a:r>
            <a:r>
              <a:rPr lang="en-US" sz="2800" dirty="0">
                <a:solidFill>
                  <a:srgbClr val="7030A0"/>
                </a:solidFill>
              </a:rPr>
              <a:t>]</a:t>
            </a:r>
            <a:r>
              <a:rPr lang="en-US" sz="2800" baseline="-25000" dirty="0">
                <a:solidFill>
                  <a:srgbClr val="7030A0"/>
                </a:solidFill>
              </a:rPr>
              <a:t>21 x 2 </a:t>
            </a:r>
            <a:r>
              <a:rPr lang="en-US" sz="2800" dirty="0">
                <a:solidFill>
                  <a:srgbClr val="7030A0"/>
                </a:solidFill>
              </a:rPr>
              <a:t>× [</a:t>
            </a:r>
            <a:r>
              <a:rPr lang="en-US" sz="2800" i="1" dirty="0">
                <a:solidFill>
                  <a:srgbClr val="7030A0"/>
                </a:solidFill>
              </a:rPr>
              <a:t>L</a:t>
            </a:r>
            <a:r>
              <a:rPr lang="en-US" sz="2800" dirty="0">
                <a:solidFill>
                  <a:srgbClr val="7030A0"/>
                </a:solidFill>
              </a:rPr>
              <a:t>]</a:t>
            </a:r>
            <a:r>
              <a:rPr lang="en-US" sz="2800" baseline="-25000" dirty="0">
                <a:solidFill>
                  <a:srgbClr val="7030A0"/>
                </a:solidFill>
              </a:rPr>
              <a:t>2 x 2</a:t>
            </a:r>
          </a:p>
        </p:txBody>
      </p:sp>
      <p:sp>
        <p:nvSpPr>
          <p:cNvPr id="13" name="Rectangle 12"/>
          <p:cNvSpPr/>
          <p:nvPr/>
        </p:nvSpPr>
        <p:spPr>
          <a:xfrm>
            <a:off x="334244" y="4251330"/>
            <a:ext cx="5504779" cy="523220"/>
          </a:xfrm>
          <a:prstGeom prst="rect">
            <a:avLst/>
          </a:prstGeom>
        </p:spPr>
        <p:txBody>
          <a:bodyPr wrap="square">
            <a:spAutoFit/>
          </a:bodyPr>
          <a:lstStyle/>
          <a:p>
            <a:pPr algn="ctr">
              <a:spcAft>
                <a:spcPts val="12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dirty="0">
                <a:solidFill>
                  <a:srgbClr val="0070C0"/>
                </a:solidFill>
              </a:rPr>
              <a:t> + [</a:t>
            </a:r>
            <a:r>
              <a:rPr lang="en-US" sz="2800" i="1" dirty="0">
                <a:solidFill>
                  <a:srgbClr val="0070C0"/>
                </a:solidFill>
              </a:rPr>
              <a:t>RE</a:t>
            </a:r>
            <a:r>
              <a:rPr lang="en-US" sz="2800" dirty="0">
                <a:solidFill>
                  <a:srgbClr val="0070C0"/>
                </a:solidFill>
              </a:rPr>
              <a:t>]</a:t>
            </a:r>
            <a:r>
              <a:rPr lang="en-US" sz="2800" baseline="-25000" dirty="0">
                <a:solidFill>
                  <a:srgbClr val="0070C0"/>
                </a:solidFill>
              </a:rPr>
              <a:t> </a:t>
            </a:r>
            <a:r>
              <a:rPr lang="en-US" sz="2800" i="1" baseline="-25000" dirty="0">
                <a:solidFill>
                  <a:srgbClr val="0070C0"/>
                </a:solidFill>
              </a:rPr>
              <a:t>s</a:t>
            </a:r>
            <a:r>
              <a:rPr lang="en-US" sz="2800" baseline="-25000" dirty="0">
                <a:solidFill>
                  <a:srgbClr val="0070C0"/>
                </a:solidFill>
              </a:rPr>
              <a:t> × </a:t>
            </a:r>
            <a:r>
              <a:rPr lang="en-US" sz="2800" i="1" baseline="-25000" dirty="0">
                <a:solidFill>
                  <a:srgbClr val="0070C0"/>
                </a:solidFill>
              </a:rPr>
              <a:t>w</a:t>
            </a:r>
          </a:p>
        </p:txBody>
      </p:sp>
      <p:sp>
        <p:nvSpPr>
          <p:cNvPr id="7" name="Rectangle 6"/>
          <p:cNvSpPr/>
          <p:nvPr/>
        </p:nvSpPr>
        <p:spPr>
          <a:xfrm>
            <a:off x="123568" y="5924589"/>
            <a:ext cx="597243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abline( ), points( )</a:t>
            </a:r>
            <a:endParaRPr lang="en-US" dirty="0">
              <a:solidFill>
                <a:srgbClr val="FF0000"/>
              </a:solidFill>
            </a:endParaRPr>
          </a:p>
        </p:txBody>
      </p:sp>
      <p:sp>
        <p:nvSpPr>
          <p:cNvPr id="8" name="TextBox 7"/>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277362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PCA: Worked Example</a:t>
            </a:r>
          </a:p>
        </p:txBody>
      </p:sp>
      <p:sp>
        <p:nvSpPr>
          <p:cNvPr id="3" name="TextBox 2"/>
          <p:cNvSpPr txBox="1"/>
          <p:nvPr/>
        </p:nvSpPr>
        <p:spPr>
          <a:xfrm>
            <a:off x="241193" y="1099752"/>
            <a:ext cx="5748760" cy="1877437"/>
          </a:xfrm>
          <a:prstGeom prst="rect">
            <a:avLst/>
          </a:prstGeom>
          <a:noFill/>
        </p:spPr>
        <p:txBody>
          <a:bodyPr wrap="square" rtlCol="0">
            <a:spAutoFit/>
          </a:bodyPr>
          <a:lstStyle/>
          <a:p>
            <a:pPr algn="ctr">
              <a:spcAft>
                <a:spcPts val="12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dirty="0">
                <a:solidFill>
                  <a:srgbClr val="0070C0"/>
                </a:solidFill>
              </a:rPr>
              <a:t> + [</a:t>
            </a:r>
            <a:r>
              <a:rPr lang="en-US" sz="2800" i="1" dirty="0">
                <a:solidFill>
                  <a:srgbClr val="0070C0"/>
                </a:solidFill>
              </a:rPr>
              <a:t>RE</a:t>
            </a:r>
            <a:r>
              <a:rPr lang="en-US" sz="2800" dirty="0">
                <a:solidFill>
                  <a:srgbClr val="0070C0"/>
                </a:solidFill>
              </a:rPr>
              <a:t>]</a:t>
            </a:r>
            <a:r>
              <a:rPr lang="en-US" sz="2800" baseline="-25000" dirty="0">
                <a:solidFill>
                  <a:srgbClr val="0070C0"/>
                </a:solidFill>
              </a:rPr>
              <a:t> </a:t>
            </a:r>
            <a:r>
              <a:rPr lang="en-US" sz="2800" i="1" baseline="-25000" dirty="0">
                <a:solidFill>
                  <a:srgbClr val="0070C0"/>
                </a:solidFill>
              </a:rPr>
              <a:t>s</a:t>
            </a:r>
            <a:r>
              <a:rPr lang="en-US" sz="2800" baseline="-25000" dirty="0">
                <a:solidFill>
                  <a:srgbClr val="0070C0"/>
                </a:solidFill>
              </a:rPr>
              <a:t> × </a:t>
            </a:r>
            <a:r>
              <a:rPr lang="en-US" sz="2800" i="1" baseline="-25000" dirty="0">
                <a:solidFill>
                  <a:srgbClr val="0070C0"/>
                </a:solidFill>
              </a:rPr>
              <a:t>w</a:t>
            </a:r>
          </a:p>
          <a:p>
            <a:pPr>
              <a:spcAft>
                <a:spcPts val="1200"/>
              </a:spcAft>
            </a:pPr>
            <a:r>
              <a:rPr lang="en-US" sz="1600" i="1" dirty="0">
                <a:solidFill>
                  <a:srgbClr val="0070C0"/>
                </a:solidFill>
              </a:rPr>
              <a:t>Subset of data consisting of 24 of the 80 samples: stock Cu, stock Co, stock Cr, five Cu/Co binary mixtures, five Cu/Cr binary mixtures, five Co/Cr binary mixtures, six Cu/Co/Cr ternary mixtures.</a:t>
            </a:r>
          </a:p>
          <a:p>
            <a:pPr marL="287338" indent="-287338">
              <a:spcAft>
                <a:spcPts val="600"/>
              </a:spcAft>
              <a:buFont typeface="+mj-lt"/>
              <a:buAutoNum type="arabicPeriod"/>
            </a:pPr>
            <a:r>
              <a:rPr lang="en-US" sz="2000" b="1" dirty="0">
                <a:solidFill>
                  <a:srgbClr val="FF0000"/>
                </a:solidFill>
              </a:rPr>
              <a:t>choose a subset of the original 635 wavelengths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7578" y="1053452"/>
            <a:ext cx="5733610" cy="5243176"/>
          </a:xfrm>
          <a:prstGeom prst="rect">
            <a:avLst/>
          </a:prstGeom>
        </p:spPr>
      </p:pic>
      <p:sp>
        <p:nvSpPr>
          <p:cNvPr id="8" name="Rectangle 7"/>
          <p:cNvSpPr/>
          <p:nvPr/>
        </p:nvSpPr>
        <p:spPr>
          <a:xfrm>
            <a:off x="389735" y="4089251"/>
            <a:ext cx="5451675" cy="723275"/>
          </a:xfrm>
          <a:prstGeom prst="rect">
            <a:avLst/>
          </a:prstGeom>
        </p:spPr>
        <p:txBody>
          <a:bodyPr wrap="square">
            <a:spAutoFit/>
          </a:bodyPr>
          <a:lstStyle/>
          <a:p>
            <a:pPr>
              <a:spcAft>
                <a:spcPts val="600"/>
              </a:spcAft>
            </a:pPr>
            <a:r>
              <a:rPr lang="en-US" dirty="0">
                <a:solidFill>
                  <a:srgbClr val="7030A0"/>
                </a:solidFill>
              </a:rPr>
              <a:t>[1] 380.5  414.9  449.3  483.7  517.9  550.6  583.2  613.3 </a:t>
            </a:r>
          </a:p>
          <a:p>
            <a:pPr>
              <a:spcAft>
                <a:spcPts val="600"/>
              </a:spcAft>
            </a:pPr>
            <a:r>
              <a:rPr lang="en-US" dirty="0">
                <a:solidFill>
                  <a:srgbClr val="7030A0"/>
                </a:solidFill>
              </a:rPr>
              <a:t>[9] 642.9  672.7  703.3  735.5  767.8  800.2  832.6  868.7</a:t>
            </a:r>
          </a:p>
        </p:txBody>
      </p:sp>
      <p:sp>
        <p:nvSpPr>
          <p:cNvPr id="9" name="Rectangle 8"/>
          <p:cNvSpPr/>
          <p:nvPr/>
        </p:nvSpPr>
        <p:spPr>
          <a:xfrm>
            <a:off x="123568" y="5924589"/>
            <a:ext cx="7967136"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 lines( ), abline( ), legend( ), </a:t>
            </a:r>
            <a:r>
              <a:rPr lang="en-US" dirty="0" err="1">
                <a:solidFill>
                  <a:srgbClr val="FF0000"/>
                </a:solidFill>
                <a:latin typeface="Calibri" charset="0"/>
                <a:ea typeface="Calibri" charset="0"/>
                <a:cs typeface="Calibri" charset="0"/>
              </a:rPr>
              <a:t>as.numeric</a:t>
            </a:r>
            <a:r>
              <a:rPr lang="en-US" dirty="0">
                <a:solidFill>
                  <a:srgbClr val="FF0000"/>
                </a:solidFill>
                <a:latin typeface="Calibri" charset="0"/>
                <a:ea typeface="Calibri" charset="0"/>
                <a:cs typeface="Calibri" charset="0"/>
              </a:rPr>
              <a:t>( ), </a:t>
            </a:r>
            <a:r>
              <a:rPr lang="en-US" dirty="0" err="1">
                <a:solidFill>
                  <a:srgbClr val="FF0000"/>
                </a:solidFill>
                <a:latin typeface="Calibri" charset="0"/>
                <a:ea typeface="Calibri" charset="0"/>
                <a:cs typeface="Calibri" charset="0"/>
              </a:rPr>
              <a:t>colnames</a:t>
            </a:r>
            <a:r>
              <a:rPr lang="en-US" dirty="0">
                <a:solidFill>
                  <a:srgbClr val="FF0000"/>
                </a:solidFill>
                <a:latin typeface="Calibri" charset="0"/>
                <a:ea typeface="Calibri" charset="0"/>
                <a:cs typeface="Calibri" charset="0"/>
              </a:rPr>
              <a:t>( )</a:t>
            </a:r>
            <a:endParaRPr lang="en-US" dirty="0">
              <a:solidFill>
                <a:srgbClr val="FF0000"/>
              </a:solidFill>
            </a:endParaRPr>
          </a:p>
        </p:txBody>
      </p:sp>
      <p:sp>
        <p:nvSpPr>
          <p:cNvPr id="7" name="TextBox 6"/>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312437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PCA: Worked Example</a:t>
            </a:r>
          </a:p>
        </p:txBody>
      </p:sp>
      <p:sp>
        <p:nvSpPr>
          <p:cNvPr id="9" name="TextBox 8"/>
          <p:cNvSpPr txBox="1"/>
          <p:nvPr/>
        </p:nvSpPr>
        <p:spPr>
          <a:xfrm>
            <a:off x="289365" y="1101509"/>
            <a:ext cx="5748760" cy="2569934"/>
          </a:xfrm>
          <a:prstGeom prst="rect">
            <a:avLst/>
          </a:prstGeom>
          <a:noFill/>
        </p:spPr>
        <p:txBody>
          <a:bodyPr wrap="square" rtlCol="0">
            <a:spAutoFit/>
          </a:bodyPr>
          <a:lstStyle/>
          <a:p>
            <a:pPr algn="ctr">
              <a:spcAft>
                <a:spcPts val="12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dirty="0">
                <a:solidFill>
                  <a:srgbClr val="0070C0"/>
                </a:solidFill>
              </a:rPr>
              <a:t> + [</a:t>
            </a:r>
            <a:r>
              <a:rPr lang="en-US" sz="2800" i="1" dirty="0">
                <a:solidFill>
                  <a:srgbClr val="0070C0"/>
                </a:solidFill>
              </a:rPr>
              <a:t>RE</a:t>
            </a:r>
            <a:r>
              <a:rPr lang="en-US" sz="2800" dirty="0">
                <a:solidFill>
                  <a:srgbClr val="0070C0"/>
                </a:solidFill>
              </a:rPr>
              <a:t>]</a:t>
            </a:r>
            <a:r>
              <a:rPr lang="en-US" sz="2800" baseline="-25000" dirty="0">
                <a:solidFill>
                  <a:srgbClr val="0070C0"/>
                </a:solidFill>
              </a:rPr>
              <a:t> </a:t>
            </a:r>
            <a:r>
              <a:rPr lang="en-US" sz="2800" i="1" baseline="-25000" dirty="0">
                <a:solidFill>
                  <a:srgbClr val="0070C0"/>
                </a:solidFill>
              </a:rPr>
              <a:t>s</a:t>
            </a:r>
            <a:r>
              <a:rPr lang="en-US" sz="2800" baseline="-25000" dirty="0">
                <a:solidFill>
                  <a:srgbClr val="0070C0"/>
                </a:solidFill>
              </a:rPr>
              <a:t> × </a:t>
            </a:r>
            <a:r>
              <a:rPr lang="en-US" sz="2800" i="1" baseline="-25000" dirty="0">
                <a:solidFill>
                  <a:srgbClr val="0070C0"/>
                </a:solidFill>
              </a:rPr>
              <a:t>w</a:t>
            </a:r>
          </a:p>
          <a:p>
            <a:pPr>
              <a:spcAft>
                <a:spcPts val="1200"/>
              </a:spcAft>
            </a:pPr>
            <a:r>
              <a:rPr lang="en-US" sz="1600" i="1" dirty="0">
                <a:solidFill>
                  <a:srgbClr val="0070C0"/>
                </a:solidFill>
              </a:rPr>
              <a:t>Subset of data consisting of 24 of the 80 samples: stock Cu, stock Co, stock Cr, five Cu/Co binary mixtures, five Cu/Cr binary mixtures, five Co/Cr binary mixtures, six Cu/Co/Cr ternary mixtures.</a:t>
            </a:r>
          </a:p>
          <a:p>
            <a:pPr marL="287338" indent="-287338">
              <a:spcAft>
                <a:spcPts val="600"/>
              </a:spcAft>
              <a:buFont typeface="+mj-lt"/>
              <a:buAutoNum type="arabicPeriod"/>
            </a:pPr>
            <a:r>
              <a:rPr lang="en-US" sz="2000" dirty="0"/>
              <a:t>choose a subset of the original 635 wavelengths</a:t>
            </a:r>
          </a:p>
          <a:p>
            <a:pPr marL="287338" indent="-287338">
              <a:spcAft>
                <a:spcPts val="600"/>
              </a:spcAft>
              <a:buFont typeface="+mj-lt"/>
              <a:buAutoNum type="arabicPeriod"/>
            </a:pPr>
            <a:r>
              <a:rPr lang="en-US" sz="2000" b="1" dirty="0">
                <a:solidFill>
                  <a:srgbClr val="FF0000"/>
                </a:solidFill>
              </a:rPr>
              <a:t>perform PCA and determine relative importance of the 16 principal components</a:t>
            </a:r>
          </a:p>
        </p:txBody>
      </p:sp>
      <p:sp>
        <p:nvSpPr>
          <p:cNvPr id="10" name="Rectangle 9"/>
          <p:cNvSpPr/>
          <p:nvPr/>
        </p:nvSpPr>
        <p:spPr>
          <a:xfrm>
            <a:off x="289365" y="4278105"/>
            <a:ext cx="5806635" cy="1200329"/>
          </a:xfrm>
          <a:prstGeom prst="rect">
            <a:avLst/>
          </a:prstGeom>
        </p:spPr>
        <p:txBody>
          <a:bodyPr wrap="square">
            <a:spAutoFit/>
          </a:bodyPr>
          <a:lstStyle/>
          <a:p>
            <a:r>
              <a:rPr lang="en-US" dirty="0">
                <a:solidFill>
                  <a:srgbClr val="7030A0"/>
                </a:solidFill>
              </a:rPr>
              <a:t>                                                 PC1        PC2           PC3          PC4</a:t>
            </a:r>
          </a:p>
          <a:p>
            <a:r>
              <a:rPr lang="en-US" dirty="0">
                <a:solidFill>
                  <a:srgbClr val="7030A0"/>
                </a:solidFill>
              </a:rPr>
              <a:t>Standard deviation          3.3134   2.1901   0.42561   0.17585 </a:t>
            </a:r>
          </a:p>
          <a:p>
            <a:r>
              <a:rPr lang="en-US" dirty="0">
                <a:solidFill>
                  <a:srgbClr val="7030A0"/>
                </a:solidFill>
              </a:rPr>
              <a:t>Proportion of Variance   0.6862   0.2998   0.01132   0.00193 </a:t>
            </a:r>
          </a:p>
          <a:p>
            <a:r>
              <a:rPr lang="en-US" dirty="0">
                <a:solidFill>
                  <a:srgbClr val="7030A0"/>
                </a:solidFill>
              </a:rPr>
              <a:t>Cumulative Proportion   0.6862   0.9859   0.99725   0.99919</a:t>
            </a:r>
          </a:p>
        </p:txBody>
      </p:sp>
      <p:sp>
        <p:nvSpPr>
          <p:cNvPr id="11" name="Rectangle 10"/>
          <p:cNvSpPr/>
          <p:nvPr/>
        </p:nvSpPr>
        <p:spPr>
          <a:xfrm>
            <a:off x="123568" y="5924589"/>
            <a:ext cx="425166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prcomp( ), plot( ), summary( )</a:t>
            </a:r>
            <a:endParaRPr lang="en-US" dirty="0">
              <a:solidFill>
                <a:srgbClr val="FF0000"/>
              </a:solidFill>
            </a:endParaRP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251075"/>
            <a:ext cx="5985126" cy="4858180"/>
          </a:xfrm>
          <a:prstGeom prst="rect">
            <a:avLst/>
          </a:prstGeom>
        </p:spPr>
      </p:pic>
      <p:sp>
        <p:nvSpPr>
          <p:cNvPr id="7" name="TextBox 6"/>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558633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PCA: Worked Example</a:t>
            </a:r>
          </a:p>
        </p:txBody>
      </p:sp>
      <p:sp>
        <p:nvSpPr>
          <p:cNvPr id="8" name="TextBox 7"/>
          <p:cNvSpPr txBox="1"/>
          <p:nvPr/>
        </p:nvSpPr>
        <p:spPr>
          <a:xfrm>
            <a:off x="254642" y="1099752"/>
            <a:ext cx="5748760" cy="3262432"/>
          </a:xfrm>
          <a:prstGeom prst="rect">
            <a:avLst/>
          </a:prstGeom>
          <a:noFill/>
        </p:spPr>
        <p:txBody>
          <a:bodyPr wrap="square" rtlCol="0">
            <a:spAutoFit/>
          </a:bodyPr>
          <a:lstStyle/>
          <a:p>
            <a:pPr algn="ctr">
              <a:spcAft>
                <a:spcPts val="12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dirty="0">
                <a:solidFill>
                  <a:srgbClr val="0070C0"/>
                </a:solidFill>
              </a:rPr>
              <a:t> + [</a:t>
            </a:r>
            <a:r>
              <a:rPr lang="en-US" sz="2800" i="1" dirty="0">
                <a:solidFill>
                  <a:srgbClr val="0070C0"/>
                </a:solidFill>
              </a:rPr>
              <a:t>RE</a:t>
            </a:r>
            <a:r>
              <a:rPr lang="en-US" sz="2800" dirty="0">
                <a:solidFill>
                  <a:srgbClr val="0070C0"/>
                </a:solidFill>
              </a:rPr>
              <a:t>]</a:t>
            </a:r>
            <a:r>
              <a:rPr lang="en-US" sz="2800" baseline="-25000" dirty="0">
                <a:solidFill>
                  <a:srgbClr val="0070C0"/>
                </a:solidFill>
              </a:rPr>
              <a:t> </a:t>
            </a:r>
            <a:r>
              <a:rPr lang="en-US" sz="2800" i="1" baseline="-25000" dirty="0">
                <a:solidFill>
                  <a:srgbClr val="0070C0"/>
                </a:solidFill>
              </a:rPr>
              <a:t>s</a:t>
            </a:r>
            <a:r>
              <a:rPr lang="en-US" sz="2800" baseline="-25000" dirty="0">
                <a:solidFill>
                  <a:srgbClr val="0070C0"/>
                </a:solidFill>
              </a:rPr>
              <a:t> × </a:t>
            </a:r>
            <a:r>
              <a:rPr lang="en-US" sz="2800" i="1" baseline="-25000" dirty="0">
                <a:solidFill>
                  <a:srgbClr val="0070C0"/>
                </a:solidFill>
              </a:rPr>
              <a:t>w</a:t>
            </a:r>
          </a:p>
          <a:p>
            <a:pPr>
              <a:spcAft>
                <a:spcPts val="1200"/>
              </a:spcAft>
            </a:pPr>
            <a:r>
              <a:rPr lang="en-US" sz="1600" i="1" dirty="0">
                <a:solidFill>
                  <a:srgbClr val="0070C0"/>
                </a:solidFill>
              </a:rPr>
              <a:t>Subset of data consisting of 24 of the 80 samples: stock Cu, stock Co, stock Cr, five Cu/Co binary mixtures, five Cu/Cr binary mixtures, five Co/Cr binary mixtures, six Cu/Co/Cr ternary mixtures.</a:t>
            </a:r>
          </a:p>
          <a:p>
            <a:pPr marL="287338" indent="-287338">
              <a:spcAft>
                <a:spcPts val="600"/>
              </a:spcAft>
              <a:buFont typeface="+mj-lt"/>
              <a:buAutoNum type="arabicPeriod"/>
            </a:pPr>
            <a:r>
              <a:rPr lang="en-US" sz="2000" dirty="0"/>
              <a:t>choose a subset of the original 635 wavelengths</a:t>
            </a:r>
          </a:p>
          <a:p>
            <a:pPr marL="287338" indent="-287338">
              <a:spcAft>
                <a:spcPts val="600"/>
              </a:spcAft>
              <a:buFont typeface="+mj-lt"/>
              <a:buAutoNum type="arabicPeriod"/>
            </a:pPr>
            <a:r>
              <a:rPr lang="en-US" sz="2000" dirty="0"/>
              <a:t>perform PCA and determine relative importance of the 16 principal components</a:t>
            </a:r>
          </a:p>
          <a:p>
            <a:pPr marL="287338" indent="-287338">
              <a:spcAft>
                <a:spcPts val="600"/>
              </a:spcAft>
              <a:buFont typeface="+mj-lt"/>
              <a:buAutoNum type="arabicPeriod"/>
            </a:pPr>
            <a:r>
              <a:rPr lang="en-US" sz="2000" b="1" dirty="0">
                <a:solidFill>
                  <a:srgbClr val="FF0000"/>
                </a:solidFill>
              </a:rPr>
              <a:t>examine and interpret scores for first two principal components</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7578" y="1053452"/>
            <a:ext cx="5779622" cy="5263902"/>
          </a:xfrm>
          <a:prstGeom prst="rect">
            <a:avLst/>
          </a:prstGeom>
        </p:spPr>
      </p:pic>
      <p:sp>
        <p:nvSpPr>
          <p:cNvPr id="12" name="Rectangle 11"/>
          <p:cNvSpPr/>
          <p:nvPr/>
        </p:nvSpPr>
        <p:spPr>
          <a:xfrm>
            <a:off x="123568" y="5924589"/>
            <a:ext cx="425166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a:t>
            </a:r>
            <a:endParaRPr lang="en-US" dirty="0">
              <a:solidFill>
                <a:srgbClr val="FF0000"/>
              </a:solidFill>
            </a:endParaRPr>
          </a:p>
        </p:txBody>
      </p:sp>
      <p:sp>
        <p:nvSpPr>
          <p:cNvPr id="7" name="TextBox 6"/>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6482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PCA: Worked Example</a:t>
            </a:r>
          </a:p>
        </p:txBody>
      </p:sp>
      <p:sp>
        <p:nvSpPr>
          <p:cNvPr id="8" name="TextBox 7"/>
          <p:cNvSpPr txBox="1"/>
          <p:nvPr/>
        </p:nvSpPr>
        <p:spPr>
          <a:xfrm>
            <a:off x="254642" y="1099752"/>
            <a:ext cx="5748760" cy="3262432"/>
          </a:xfrm>
          <a:prstGeom prst="rect">
            <a:avLst/>
          </a:prstGeom>
          <a:noFill/>
        </p:spPr>
        <p:txBody>
          <a:bodyPr wrap="square" rtlCol="0">
            <a:spAutoFit/>
          </a:bodyPr>
          <a:lstStyle/>
          <a:p>
            <a:pPr algn="ctr">
              <a:spcAft>
                <a:spcPts val="12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dirty="0">
                <a:solidFill>
                  <a:srgbClr val="0070C0"/>
                </a:solidFill>
              </a:rPr>
              <a:t> + [</a:t>
            </a:r>
            <a:r>
              <a:rPr lang="en-US" sz="2800" i="1" dirty="0">
                <a:solidFill>
                  <a:srgbClr val="0070C0"/>
                </a:solidFill>
              </a:rPr>
              <a:t>RE</a:t>
            </a:r>
            <a:r>
              <a:rPr lang="en-US" sz="2800" dirty="0">
                <a:solidFill>
                  <a:srgbClr val="0070C0"/>
                </a:solidFill>
              </a:rPr>
              <a:t>]</a:t>
            </a:r>
            <a:r>
              <a:rPr lang="en-US" sz="2800" baseline="-25000" dirty="0">
                <a:solidFill>
                  <a:srgbClr val="0070C0"/>
                </a:solidFill>
              </a:rPr>
              <a:t> </a:t>
            </a:r>
            <a:r>
              <a:rPr lang="en-US" sz="2800" i="1" baseline="-25000" dirty="0">
                <a:solidFill>
                  <a:srgbClr val="0070C0"/>
                </a:solidFill>
              </a:rPr>
              <a:t>s</a:t>
            </a:r>
            <a:r>
              <a:rPr lang="en-US" sz="2800" baseline="-25000" dirty="0">
                <a:solidFill>
                  <a:srgbClr val="0070C0"/>
                </a:solidFill>
              </a:rPr>
              <a:t> × </a:t>
            </a:r>
            <a:r>
              <a:rPr lang="en-US" sz="2800" i="1" baseline="-25000" dirty="0">
                <a:solidFill>
                  <a:srgbClr val="0070C0"/>
                </a:solidFill>
              </a:rPr>
              <a:t>w</a:t>
            </a:r>
          </a:p>
          <a:p>
            <a:pPr>
              <a:spcAft>
                <a:spcPts val="1200"/>
              </a:spcAft>
            </a:pPr>
            <a:r>
              <a:rPr lang="en-US" sz="1600" i="1" dirty="0">
                <a:solidFill>
                  <a:srgbClr val="0070C0"/>
                </a:solidFill>
              </a:rPr>
              <a:t>Subset of data consisting of 24 of the 80 samples: stock Cu, stock Co, stock Cr, five Cu/Co binary mixtures, five Cu/Cr binary mixtures, five Co/Cr binary mixtures, six Cu/Co/Cr ternary mixtures.</a:t>
            </a:r>
          </a:p>
          <a:p>
            <a:pPr marL="287338" indent="-287338">
              <a:spcAft>
                <a:spcPts val="600"/>
              </a:spcAft>
              <a:buFont typeface="+mj-lt"/>
              <a:buAutoNum type="arabicPeriod"/>
            </a:pPr>
            <a:r>
              <a:rPr lang="en-US" sz="2000" dirty="0"/>
              <a:t>choose a subset of the original 635 wavelengths</a:t>
            </a:r>
          </a:p>
          <a:p>
            <a:pPr marL="287338" indent="-287338">
              <a:spcAft>
                <a:spcPts val="600"/>
              </a:spcAft>
              <a:buFont typeface="+mj-lt"/>
              <a:buAutoNum type="arabicPeriod"/>
            </a:pPr>
            <a:r>
              <a:rPr lang="en-US" sz="2000" dirty="0"/>
              <a:t>perform PCA and determine relative importance of the 16 principal components</a:t>
            </a:r>
          </a:p>
          <a:p>
            <a:pPr marL="287338" indent="-287338">
              <a:spcAft>
                <a:spcPts val="600"/>
              </a:spcAft>
              <a:buFont typeface="+mj-lt"/>
              <a:buAutoNum type="arabicPeriod"/>
            </a:pPr>
            <a:r>
              <a:rPr lang="en-US" sz="2000" b="1" dirty="0">
                <a:solidFill>
                  <a:srgbClr val="FF0000"/>
                </a:solidFill>
              </a:rPr>
              <a:t>examine and interpret scores for first two principal components</a:t>
            </a:r>
          </a:p>
        </p:txBody>
      </p:sp>
      <p:sp>
        <p:nvSpPr>
          <p:cNvPr id="12" name="Rectangle 11"/>
          <p:cNvSpPr/>
          <p:nvPr/>
        </p:nvSpPr>
        <p:spPr>
          <a:xfrm>
            <a:off x="123568" y="5924589"/>
            <a:ext cx="425166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 factor( ), legend( )</a:t>
            </a:r>
            <a:endParaRPr lang="en-US"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7574" y="1077925"/>
            <a:ext cx="5704053" cy="5239146"/>
          </a:xfrm>
          <a:prstGeom prst="rect">
            <a:avLst/>
          </a:prstGeom>
        </p:spPr>
      </p:pic>
      <p:sp>
        <p:nvSpPr>
          <p:cNvPr id="7" name="TextBox 6"/>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775274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PCA: Worked Example</a:t>
            </a:r>
          </a:p>
        </p:txBody>
      </p:sp>
      <p:sp>
        <p:nvSpPr>
          <p:cNvPr id="8" name="TextBox 7"/>
          <p:cNvSpPr txBox="1"/>
          <p:nvPr/>
        </p:nvSpPr>
        <p:spPr>
          <a:xfrm>
            <a:off x="254643" y="1099752"/>
            <a:ext cx="5748760" cy="3954929"/>
          </a:xfrm>
          <a:prstGeom prst="rect">
            <a:avLst/>
          </a:prstGeom>
          <a:noFill/>
        </p:spPr>
        <p:txBody>
          <a:bodyPr wrap="square" rtlCol="0">
            <a:spAutoFit/>
          </a:bodyPr>
          <a:lstStyle/>
          <a:p>
            <a:pPr algn="ctr">
              <a:spcAft>
                <a:spcPts val="12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dirty="0">
                <a:solidFill>
                  <a:srgbClr val="0070C0"/>
                </a:solidFill>
              </a:rPr>
              <a:t> + [</a:t>
            </a:r>
            <a:r>
              <a:rPr lang="en-US" sz="2800" i="1" dirty="0">
                <a:solidFill>
                  <a:srgbClr val="0070C0"/>
                </a:solidFill>
              </a:rPr>
              <a:t>RE</a:t>
            </a:r>
            <a:r>
              <a:rPr lang="en-US" sz="2800" dirty="0">
                <a:solidFill>
                  <a:srgbClr val="0070C0"/>
                </a:solidFill>
              </a:rPr>
              <a:t>]</a:t>
            </a:r>
            <a:r>
              <a:rPr lang="en-US" sz="2800" baseline="-25000" dirty="0">
                <a:solidFill>
                  <a:srgbClr val="0070C0"/>
                </a:solidFill>
              </a:rPr>
              <a:t> </a:t>
            </a:r>
            <a:r>
              <a:rPr lang="en-US" sz="2800" i="1" baseline="-25000" dirty="0">
                <a:solidFill>
                  <a:srgbClr val="0070C0"/>
                </a:solidFill>
              </a:rPr>
              <a:t>s</a:t>
            </a:r>
            <a:r>
              <a:rPr lang="en-US" sz="2800" baseline="-25000" dirty="0">
                <a:solidFill>
                  <a:srgbClr val="0070C0"/>
                </a:solidFill>
              </a:rPr>
              <a:t> × </a:t>
            </a:r>
            <a:r>
              <a:rPr lang="en-US" sz="2800" i="1" baseline="-25000" dirty="0">
                <a:solidFill>
                  <a:srgbClr val="0070C0"/>
                </a:solidFill>
              </a:rPr>
              <a:t>w</a:t>
            </a:r>
          </a:p>
          <a:p>
            <a:pPr>
              <a:spcAft>
                <a:spcPts val="1200"/>
              </a:spcAft>
            </a:pPr>
            <a:r>
              <a:rPr lang="en-US" sz="1600" i="1" dirty="0">
                <a:solidFill>
                  <a:srgbClr val="0070C0"/>
                </a:solidFill>
              </a:rPr>
              <a:t>Subset of data consisting of 24 of the 80 samples: stock Cu, stock Co, stock Cr, five Cu/Co binary mixtures, five Cu/Cr binary mixtures, five Co/Cr binary mixtures, six Cu/Co/Cr ternary mixtures.</a:t>
            </a:r>
          </a:p>
          <a:p>
            <a:pPr marL="287338" indent="-287338">
              <a:spcAft>
                <a:spcPts val="600"/>
              </a:spcAft>
              <a:buFont typeface="+mj-lt"/>
              <a:buAutoNum type="arabicPeriod"/>
            </a:pPr>
            <a:r>
              <a:rPr lang="en-US" sz="2000" dirty="0"/>
              <a:t>choose a subset of the original 635 wavelengths</a:t>
            </a:r>
          </a:p>
          <a:p>
            <a:pPr marL="287338" indent="-287338">
              <a:spcAft>
                <a:spcPts val="600"/>
              </a:spcAft>
              <a:buFont typeface="+mj-lt"/>
              <a:buAutoNum type="arabicPeriod"/>
            </a:pPr>
            <a:r>
              <a:rPr lang="en-US" sz="2000" dirty="0"/>
              <a:t>perform PCA and determine relative importance of the 16 principal components</a:t>
            </a:r>
          </a:p>
          <a:p>
            <a:pPr marL="287338" indent="-287338">
              <a:spcAft>
                <a:spcPts val="600"/>
              </a:spcAft>
              <a:buFont typeface="+mj-lt"/>
              <a:buAutoNum type="arabicPeriod"/>
            </a:pPr>
            <a:r>
              <a:rPr lang="en-US" sz="2000" dirty="0"/>
              <a:t>examine and interpret scores for first two principal components</a:t>
            </a:r>
          </a:p>
          <a:p>
            <a:pPr marL="287338" indent="-287338">
              <a:spcAft>
                <a:spcPts val="600"/>
              </a:spcAft>
              <a:buFont typeface="+mj-lt"/>
              <a:buAutoNum type="arabicPeriod"/>
            </a:pPr>
            <a:r>
              <a:rPr lang="en-US" sz="2000" b="1" dirty="0">
                <a:solidFill>
                  <a:srgbClr val="FF0000"/>
                </a:solidFill>
              </a:rPr>
              <a:t>examine and interpret </a:t>
            </a:r>
            <a:r>
              <a:rPr lang="en-US" sz="2000" b="1" dirty="0" err="1">
                <a:solidFill>
                  <a:srgbClr val="FF0000"/>
                </a:solidFill>
              </a:rPr>
              <a:t>biplot</a:t>
            </a:r>
            <a:r>
              <a:rPr lang="en-US" sz="2000" b="1" dirty="0">
                <a:solidFill>
                  <a:srgbClr val="FF0000"/>
                </a:solidFill>
              </a:rPr>
              <a:t> of loadings and scores for the first two principal components</a:t>
            </a:r>
          </a:p>
        </p:txBody>
      </p:sp>
      <p:sp>
        <p:nvSpPr>
          <p:cNvPr id="12" name="Rectangle 11"/>
          <p:cNvSpPr/>
          <p:nvPr/>
        </p:nvSpPr>
        <p:spPr>
          <a:xfrm>
            <a:off x="123568" y="5924589"/>
            <a:ext cx="4251662"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a:t>
            </a:r>
            <a:r>
              <a:rPr lang="en-US" dirty="0" err="1">
                <a:solidFill>
                  <a:srgbClr val="FF0000"/>
                </a:solidFill>
                <a:latin typeface="Calibri" charset="0"/>
                <a:ea typeface="Calibri" charset="0"/>
                <a:cs typeface="Calibri" charset="0"/>
              </a:rPr>
              <a:t>biplot</a:t>
            </a:r>
            <a:r>
              <a:rPr lang="en-US" dirty="0">
                <a:solidFill>
                  <a:srgbClr val="FF0000"/>
                </a:solidFill>
                <a:latin typeface="Calibri" charset="0"/>
                <a:ea typeface="Calibri" charset="0"/>
                <a:cs typeface="Calibri" charset="0"/>
              </a:rPr>
              <a:t>( )</a:t>
            </a:r>
            <a:endParaRPr lang="en-US" dirty="0">
              <a:solidFill>
                <a:srgbClr val="FF000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4905" y="1050516"/>
            <a:ext cx="5482928" cy="5248900"/>
          </a:xfrm>
          <a:prstGeom prst="rect">
            <a:avLst/>
          </a:prstGeom>
        </p:spPr>
      </p:pic>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596338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PCA: Worked Example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4905" y="1050516"/>
            <a:ext cx="5482928" cy="52489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279" y="1183406"/>
            <a:ext cx="5594549" cy="5116010"/>
          </a:xfrm>
          <a:prstGeom prst="rect">
            <a:avLst/>
          </a:prstGeom>
        </p:spPr>
      </p:pic>
      <p:sp>
        <p:nvSpPr>
          <p:cNvPr id="5" name="TextBox 4"/>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966481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PCA: Worked Example</a:t>
            </a:r>
          </a:p>
        </p:txBody>
      </p:sp>
      <p:sp>
        <p:nvSpPr>
          <p:cNvPr id="9" name="TextBox 8"/>
          <p:cNvSpPr txBox="1"/>
          <p:nvPr/>
        </p:nvSpPr>
        <p:spPr>
          <a:xfrm>
            <a:off x="235403" y="1099752"/>
            <a:ext cx="5748760" cy="3954929"/>
          </a:xfrm>
          <a:prstGeom prst="rect">
            <a:avLst/>
          </a:prstGeom>
          <a:noFill/>
        </p:spPr>
        <p:txBody>
          <a:bodyPr wrap="square" rtlCol="0">
            <a:spAutoFit/>
          </a:bodyPr>
          <a:lstStyle/>
          <a:p>
            <a:pPr algn="ctr">
              <a:spcAft>
                <a:spcPts val="12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dirty="0">
                <a:solidFill>
                  <a:srgbClr val="0070C0"/>
                </a:solidFill>
              </a:rPr>
              <a:t> + [</a:t>
            </a:r>
            <a:r>
              <a:rPr lang="en-US" sz="2800" i="1" dirty="0">
                <a:solidFill>
                  <a:srgbClr val="0070C0"/>
                </a:solidFill>
              </a:rPr>
              <a:t>RE</a:t>
            </a:r>
            <a:r>
              <a:rPr lang="en-US" sz="2800" dirty="0">
                <a:solidFill>
                  <a:srgbClr val="0070C0"/>
                </a:solidFill>
              </a:rPr>
              <a:t>]</a:t>
            </a:r>
            <a:r>
              <a:rPr lang="en-US" sz="2800" baseline="-25000" dirty="0">
                <a:solidFill>
                  <a:srgbClr val="0070C0"/>
                </a:solidFill>
              </a:rPr>
              <a:t> </a:t>
            </a:r>
            <a:r>
              <a:rPr lang="en-US" sz="2800" i="1" baseline="-25000" dirty="0">
                <a:solidFill>
                  <a:srgbClr val="0070C0"/>
                </a:solidFill>
              </a:rPr>
              <a:t>s</a:t>
            </a:r>
            <a:r>
              <a:rPr lang="en-US" sz="2800" baseline="-25000" dirty="0">
                <a:solidFill>
                  <a:srgbClr val="0070C0"/>
                </a:solidFill>
              </a:rPr>
              <a:t> × </a:t>
            </a:r>
            <a:r>
              <a:rPr lang="en-US" sz="2800" i="1" baseline="-25000" dirty="0">
                <a:solidFill>
                  <a:srgbClr val="0070C0"/>
                </a:solidFill>
              </a:rPr>
              <a:t>w</a:t>
            </a:r>
          </a:p>
          <a:p>
            <a:pPr>
              <a:spcAft>
                <a:spcPts val="1200"/>
              </a:spcAft>
            </a:pPr>
            <a:r>
              <a:rPr lang="en-US" sz="1600" i="1" dirty="0">
                <a:solidFill>
                  <a:srgbClr val="0070C0"/>
                </a:solidFill>
              </a:rPr>
              <a:t>Subset of data consisting of 24 of the 80 samples: stock Cu, stock Co, stock Cr, five Cu/Co binary mixtures, five Cu/Cr binary mixtures, five Co/Cr binary mixtures, six Cu/Co/Cr ternary mixtures.</a:t>
            </a:r>
          </a:p>
          <a:p>
            <a:pPr marL="287338" indent="-287338">
              <a:spcAft>
                <a:spcPts val="600"/>
              </a:spcAft>
              <a:buFont typeface="+mj-lt"/>
              <a:buAutoNum type="arabicPeriod"/>
            </a:pPr>
            <a:r>
              <a:rPr lang="en-US" sz="2000" dirty="0"/>
              <a:t>choose a subset of the original 635 wavelengths</a:t>
            </a:r>
          </a:p>
          <a:p>
            <a:pPr marL="287338" indent="-287338">
              <a:spcAft>
                <a:spcPts val="600"/>
              </a:spcAft>
              <a:buFont typeface="+mj-lt"/>
              <a:buAutoNum type="arabicPeriod"/>
            </a:pPr>
            <a:r>
              <a:rPr lang="en-US" sz="2000" dirty="0"/>
              <a:t>perform PCA and determine relative importance of the 16 principal components</a:t>
            </a:r>
          </a:p>
          <a:p>
            <a:pPr marL="287338" indent="-287338">
              <a:spcAft>
                <a:spcPts val="600"/>
              </a:spcAft>
              <a:buFont typeface="+mj-lt"/>
              <a:buAutoNum type="arabicPeriod"/>
            </a:pPr>
            <a:r>
              <a:rPr lang="en-US" sz="2000" dirty="0"/>
              <a:t>examine and interpret scores for first two principal components</a:t>
            </a:r>
          </a:p>
          <a:p>
            <a:pPr marL="287338" indent="-287338">
              <a:spcAft>
                <a:spcPts val="600"/>
              </a:spcAft>
              <a:buFont typeface="+mj-lt"/>
              <a:buAutoNum type="arabicPeriod"/>
            </a:pPr>
            <a:r>
              <a:rPr lang="en-US" sz="2000" dirty="0"/>
              <a:t>examine and interpret </a:t>
            </a:r>
            <a:r>
              <a:rPr lang="en-US" sz="2000" dirty="0" err="1"/>
              <a:t>biplot</a:t>
            </a:r>
            <a:r>
              <a:rPr lang="en-US" sz="2000" dirty="0"/>
              <a:t> of loadings and scores for the first two principal components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7577" y="1053451"/>
            <a:ext cx="5779623" cy="5252578"/>
          </a:xfrm>
          <a:prstGeom prst="rect">
            <a:avLst/>
          </a:prstGeom>
        </p:spPr>
      </p:pic>
      <p:sp>
        <p:nvSpPr>
          <p:cNvPr id="10" name="Rectangle 9"/>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 </a:t>
            </a:r>
            <a:r>
              <a:rPr lang="en-US" dirty="0" err="1">
                <a:solidFill>
                  <a:srgbClr val="FF0000"/>
                </a:solidFill>
                <a:latin typeface="Calibri" charset="0"/>
                <a:ea typeface="Calibri" charset="0"/>
                <a:cs typeface="Calibri" charset="0"/>
              </a:rPr>
              <a:t>colorRampPalatte</a:t>
            </a:r>
            <a:r>
              <a:rPr lang="en-US" dirty="0">
                <a:solidFill>
                  <a:srgbClr val="FF0000"/>
                </a:solidFill>
                <a:latin typeface="Calibri" charset="0"/>
                <a:ea typeface="Calibri" charset="0"/>
                <a:cs typeface="Calibri" charset="0"/>
              </a:rPr>
              <a:t>( ), </a:t>
            </a:r>
            <a:r>
              <a:rPr lang="en-US" dirty="0" err="1">
                <a:solidFill>
                  <a:srgbClr val="FF0000"/>
                </a:solidFill>
                <a:latin typeface="Calibri" charset="0"/>
                <a:ea typeface="Calibri" charset="0"/>
                <a:cs typeface="Calibri" charset="0"/>
              </a:rPr>
              <a:t>as.numeric</a:t>
            </a:r>
            <a:r>
              <a:rPr lang="en-US" dirty="0">
                <a:solidFill>
                  <a:srgbClr val="FF0000"/>
                </a:solidFill>
                <a:latin typeface="Calibri" charset="0"/>
                <a:ea typeface="Calibri" charset="0"/>
                <a:cs typeface="Calibri" charset="0"/>
              </a:rPr>
              <a:t>( ), cut( )</a:t>
            </a:r>
            <a:endParaRPr lang="en-US" dirty="0">
              <a:solidFill>
                <a:srgbClr val="FF0000"/>
              </a:solidFill>
            </a:endParaRPr>
          </a:p>
        </p:txBody>
      </p:sp>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701641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PCA: Worked Example</a:t>
            </a:r>
          </a:p>
        </p:txBody>
      </p:sp>
      <p:sp>
        <p:nvSpPr>
          <p:cNvPr id="9" name="TextBox 8"/>
          <p:cNvSpPr txBox="1"/>
          <p:nvPr/>
        </p:nvSpPr>
        <p:spPr>
          <a:xfrm>
            <a:off x="235403" y="1099752"/>
            <a:ext cx="5748760" cy="3954929"/>
          </a:xfrm>
          <a:prstGeom prst="rect">
            <a:avLst/>
          </a:prstGeom>
          <a:noFill/>
        </p:spPr>
        <p:txBody>
          <a:bodyPr wrap="square" rtlCol="0">
            <a:spAutoFit/>
          </a:bodyPr>
          <a:lstStyle/>
          <a:p>
            <a:pPr algn="ctr">
              <a:spcAft>
                <a:spcPts val="12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dirty="0">
                <a:solidFill>
                  <a:srgbClr val="0070C0"/>
                </a:solidFill>
              </a:rPr>
              <a:t> + [</a:t>
            </a:r>
            <a:r>
              <a:rPr lang="en-US" sz="2800" i="1" dirty="0">
                <a:solidFill>
                  <a:srgbClr val="0070C0"/>
                </a:solidFill>
              </a:rPr>
              <a:t>RE</a:t>
            </a:r>
            <a:r>
              <a:rPr lang="en-US" sz="2800" dirty="0">
                <a:solidFill>
                  <a:srgbClr val="0070C0"/>
                </a:solidFill>
              </a:rPr>
              <a:t>]</a:t>
            </a:r>
            <a:r>
              <a:rPr lang="en-US" sz="2800" baseline="-25000" dirty="0">
                <a:solidFill>
                  <a:srgbClr val="0070C0"/>
                </a:solidFill>
              </a:rPr>
              <a:t> </a:t>
            </a:r>
            <a:r>
              <a:rPr lang="en-US" sz="2800" i="1" baseline="-25000" dirty="0">
                <a:solidFill>
                  <a:srgbClr val="0070C0"/>
                </a:solidFill>
              </a:rPr>
              <a:t>s</a:t>
            </a:r>
            <a:r>
              <a:rPr lang="en-US" sz="2800" baseline="-25000" dirty="0">
                <a:solidFill>
                  <a:srgbClr val="0070C0"/>
                </a:solidFill>
              </a:rPr>
              <a:t> × </a:t>
            </a:r>
            <a:r>
              <a:rPr lang="en-US" sz="2800" i="1" baseline="-25000" dirty="0">
                <a:solidFill>
                  <a:srgbClr val="0070C0"/>
                </a:solidFill>
              </a:rPr>
              <a:t>w</a:t>
            </a:r>
          </a:p>
          <a:p>
            <a:pPr>
              <a:spcAft>
                <a:spcPts val="1200"/>
              </a:spcAft>
            </a:pPr>
            <a:r>
              <a:rPr lang="en-US" sz="1600" i="1" dirty="0">
                <a:solidFill>
                  <a:srgbClr val="0070C0"/>
                </a:solidFill>
              </a:rPr>
              <a:t>Subset of data consisting of 24 of the 80 samples: stock Cu, stock Co, stock Cr, five Cu/Co binary mixtures, five Cu/Cr binary mixtures, five Co/Cr binary mixtures, six Cu/Co/Cr ternary mixtures.</a:t>
            </a:r>
          </a:p>
          <a:p>
            <a:pPr marL="287338" indent="-287338">
              <a:spcAft>
                <a:spcPts val="600"/>
              </a:spcAft>
              <a:buFont typeface="+mj-lt"/>
              <a:buAutoNum type="arabicPeriod"/>
            </a:pPr>
            <a:r>
              <a:rPr lang="en-US" sz="2000" dirty="0"/>
              <a:t>choose a subset of the original 635 wavelengths</a:t>
            </a:r>
          </a:p>
          <a:p>
            <a:pPr marL="287338" indent="-287338">
              <a:spcAft>
                <a:spcPts val="600"/>
              </a:spcAft>
              <a:buFont typeface="+mj-lt"/>
              <a:buAutoNum type="arabicPeriod"/>
            </a:pPr>
            <a:r>
              <a:rPr lang="en-US" sz="2000" dirty="0"/>
              <a:t>perform PCA and determine relative importance of the 16 principal components</a:t>
            </a:r>
          </a:p>
          <a:p>
            <a:pPr marL="287338" indent="-287338">
              <a:spcAft>
                <a:spcPts val="600"/>
              </a:spcAft>
              <a:buFont typeface="+mj-lt"/>
              <a:buAutoNum type="arabicPeriod"/>
            </a:pPr>
            <a:r>
              <a:rPr lang="en-US" sz="2000" dirty="0"/>
              <a:t>examine and interpret scores for first two principal components</a:t>
            </a:r>
          </a:p>
          <a:p>
            <a:pPr marL="287338" indent="-287338">
              <a:spcAft>
                <a:spcPts val="600"/>
              </a:spcAft>
              <a:buFont typeface="+mj-lt"/>
              <a:buAutoNum type="arabicPeriod"/>
            </a:pPr>
            <a:r>
              <a:rPr lang="en-US" sz="2000" dirty="0"/>
              <a:t>examine and interpret </a:t>
            </a:r>
            <a:r>
              <a:rPr lang="en-US" sz="2000" dirty="0" err="1"/>
              <a:t>biplot</a:t>
            </a:r>
            <a:r>
              <a:rPr lang="en-US" sz="2000" dirty="0"/>
              <a:t> of loadings and scores for the first two principal components</a:t>
            </a:r>
          </a:p>
        </p:txBody>
      </p:sp>
      <p:sp>
        <p:nvSpPr>
          <p:cNvPr id="10" name="Rectangle 9"/>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par( ), plot( ), scatterplot3d::scatterplot3d</a:t>
            </a:r>
            <a:endParaRPr lang="en-US" dirty="0">
              <a:solidFill>
                <a:srgbClr val="FF0000"/>
              </a:solidFill>
            </a:endParaRPr>
          </a:p>
        </p:txBody>
      </p:sp>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3826" y="1099752"/>
            <a:ext cx="5952301" cy="5092704"/>
          </a:xfrm>
          <a:prstGeom prst="rect">
            <a:avLst/>
          </a:prstGeom>
        </p:spPr>
      </p:pic>
    </p:spTree>
    <p:extLst>
      <p:ext uri="{BB962C8B-B14F-4D97-AF65-F5344CB8AC3E}">
        <p14:creationId xmlns:p14="http://schemas.microsoft.com/office/powerpoint/2010/main" val="585190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How Does Cluster Analysis Work?</a:t>
            </a:r>
          </a:p>
        </p:txBody>
      </p:sp>
      <p:sp>
        <p:nvSpPr>
          <p:cNvPr id="10" name="Rectangle 9"/>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 </a:t>
            </a:r>
            <a:endParaRPr lang="en-US" dirty="0">
              <a:solidFill>
                <a:srgbClr val="FF0000"/>
              </a:solidFill>
            </a:endParaRPr>
          </a:p>
        </p:txBody>
      </p:sp>
      <p:sp>
        <p:nvSpPr>
          <p:cNvPr id="8" name="TextBox 7"/>
          <p:cNvSpPr txBox="1"/>
          <p:nvPr/>
        </p:nvSpPr>
        <p:spPr>
          <a:xfrm>
            <a:off x="251801" y="1203924"/>
            <a:ext cx="5715965" cy="1015663"/>
          </a:xfrm>
          <a:prstGeom prst="rect">
            <a:avLst/>
          </a:prstGeom>
          <a:noFill/>
        </p:spPr>
        <p:txBody>
          <a:bodyPr wrap="square" rtlCol="0">
            <a:spAutoFit/>
          </a:bodyPr>
          <a:lstStyle/>
          <a:p>
            <a:pPr>
              <a:spcAft>
                <a:spcPts val="2400"/>
              </a:spcAft>
            </a:pPr>
            <a:r>
              <a:rPr lang="en-US" sz="2000" dirty="0"/>
              <a:t>Suppose we have six samples and that we measure two properties—a and b—for each sample and create a scatterplot of the data. </a:t>
            </a:r>
            <a:endParaRPr lang="en-US" sz="2000" dirty="0">
              <a:solidFill>
                <a:srgbClr val="00B0F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8375" y="1041877"/>
            <a:ext cx="5845597" cy="5252044"/>
          </a:xfrm>
          <a:prstGeom prst="rect">
            <a:avLst/>
          </a:prstGeom>
        </p:spPr>
      </p:pic>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68267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How Does Cluster Analysis Work?</a:t>
            </a:r>
          </a:p>
        </p:txBody>
      </p:sp>
      <p:sp>
        <p:nvSpPr>
          <p:cNvPr id="10" name="Rectangle 9"/>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 segments( ), points( ) </a:t>
            </a:r>
            <a:endParaRPr lang="en-US" dirty="0">
              <a:solidFill>
                <a:srgbClr val="FF0000"/>
              </a:solidFill>
            </a:endParaRPr>
          </a:p>
        </p:txBody>
      </p:sp>
      <p:sp>
        <p:nvSpPr>
          <p:cNvPr id="8" name="TextBox 7"/>
          <p:cNvSpPr txBox="1"/>
          <p:nvPr/>
        </p:nvSpPr>
        <p:spPr>
          <a:xfrm>
            <a:off x="251801" y="1203924"/>
            <a:ext cx="5715965" cy="1323439"/>
          </a:xfrm>
          <a:prstGeom prst="rect">
            <a:avLst/>
          </a:prstGeom>
          <a:noFill/>
        </p:spPr>
        <p:txBody>
          <a:bodyPr wrap="square" rtlCol="0">
            <a:spAutoFit/>
          </a:bodyPr>
          <a:lstStyle/>
          <a:p>
            <a:pPr>
              <a:spcAft>
                <a:spcPts val="2400"/>
              </a:spcAft>
            </a:pPr>
            <a:r>
              <a:rPr lang="en-US" sz="2000"/>
              <a:t>Find the two points that are closest to each other; this is the first cluster. </a:t>
            </a:r>
            <a:r>
              <a:rPr lang="en-US" sz="2000" dirty="0"/>
              <a:t>Find the midpoint between the two points and define it as the position of the first cluster.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4648" y="1049899"/>
            <a:ext cx="5658024" cy="5244022"/>
          </a:xfrm>
          <a:prstGeom prst="rect">
            <a:avLst/>
          </a:prstGeom>
        </p:spPr>
      </p:pic>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780544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How Does Cluster Analysis Work?</a:t>
            </a:r>
          </a:p>
        </p:txBody>
      </p:sp>
      <p:sp>
        <p:nvSpPr>
          <p:cNvPr id="10" name="Rectangle 9"/>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 segments( ), points( ) </a:t>
            </a:r>
            <a:endParaRPr lang="en-US" dirty="0">
              <a:solidFill>
                <a:srgbClr val="FF0000"/>
              </a:solidFill>
            </a:endParaRPr>
          </a:p>
        </p:txBody>
      </p:sp>
      <p:sp>
        <p:nvSpPr>
          <p:cNvPr id="8" name="TextBox 7"/>
          <p:cNvSpPr txBox="1"/>
          <p:nvPr/>
        </p:nvSpPr>
        <p:spPr>
          <a:xfrm>
            <a:off x="251801" y="1203924"/>
            <a:ext cx="5715965" cy="1323439"/>
          </a:xfrm>
          <a:prstGeom prst="rect">
            <a:avLst/>
          </a:prstGeom>
          <a:noFill/>
        </p:spPr>
        <p:txBody>
          <a:bodyPr wrap="square" rtlCol="0">
            <a:spAutoFit/>
          </a:bodyPr>
          <a:lstStyle/>
          <a:p>
            <a:pPr>
              <a:spcAft>
                <a:spcPts val="2400"/>
              </a:spcAft>
            </a:pPr>
            <a:r>
              <a:rPr lang="en-US" sz="2000" dirty="0"/>
              <a:t>Find the next two points that are closest to each other; this is the second cluster. Find the midpoint between the two points and define it as the position of the second cluster.</a:t>
            </a:r>
            <a:endParaRPr lang="en-US" sz="2000" dirty="0">
              <a:solidFill>
                <a:srgbClr val="00B0F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6666" y="1053452"/>
            <a:ext cx="5631312" cy="5139004"/>
          </a:xfrm>
          <a:prstGeom prst="rect">
            <a:avLst/>
          </a:prstGeom>
        </p:spPr>
      </p:pic>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913629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How Does Cluster Analysis Work?</a:t>
            </a:r>
          </a:p>
        </p:txBody>
      </p:sp>
      <p:sp>
        <p:nvSpPr>
          <p:cNvPr id="10" name="Rectangle 9"/>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 segments( ), points( ) </a:t>
            </a:r>
            <a:endParaRPr lang="en-US" dirty="0">
              <a:solidFill>
                <a:srgbClr val="FF0000"/>
              </a:solidFill>
            </a:endParaRPr>
          </a:p>
        </p:txBody>
      </p:sp>
      <p:sp>
        <p:nvSpPr>
          <p:cNvPr id="8" name="TextBox 7"/>
          <p:cNvSpPr txBox="1"/>
          <p:nvPr/>
        </p:nvSpPr>
        <p:spPr>
          <a:xfrm>
            <a:off x="251801" y="1203924"/>
            <a:ext cx="5715965" cy="707886"/>
          </a:xfrm>
          <a:prstGeom prst="rect">
            <a:avLst/>
          </a:prstGeom>
          <a:noFill/>
        </p:spPr>
        <p:txBody>
          <a:bodyPr wrap="square" rtlCol="0">
            <a:spAutoFit/>
          </a:bodyPr>
          <a:lstStyle/>
          <a:p>
            <a:pPr>
              <a:spcAft>
                <a:spcPts val="2400"/>
              </a:spcAft>
            </a:pPr>
            <a:r>
              <a:rPr lang="en-US" sz="2000" dirty="0"/>
              <a:t>Continue until all of the original data points are included in a cluster.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6766" y="1062687"/>
            <a:ext cx="5780027" cy="5231234"/>
          </a:xfrm>
          <a:prstGeom prst="rect">
            <a:avLst/>
          </a:prstGeom>
        </p:spPr>
      </p:pic>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7002130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How Does Cluster Analysis Work?</a:t>
            </a:r>
          </a:p>
        </p:txBody>
      </p:sp>
      <p:sp>
        <p:nvSpPr>
          <p:cNvPr id="10" name="Rectangle 9"/>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a:t>
            </a:r>
            <a:r>
              <a:rPr lang="en-US" dirty="0" err="1">
                <a:solidFill>
                  <a:srgbClr val="FF0000"/>
                </a:solidFill>
                <a:latin typeface="Calibri" charset="0"/>
                <a:ea typeface="Calibri" charset="0"/>
                <a:cs typeface="Calibri" charset="0"/>
              </a:rPr>
              <a:t>dist</a:t>
            </a:r>
            <a:r>
              <a:rPr lang="en-US" dirty="0">
                <a:solidFill>
                  <a:srgbClr val="FF0000"/>
                </a:solidFill>
                <a:latin typeface="Calibri" charset="0"/>
                <a:ea typeface="Calibri" charset="0"/>
                <a:cs typeface="Calibri" charset="0"/>
              </a:rPr>
              <a:t>( ), hclust( ), plot( )</a:t>
            </a:r>
            <a:endParaRPr lang="en-US" dirty="0">
              <a:solidFill>
                <a:srgbClr val="FF0000"/>
              </a:solidFill>
            </a:endParaRPr>
          </a:p>
        </p:txBody>
      </p:sp>
      <p:sp>
        <p:nvSpPr>
          <p:cNvPr id="8" name="TextBox 7"/>
          <p:cNvSpPr txBox="1"/>
          <p:nvPr/>
        </p:nvSpPr>
        <p:spPr>
          <a:xfrm>
            <a:off x="251801" y="1203924"/>
            <a:ext cx="5715965" cy="1015663"/>
          </a:xfrm>
          <a:prstGeom prst="rect">
            <a:avLst/>
          </a:prstGeom>
          <a:noFill/>
        </p:spPr>
        <p:txBody>
          <a:bodyPr wrap="square" rtlCol="0">
            <a:spAutoFit/>
          </a:bodyPr>
          <a:lstStyle/>
          <a:p>
            <a:pPr>
              <a:spcAft>
                <a:spcPts val="2400"/>
              </a:spcAft>
            </a:pPr>
            <a:r>
              <a:rPr lang="en-US" sz="2000" dirty="0"/>
              <a:t>Plot a dendrogram, which shows the connectivity between points and clusters of points in terms of the distance (heights) separating them.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6897" y="1052550"/>
            <a:ext cx="5619832" cy="5244608"/>
          </a:xfrm>
          <a:prstGeom prst="rect">
            <a:avLst/>
          </a:prstGeom>
        </p:spPr>
      </p:pic>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0292936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Cluster Analysis: Worked Example</a:t>
            </a:r>
          </a:p>
        </p:txBody>
      </p:sp>
      <p:sp>
        <p:nvSpPr>
          <p:cNvPr id="10" name="Rectangle 9"/>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a:t>
            </a:r>
            <a:r>
              <a:rPr lang="en-US" dirty="0" err="1">
                <a:solidFill>
                  <a:srgbClr val="FF0000"/>
                </a:solidFill>
                <a:latin typeface="Calibri" charset="0"/>
                <a:ea typeface="Calibri" charset="0"/>
                <a:cs typeface="Calibri" charset="0"/>
              </a:rPr>
              <a:t>dist</a:t>
            </a:r>
            <a:r>
              <a:rPr lang="en-US" dirty="0">
                <a:solidFill>
                  <a:srgbClr val="FF0000"/>
                </a:solidFill>
                <a:latin typeface="Calibri" charset="0"/>
                <a:ea typeface="Calibri" charset="0"/>
                <a:cs typeface="Calibri" charset="0"/>
              </a:rPr>
              <a:t>( )</a:t>
            </a:r>
            <a:endParaRPr lang="en-US" dirty="0">
              <a:solidFill>
                <a:srgbClr val="FF0000"/>
              </a:solidFill>
            </a:endParaRPr>
          </a:p>
        </p:txBody>
      </p:sp>
      <p:sp>
        <p:nvSpPr>
          <p:cNvPr id="8" name="TextBox 7"/>
          <p:cNvSpPr txBox="1"/>
          <p:nvPr/>
        </p:nvSpPr>
        <p:spPr>
          <a:xfrm>
            <a:off x="251801" y="1203924"/>
            <a:ext cx="5715965" cy="1600438"/>
          </a:xfrm>
          <a:prstGeom prst="rect">
            <a:avLst/>
          </a:prstGeom>
          <a:noFill/>
        </p:spPr>
        <p:txBody>
          <a:bodyPr wrap="square" rtlCol="0">
            <a:spAutoFit/>
          </a:bodyPr>
          <a:lstStyle/>
          <a:p>
            <a:pPr>
              <a:spcAft>
                <a:spcPts val="1200"/>
              </a:spcAft>
            </a:pPr>
            <a:r>
              <a:rPr lang="en-US" sz="1600" i="1" dirty="0">
                <a:solidFill>
                  <a:srgbClr val="0070C0"/>
                </a:solidFill>
              </a:rPr>
              <a:t>Subset of data consisting of 24 of the 80 samples: stock Cu, stock Co, stock Cr, five Cu/Co binary mixtures, five Cu/Cr binary mixtures, five Co/Cr binary mixtures, six Cu/Co/Cr ternary mixtures.</a:t>
            </a:r>
            <a:endParaRPr lang="en-US" sz="1600" dirty="0"/>
          </a:p>
          <a:p>
            <a:pPr marL="287338" indent="-287338">
              <a:spcAft>
                <a:spcPts val="2400"/>
              </a:spcAft>
              <a:buFont typeface="+mj-lt"/>
              <a:buAutoNum type="arabicPeriod"/>
            </a:pPr>
            <a:r>
              <a:rPr lang="en-US" sz="2000" b="1" dirty="0">
                <a:solidFill>
                  <a:srgbClr val="FF0000"/>
                </a:solidFill>
              </a:rPr>
              <a:t>calculate the distance between the individual data points using one of the available methods</a:t>
            </a:r>
          </a:p>
        </p:txBody>
      </p:sp>
      <p:sp>
        <p:nvSpPr>
          <p:cNvPr id="4" name="Rectangle 3"/>
          <p:cNvSpPr/>
          <p:nvPr/>
        </p:nvSpPr>
        <p:spPr>
          <a:xfrm>
            <a:off x="2066850" y="3886033"/>
            <a:ext cx="8584557" cy="1754326"/>
          </a:xfrm>
          <a:prstGeom prst="rect">
            <a:avLst/>
          </a:prstGeom>
        </p:spPr>
        <p:txBody>
          <a:bodyPr wrap="square">
            <a:spAutoFit/>
          </a:bodyPr>
          <a:lstStyle/>
          <a:p>
            <a:r>
              <a:rPr lang="en-US" dirty="0">
                <a:solidFill>
                  <a:srgbClr val="7030A0"/>
                </a:solidFill>
              </a:rPr>
              <a:t>                         1                      2                       3                        4                     5          </a:t>
            </a:r>
          </a:p>
          <a:p>
            <a:r>
              <a:rPr lang="en-US" dirty="0">
                <a:solidFill>
                  <a:srgbClr val="7030A0"/>
                </a:solidFill>
              </a:rPr>
              <a:t>2    1.53328104                                                                             </a:t>
            </a:r>
          </a:p>
          <a:p>
            <a:r>
              <a:rPr lang="en-US" dirty="0">
                <a:solidFill>
                  <a:srgbClr val="7030A0"/>
                </a:solidFill>
              </a:rPr>
              <a:t>3    1.73128979    0.96493008                                                                  </a:t>
            </a:r>
          </a:p>
          <a:p>
            <a:r>
              <a:rPr lang="en-US" dirty="0">
                <a:solidFill>
                  <a:srgbClr val="7030A0"/>
                </a:solidFill>
              </a:rPr>
              <a:t>4    1.48359716    0.24997370    0.77766228                                                       </a:t>
            </a:r>
          </a:p>
          <a:p>
            <a:r>
              <a:rPr lang="en-US" dirty="0">
                <a:solidFill>
                  <a:srgbClr val="7030A0"/>
                </a:solidFill>
              </a:rPr>
              <a:t>5    1.49208058    0.32863786    0.68852029    0.09664215                                            </a:t>
            </a:r>
          </a:p>
          <a:p>
            <a:r>
              <a:rPr lang="en-US" dirty="0">
                <a:solidFill>
                  <a:srgbClr val="7030A0"/>
                </a:solidFill>
              </a:rPr>
              <a:t>6    1.49457333    0.42903074    0.57495499    0.21089686    0.11755129</a:t>
            </a:r>
          </a:p>
        </p:txBody>
      </p:sp>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965235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Cluster Analysis: Worked Example</a:t>
            </a:r>
          </a:p>
        </p:txBody>
      </p:sp>
      <p:sp>
        <p:nvSpPr>
          <p:cNvPr id="10" name="Rectangle 9"/>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hclust( ), plot( )</a:t>
            </a:r>
            <a:endParaRPr lang="en-US" dirty="0">
              <a:solidFill>
                <a:srgbClr val="FF0000"/>
              </a:solidFill>
            </a:endParaRPr>
          </a:p>
        </p:txBody>
      </p:sp>
      <p:sp>
        <p:nvSpPr>
          <p:cNvPr id="8" name="TextBox 7"/>
          <p:cNvSpPr txBox="1"/>
          <p:nvPr/>
        </p:nvSpPr>
        <p:spPr>
          <a:xfrm>
            <a:off x="251801" y="1203924"/>
            <a:ext cx="5715965" cy="2677656"/>
          </a:xfrm>
          <a:prstGeom prst="rect">
            <a:avLst/>
          </a:prstGeom>
          <a:noFill/>
        </p:spPr>
        <p:txBody>
          <a:bodyPr wrap="square" rtlCol="0">
            <a:spAutoFit/>
          </a:bodyPr>
          <a:lstStyle/>
          <a:p>
            <a:pPr>
              <a:spcAft>
                <a:spcPts val="1200"/>
              </a:spcAft>
            </a:pPr>
            <a:r>
              <a:rPr lang="en-US" sz="1600" i="1" dirty="0">
                <a:solidFill>
                  <a:srgbClr val="0070C0"/>
                </a:solidFill>
              </a:rPr>
              <a:t>Subset of data consisting of 24 of the 80 samples: stock Cu, stock Co, stock Cr, five Cu/Co binary mixtures, five Cu/Cr binary mixtures, five Co/Cr binary mixtures, six Cu/Co/Cr ternary mixtures.</a:t>
            </a:r>
            <a:endParaRPr lang="en-US" sz="1600" dirty="0"/>
          </a:p>
          <a:p>
            <a:pPr marL="287338" indent="-287338">
              <a:spcAft>
                <a:spcPts val="1200"/>
              </a:spcAft>
              <a:buFont typeface="+mj-lt"/>
              <a:buAutoNum type="arabicPeriod"/>
            </a:pPr>
            <a:r>
              <a:rPr lang="en-US" sz="2000" dirty="0"/>
              <a:t>calculate the distance between the individual data points using one of the available methods</a:t>
            </a:r>
          </a:p>
          <a:p>
            <a:pPr marL="287338" indent="-287338">
              <a:spcAft>
                <a:spcPts val="1200"/>
              </a:spcAft>
              <a:buFont typeface="+mj-lt"/>
              <a:buAutoNum type="arabicPeriod"/>
            </a:pPr>
            <a:r>
              <a:rPr lang="en-US" sz="2000" b="1" dirty="0">
                <a:solidFill>
                  <a:srgbClr val="FF0000"/>
                </a:solidFill>
              </a:rPr>
              <a:t>identify clusters and calculate and plot the heights between them using one of the available methods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291" y="1047784"/>
            <a:ext cx="6086266" cy="5246137"/>
          </a:xfrm>
          <a:prstGeom prst="rect">
            <a:avLst/>
          </a:prstGeom>
        </p:spPr>
      </p:pic>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180383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Cluster Analysis: Worked Example</a:t>
            </a:r>
          </a:p>
        </p:txBody>
      </p:sp>
      <p:sp>
        <p:nvSpPr>
          <p:cNvPr id="10" name="Rectangle 9"/>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plot( ), </a:t>
            </a:r>
            <a:r>
              <a:rPr lang="en-US" dirty="0" err="1">
                <a:solidFill>
                  <a:srgbClr val="FF0000"/>
                </a:solidFill>
                <a:latin typeface="Calibri" charset="0"/>
                <a:ea typeface="Calibri" charset="0"/>
                <a:cs typeface="Calibri" charset="0"/>
              </a:rPr>
              <a:t>rect.hclust</a:t>
            </a:r>
            <a:r>
              <a:rPr lang="en-US" dirty="0">
                <a:solidFill>
                  <a:srgbClr val="FF0000"/>
                </a:solidFill>
                <a:latin typeface="Calibri" charset="0"/>
                <a:ea typeface="Calibri" charset="0"/>
                <a:cs typeface="Calibri" charset="0"/>
              </a:rPr>
              <a:t>( )</a:t>
            </a:r>
            <a:endParaRPr lang="en-US" dirty="0">
              <a:solidFill>
                <a:srgbClr val="FF0000"/>
              </a:solidFill>
            </a:endParaRPr>
          </a:p>
        </p:txBody>
      </p:sp>
      <p:sp>
        <p:nvSpPr>
          <p:cNvPr id="8" name="TextBox 7"/>
          <p:cNvSpPr txBox="1"/>
          <p:nvPr/>
        </p:nvSpPr>
        <p:spPr>
          <a:xfrm>
            <a:off x="251801" y="1203924"/>
            <a:ext cx="5715965" cy="2831544"/>
          </a:xfrm>
          <a:prstGeom prst="rect">
            <a:avLst/>
          </a:prstGeom>
          <a:noFill/>
        </p:spPr>
        <p:txBody>
          <a:bodyPr wrap="square" rtlCol="0">
            <a:spAutoFit/>
          </a:bodyPr>
          <a:lstStyle/>
          <a:p>
            <a:pPr lvl="0">
              <a:spcAft>
                <a:spcPts val="1200"/>
              </a:spcAft>
            </a:pPr>
            <a:r>
              <a:rPr lang="en-US" sz="1600" i="1" dirty="0">
                <a:solidFill>
                  <a:srgbClr val="0070C0"/>
                </a:solidFill>
              </a:rPr>
              <a:t>Subset of data consisting of 24 of the 80 samples: stock Cu, stock Co, stock Cr, five Cu/Co binary mixtures, five Cu/Cr binary mixtures, five Co/Cr binary mixtures, six Cu/Co/Cr ternary mixtures.</a:t>
            </a:r>
            <a:endParaRPr lang="en-US" sz="1600" dirty="0">
              <a:solidFill>
                <a:srgbClr val="000000"/>
              </a:solidFill>
            </a:endParaRPr>
          </a:p>
          <a:p>
            <a:pPr marL="287338" lvl="0" indent="-287338">
              <a:spcAft>
                <a:spcPts val="1200"/>
              </a:spcAft>
              <a:buFont typeface="+mj-lt"/>
              <a:buAutoNum type="arabicPeriod"/>
            </a:pPr>
            <a:r>
              <a:rPr lang="en-US" sz="2000" dirty="0">
                <a:solidFill>
                  <a:srgbClr val="000000"/>
                </a:solidFill>
              </a:rPr>
              <a:t>calculate the distance between the individual data points using one of the available methods</a:t>
            </a:r>
          </a:p>
          <a:p>
            <a:pPr marL="287338" lvl="0" indent="-287338">
              <a:spcAft>
                <a:spcPts val="1200"/>
              </a:spcAft>
              <a:buFont typeface="+mj-lt"/>
              <a:buAutoNum type="arabicPeriod"/>
            </a:pPr>
            <a:r>
              <a:rPr lang="en-US" sz="2000" dirty="0">
                <a:solidFill>
                  <a:srgbClr val="000000"/>
                </a:solidFill>
              </a:rPr>
              <a:t>identify clusters and calculate and plot the heights between them using one of the available methods</a:t>
            </a:r>
          </a:p>
          <a:p>
            <a:pPr marL="287338" indent="-287338">
              <a:spcAft>
                <a:spcPts val="1200"/>
              </a:spcAft>
              <a:buFont typeface="+mj-lt"/>
              <a:buAutoNum type="arabicPeriod"/>
            </a:pPr>
            <a:r>
              <a:rPr lang="en-US" sz="2000" b="1" dirty="0">
                <a:solidFill>
                  <a:srgbClr val="FF0000"/>
                </a:solidFill>
              </a:rPr>
              <a:t>interpret dendrogram</a:t>
            </a:r>
          </a:p>
        </p:txBody>
      </p:sp>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4900" y="1053452"/>
            <a:ext cx="5528578" cy="5240469"/>
          </a:xfrm>
          <a:prstGeom prst="rect">
            <a:avLst/>
          </a:prstGeom>
        </p:spPr>
      </p:pic>
    </p:spTree>
    <p:extLst>
      <p:ext uri="{BB962C8B-B14F-4D97-AF65-F5344CB8AC3E}">
        <p14:creationId xmlns:p14="http://schemas.microsoft.com/office/powerpoint/2010/main" val="8172841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Cluster Analysis: Worked Example</a:t>
            </a:r>
          </a:p>
        </p:txBody>
      </p:sp>
      <p:sp>
        <p:nvSpPr>
          <p:cNvPr id="10" name="Rectangle 9"/>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par( )</a:t>
            </a:r>
            <a:r>
              <a:rPr lang="en-US" dirty="0">
                <a:solidFill>
                  <a:srgbClr val="FF0000"/>
                </a:solidFill>
              </a:rPr>
              <a:t>, </a:t>
            </a:r>
            <a:r>
              <a:rPr lang="en-US" dirty="0">
                <a:solidFill>
                  <a:srgbClr val="FF0000"/>
                </a:solidFill>
                <a:latin typeface="Calibri" charset="0"/>
                <a:ea typeface="Calibri" charset="0"/>
                <a:cs typeface="Calibri" charset="0"/>
              </a:rPr>
              <a:t>plot( ), </a:t>
            </a:r>
            <a:r>
              <a:rPr lang="en-US" dirty="0" err="1">
                <a:solidFill>
                  <a:srgbClr val="FF0000"/>
                </a:solidFill>
                <a:latin typeface="Calibri" charset="0"/>
                <a:ea typeface="Calibri" charset="0"/>
                <a:cs typeface="Calibri" charset="0"/>
              </a:rPr>
              <a:t>rect.hclust</a:t>
            </a:r>
            <a:r>
              <a:rPr lang="en-US" dirty="0">
                <a:solidFill>
                  <a:srgbClr val="FF0000"/>
                </a:solidFill>
                <a:latin typeface="Calibri" charset="0"/>
                <a:ea typeface="Calibri" charset="0"/>
                <a:cs typeface="Calibri" charset="0"/>
              </a:rPr>
              <a:t>( ), t( )</a:t>
            </a:r>
            <a:endParaRPr lang="en-US" dirty="0">
              <a:solidFill>
                <a:srgbClr val="FF0000"/>
              </a:solidFill>
            </a:endParaRPr>
          </a:p>
        </p:txBody>
      </p:sp>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
        <p:nvSpPr>
          <p:cNvPr id="7" name="TextBox 6"/>
          <p:cNvSpPr txBox="1"/>
          <p:nvPr/>
        </p:nvSpPr>
        <p:spPr>
          <a:xfrm>
            <a:off x="251801" y="1203924"/>
            <a:ext cx="5715965" cy="2831544"/>
          </a:xfrm>
          <a:prstGeom prst="rect">
            <a:avLst/>
          </a:prstGeom>
          <a:noFill/>
        </p:spPr>
        <p:txBody>
          <a:bodyPr wrap="square" rtlCol="0">
            <a:spAutoFit/>
          </a:bodyPr>
          <a:lstStyle/>
          <a:p>
            <a:pPr lvl="0">
              <a:spcAft>
                <a:spcPts val="1200"/>
              </a:spcAft>
            </a:pPr>
            <a:r>
              <a:rPr lang="en-US" sz="1600" i="1" dirty="0">
                <a:solidFill>
                  <a:srgbClr val="0070C0"/>
                </a:solidFill>
              </a:rPr>
              <a:t>Subset of data consisting of 24 of the 80 samples: stock Cu, stock Co, stock Cr, five Cu/Co binary mixtures, five Cu/Cr binary mixtures, five Co/Cr binary mixtures, six Cu/Co/Cr ternary mixtures.</a:t>
            </a:r>
            <a:endParaRPr lang="en-US" sz="1600" dirty="0">
              <a:solidFill>
                <a:srgbClr val="000000"/>
              </a:solidFill>
            </a:endParaRPr>
          </a:p>
          <a:p>
            <a:pPr marL="287338" lvl="0" indent="-287338">
              <a:spcAft>
                <a:spcPts val="1200"/>
              </a:spcAft>
              <a:buFont typeface="+mj-lt"/>
              <a:buAutoNum type="arabicPeriod"/>
            </a:pPr>
            <a:r>
              <a:rPr lang="en-US" sz="2000" dirty="0">
                <a:solidFill>
                  <a:srgbClr val="000000"/>
                </a:solidFill>
              </a:rPr>
              <a:t>calculate the distance between the individual data points using one of the available methods</a:t>
            </a:r>
          </a:p>
          <a:p>
            <a:pPr marL="287338" lvl="0" indent="-287338">
              <a:spcAft>
                <a:spcPts val="1200"/>
              </a:spcAft>
              <a:buFont typeface="+mj-lt"/>
              <a:buAutoNum type="arabicPeriod"/>
            </a:pPr>
            <a:r>
              <a:rPr lang="en-US" sz="2000" dirty="0">
                <a:solidFill>
                  <a:srgbClr val="000000"/>
                </a:solidFill>
              </a:rPr>
              <a:t>identify clusters and calculate and plot the heights between them using one of the available methods</a:t>
            </a:r>
          </a:p>
          <a:p>
            <a:pPr marL="287338" indent="-287338">
              <a:spcAft>
                <a:spcPts val="1200"/>
              </a:spcAft>
              <a:buFont typeface="+mj-lt"/>
              <a:buAutoNum type="arabicPeriod"/>
            </a:pPr>
            <a:r>
              <a:rPr lang="en-US" sz="2000" dirty="0"/>
              <a:t>interpret dendrogram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3252" y="1053452"/>
            <a:ext cx="5642393" cy="5240469"/>
          </a:xfrm>
          <a:prstGeom prst="rect">
            <a:avLst/>
          </a:prstGeom>
        </p:spPr>
      </p:pic>
    </p:spTree>
    <p:extLst>
      <p:ext uri="{BB962C8B-B14F-4D97-AF65-F5344CB8AC3E}">
        <p14:creationId xmlns:p14="http://schemas.microsoft.com/office/powerpoint/2010/main" val="521592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How Does MLR Work?</a:t>
            </a:r>
          </a:p>
        </p:txBody>
      </p:sp>
      <p:sp>
        <p:nvSpPr>
          <p:cNvPr id="8" name="TextBox 7"/>
          <p:cNvSpPr txBox="1"/>
          <p:nvPr/>
        </p:nvSpPr>
        <p:spPr>
          <a:xfrm>
            <a:off x="306729" y="1261798"/>
            <a:ext cx="11578541" cy="3816429"/>
          </a:xfrm>
          <a:prstGeom prst="rect">
            <a:avLst/>
          </a:prstGeom>
          <a:noFill/>
        </p:spPr>
        <p:txBody>
          <a:bodyPr wrap="square" rtlCol="0">
            <a:spAutoFit/>
          </a:bodyPr>
          <a:lstStyle/>
          <a:p>
            <a:pPr algn="ctr">
              <a:spcAft>
                <a:spcPts val="24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p>
          <a:p>
            <a:pPr>
              <a:spcAft>
                <a:spcPts val="1200"/>
              </a:spcAft>
            </a:pPr>
            <a:r>
              <a:rPr lang="en-US" sz="2000" dirty="0"/>
              <a:t>Suppose we measure the absorbance at </a:t>
            </a:r>
            <a:r>
              <a:rPr lang="en-US" sz="2000" b="1" i="1" dirty="0"/>
              <a:t>W</a:t>
            </a:r>
            <a:r>
              <a:rPr lang="en-US" sz="2000" b="1" dirty="0"/>
              <a:t> </a:t>
            </a:r>
            <a:r>
              <a:rPr lang="en-US" sz="2000" dirty="0"/>
              <a:t>wavelengths for </a:t>
            </a:r>
            <a:r>
              <a:rPr lang="en-US" sz="2000" b="1" i="1" dirty="0"/>
              <a:t>S</a:t>
            </a:r>
            <a:r>
              <a:rPr lang="en-US" sz="2000" dirty="0"/>
              <a:t> individual standard solutions with known concentrations for each of the </a:t>
            </a:r>
            <a:r>
              <a:rPr lang="en-US" sz="2000" b="1" i="1" dirty="0"/>
              <a:t>N</a:t>
            </a:r>
            <a:r>
              <a:rPr lang="en-US" sz="2000" i="1" dirty="0"/>
              <a:t> </a:t>
            </a:r>
            <a:r>
              <a:rPr lang="en-US" sz="2000" dirty="0"/>
              <a:t>analytes. We can use these to determine a matrix of </a:t>
            </a:r>
            <a:r>
              <a:rPr lang="en-US" sz="2000" i="1" dirty="0" err="1">
                <a:latin typeface="Symbol" charset="2"/>
                <a:ea typeface="Symbol" charset="2"/>
                <a:cs typeface="Symbol" charset="2"/>
              </a:rPr>
              <a:t>e</a:t>
            </a:r>
            <a:r>
              <a:rPr lang="en-US" sz="2000" i="1" dirty="0" err="1"/>
              <a:t>b</a:t>
            </a:r>
            <a:r>
              <a:rPr lang="en-US" sz="2000" dirty="0"/>
              <a:t> values for each analyte at each wavelength.</a:t>
            </a:r>
          </a:p>
          <a:p>
            <a:pPr lvl="0" algn="ctr">
              <a:spcAft>
                <a:spcPts val="2400"/>
              </a:spcAft>
            </a:pPr>
            <a:r>
              <a:rPr lang="en-US" sz="2800" dirty="0">
                <a:solidFill>
                  <a:srgbClr val="0070C0"/>
                </a:solidFill>
              </a:rPr>
              <a:t>[</a:t>
            </a:r>
            <a:r>
              <a:rPr lang="en-US" sz="2800" i="1" dirty="0">
                <a:solidFill>
                  <a:srgbClr val="0070C0"/>
                </a:solidFill>
              </a:rPr>
              <a:t>C</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s </a:t>
            </a:r>
            <a:r>
              <a:rPr lang="en-US" sz="2800" dirty="0">
                <a:solidFill>
                  <a:srgbClr val="0070C0"/>
                </a:solidFill>
              </a:rPr>
              <a:t>× [</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s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p>
          <a:p>
            <a:pPr lvl="0" algn="ctr">
              <a:spcAft>
                <a:spcPts val="2400"/>
              </a:spcAft>
            </a:pPr>
            <a:r>
              <a:rPr lang="en-US" sz="2800" dirty="0">
                <a:solidFill>
                  <a:srgbClr val="0070C0"/>
                </a:solidFill>
              </a:rPr>
              <a:t>([</a:t>
            </a:r>
            <a:r>
              <a:rPr lang="en-US" sz="2800" i="1" dirty="0">
                <a:solidFill>
                  <a:srgbClr val="0070C0"/>
                </a:solidFill>
              </a:rPr>
              <a:t>C</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s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dirty="0">
                <a:solidFill>
                  <a:srgbClr val="0070C0"/>
                </a:solidFill>
              </a:rPr>
              <a:t>)</a:t>
            </a:r>
            <a:r>
              <a:rPr lang="en-US" sz="2800" baseline="30000" dirty="0">
                <a:solidFill>
                  <a:srgbClr val="0070C0"/>
                </a:solidFill>
              </a:rPr>
              <a:t>–1 </a:t>
            </a:r>
            <a:r>
              <a:rPr lang="en-US" sz="2800" dirty="0">
                <a:solidFill>
                  <a:srgbClr val="0070C0"/>
                </a:solidFill>
              </a:rPr>
              <a:t>×[</a:t>
            </a:r>
            <a:r>
              <a:rPr lang="en-US" sz="2800" i="1" dirty="0">
                <a:solidFill>
                  <a:srgbClr val="0070C0"/>
                </a:solidFill>
              </a:rPr>
              <a:t>C</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c</a:t>
            </a: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n</a:t>
            </a:r>
            <a:r>
              <a:rPr lang="en-US" sz="2800" dirty="0">
                <a:solidFill>
                  <a:srgbClr val="0070C0"/>
                </a:solidFill>
              </a:rPr>
              <a:t> </a:t>
            </a:r>
            <a:r>
              <a:rPr lang="en-US" sz="2800" baseline="-25000">
                <a:solidFill>
                  <a:srgbClr val="0070C0"/>
                </a:solidFill>
              </a:rPr>
              <a:t>× </a:t>
            </a:r>
            <a:r>
              <a:rPr lang="en-US" sz="2800" i="1" baseline="-25000">
                <a:solidFill>
                  <a:srgbClr val="0070C0"/>
                </a:solidFill>
              </a:rPr>
              <a:t>s</a:t>
            </a:r>
            <a:r>
              <a:rPr lang="en-US" sz="2800">
                <a:solidFill>
                  <a:srgbClr val="0070C0"/>
                </a:solidFill>
              </a:rPr>
              <a:t>×[</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dirty="0">
                <a:solidFill>
                  <a:srgbClr val="0070C0"/>
                </a:solidFill>
              </a:rPr>
              <a:t>)</a:t>
            </a:r>
            <a:r>
              <a:rPr lang="en-US" sz="2800" baseline="30000" dirty="0">
                <a:solidFill>
                  <a:srgbClr val="0070C0"/>
                </a:solidFill>
              </a:rPr>
              <a:t>–1 </a:t>
            </a:r>
            <a:r>
              <a:rPr lang="en-US" sz="2800" dirty="0">
                <a:solidFill>
                  <a:srgbClr val="0070C0"/>
                </a:solidFill>
              </a:rPr>
              <a:t>×[</a:t>
            </a:r>
            <a:r>
              <a:rPr lang="en-US" sz="2800" i="1" dirty="0">
                <a:solidFill>
                  <a:srgbClr val="0070C0"/>
                </a:solidFill>
              </a:rPr>
              <a:t>C</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s</a:t>
            </a:r>
            <a:r>
              <a:rPr lang="en-US" sz="2800" dirty="0">
                <a:solidFill>
                  <a:srgbClr val="0070C0"/>
                </a:solidFill>
              </a:rPr>
              <a:t>×[</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dirty="0">
                <a:solidFill>
                  <a:srgbClr val="0070C0"/>
                </a:solidFill>
              </a:rPr>
              <a:t>×[</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p>
          <a:p>
            <a:pPr lvl="0" algn="ctr">
              <a:spcAft>
                <a:spcPts val="2400"/>
              </a:spcAft>
            </a:pPr>
            <a:r>
              <a:rPr lang="en-US" sz="2800" dirty="0">
                <a:solidFill>
                  <a:srgbClr val="0070C0"/>
                </a:solidFill>
              </a:rPr>
              <a:t>([</a:t>
            </a:r>
            <a:r>
              <a:rPr lang="en-US" sz="2800" i="1" dirty="0">
                <a:solidFill>
                  <a:srgbClr val="0070C0"/>
                </a:solidFill>
              </a:rPr>
              <a:t>C</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dirty="0">
                <a:solidFill>
                  <a:srgbClr val="0070C0"/>
                </a:solidFill>
              </a:rPr>
              <a:t>)</a:t>
            </a:r>
            <a:r>
              <a:rPr lang="en-US" sz="2800" baseline="30000" dirty="0">
                <a:solidFill>
                  <a:srgbClr val="0070C0"/>
                </a:solidFill>
              </a:rPr>
              <a:t>–1 </a:t>
            </a:r>
            <a:r>
              <a:rPr lang="en-US" sz="2800" dirty="0">
                <a:solidFill>
                  <a:srgbClr val="0070C0"/>
                </a:solidFill>
              </a:rPr>
              <a:t>×[</a:t>
            </a:r>
            <a:r>
              <a:rPr lang="en-US" sz="2800" i="1" dirty="0">
                <a:solidFill>
                  <a:srgbClr val="0070C0"/>
                </a:solidFill>
              </a:rPr>
              <a:t>C</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p>
        </p:txBody>
      </p:sp>
      <p:sp>
        <p:nvSpPr>
          <p:cNvPr id="4" name="TextBox 3"/>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7151584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How Does MLR Work?</a:t>
            </a:r>
          </a:p>
        </p:txBody>
      </p:sp>
      <p:sp>
        <p:nvSpPr>
          <p:cNvPr id="8" name="TextBox 7"/>
          <p:cNvSpPr txBox="1"/>
          <p:nvPr/>
        </p:nvSpPr>
        <p:spPr>
          <a:xfrm>
            <a:off x="127322" y="1261798"/>
            <a:ext cx="11956647" cy="3508653"/>
          </a:xfrm>
          <a:prstGeom prst="rect">
            <a:avLst/>
          </a:prstGeom>
          <a:noFill/>
        </p:spPr>
        <p:txBody>
          <a:bodyPr wrap="square" rtlCol="0">
            <a:spAutoFit/>
          </a:bodyPr>
          <a:lstStyle/>
          <a:p>
            <a:pPr algn="ctr">
              <a:spcAft>
                <a:spcPts val="24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r>
              <a:rPr lang="en-US" sz="2800"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a:solidFill>
                  <a:srgbClr val="0070C0"/>
                </a:solidFill>
              </a:rPr>
              <a:t>s</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n</a:t>
            </a:r>
            <a:r>
              <a:rPr lang="en-US" sz="2800" baseline="-25000" dirty="0">
                <a:solidFill>
                  <a:srgbClr val="0070C0"/>
                </a:solidFill>
              </a:rPr>
              <a:t> </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a:solidFill>
                  <a:srgbClr val="0070C0"/>
                </a:solidFill>
              </a:rPr>
              <a:t>n</a:t>
            </a:r>
            <a:r>
              <a:rPr lang="en-US" sz="2800" dirty="0">
                <a:solidFill>
                  <a:srgbClr val="0070C0"/>
                </a:solidFill>
              </a:rPr>
              <a:t> </a:t>
            </a:r>
            <a:r>
              <a:rPr lang="en-US" sz="2800" baseline="-25000" dirty="0">
                <a:solidFill>
                  <a:srgbClr val="0070C0"/>
                </a:solidFill>
              </a:rPr>
              <a:t>× </a:t>
            </a:r>
            <a:r>
              <a:rPr lang="en-US" sz="2800" i="1" baseline="-25000" dirty="0">
                <a:solidFill>
                  <a:srgbClr val="0070C0"/>
                </a:solidFill>
              </a:rPr>
              <a:t>w</a:t>
            </a:r>
          </a:p>
          <a:p>
            <a:pPr>
              <a:spcAft>
                <a:spcPts val="1200"/>
              </a:spcAft>
            </a:pPr>
            <a:r>
              <a:rPr lang="en-US" sz="2000" dirty="0"/>
              <a:t>Having found the </a:t>
            </a:r>
            <a:r>
              <a:rPr lang="en-US" sz="2000" i="1" dirty="0" err="1">
                <a:latin typeface="Symbol" charset="2"/>
                <a:ea typeface="Symbol" charset="2"/>
                <a:cs typeface="Symbol" charset="2"/>
              </a:rPr>
              <a:t>e</a:t>
            </a:r>
            <a:r>
              <a:rPr lang="en-US" sz="2000" i="1" dirty="0" err="1"/>
              <a:t>b</a:t>
            </a:r>
            <a:r>
              <a:rPr lang="en-US" sz="2000" dirty="0"/>
              <a:t> matrix, we can use it to calculate the concentrations for each of the </a:t>
            </a:r>
            <a:r>
              <a:rPr lang="en-US" sz="2000" b="1" i="1" dirty="0"/>
              <a:t>N</a:t>
            </a:r>
            <a:r>
              <a:rPr lang="en-US" sz="2000" dirty="0"/>
              <a:t> analytes in </a:t>
            </a:r>
            <a:r>
              <a:rPr lang="en-US" sz="2000" b="1" i="1" dirty="0"/>
              <a:t>S</a:t>
            </a:r>
            <a:r>
              <a:rPr lang="en-US" sz="2000" dirty="0"/>
              <a:t> samples given the absorbance for each sample at each wavelength.</a:t>
            </a:r>
          </a:p>
          <a:p>
            <a:pPr algn="ctr">
              <a:spcAft>
                <a:spcPts val="24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err="1">
                <a:solidFill>
                  <a:srgbClr val="0070C0"/>
                </a:solidFill>
              </a:rPr>
              <a:t>s</a:t>
            </a:r>
            <a:r>
              <a:rPr lang="en-US" sz="2800" baseline="-25000" dirty="0" err="1">
                <a:solidFill>
                  <a:srgbClr val="0070C0"/>
                </a:solidFill>
              </a:rPr>
              <a:t>×</a:t>
            </a:r>
            <a:r>
              <a:rPr lang="en-US" sz="2800" i="1" baseline="-25000" dirty="0" err="1">
                <a:solidFill>
                  <a:srgbClr val="0070C0"/>
                </a:solidFill>
              </a:rPr>
              <a:t>w</a:t>
            </a:r>
            <a:r>
              <a:rPr lang="en-US" sz="2800" dirty="0">
                <a:solidFill>
                  <a:srgbClr val="0070C0"/>
                </a:solidFill>
              </a:rPr>
              <a:t>×[</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w</a:t>
            </a:r>
            <a:r>
              <a:rPr lang="en-US" sz="2800" baseline="-25000" dirty="0" err="1">
                <a:solidFill>
                  <a:srgbClr val="0070C0"/>
                </a:solidFill>
              </a:rPr>
              <a:t>×</a:t>
            </a:r>
            <a:r>
              <a:rPr lang="en-US" sz="2800" i="1" baseline="-25000" dirty="0" err="1">
                <a:solidFill>
                  <a:srgbClr val="0070C0"/>
                </a:solidFill>
              </a:rPr>
              <a:t>n</a:t>
            </a:r>
            <a:r>
              <a:rPr lang="en-US" sz="2800" i="1"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err="1">
                <a:solidFill>
                  <a:srgbClr val="0070C0"/>
                </a:solidFill>
              </a:rPr>
              <a:t>s</a:t>
            </a:r>
            <a:r>
              <a:rPr lang="en-US" sz="2800" baseline="-25000" dirty="0" err="1">
                <a:solidFill>
                  <a:srgbClr val="0070C0"/>
                </a:solidFill>
              </a:rPr>
              <a:t>×</a:t>
            </a:r>
            <a:r>
              <a:rPr lang="en-US" sz="2800" i="1" baseline="-25000" dirty="0" err="1">
                <a:solidFill>
                  <a:srgbClr val="0070C0"/>
                </a:solidFill>
              </a:rPr>
              <a:t>n</a:t>
            </a:r>
            <a:r>
              <a:rPr lang="en-US" sz="2800" dirty="0">
                <a:solidFill>
                  <a:srgbClr val="0070C0"/>
                </a:solidFill>
              </a:rPr>
              <a:t>×[</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err="1">
                <a:solidFill>
                  <a:srgbClr val="0070C0"/>
                </a:solidFill>
              </a:rPr>
              <a:t>n</a:t>
            </a:r>
            <a:r>
              <a:rPr lang="en-US" sz="2800" baseline="-25000" dirty="0" err="1">
                <a:solidFill>
                  <a:srgbClr val="0070C0"/>
                </a:solidFill>
              </a:rPr>
              <a:t>×</a:t>
            </a:r>
            <a:r>
              <a:rPr lang="en-US" sz="2800" i="1" baseline="-25000" dirty="0" err="1">
                <a:solidFill>
                  <a:srgbClr val="0070C0"/>
                </a:solidFill>
              </a:rPr>
              <a:t>w</a:t>
            </a:r>
            <a:r>
              <a:rPr lang="en-US" sz="2800" dirty="0">
                <a:solidFill>
                  <a:srgbClr val="0070C0"/>
                </a:solidFill>
              </a:rPr>
              <a:t>×[</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w</a:t>
            </a:r>
            <a:r>
              <a:rPr lang="en-US" sz="2800" baseline="-25000" dirty="0" err="1">
                <a:solidFill>
                  <a:srgbClr val="0070C0"/>
                </a:solidFill>
              </a:rPr>
              <a:t>×</a:t>
            </a:r>
            <a:r>
              <a:rPr lang="en-US" sz="2800" i="1" baseline="-25000" dirty="0" err="1">
                <a:solidFill>
                  <a:srgbClr val="0070C0"/>
                </a:solidFill>
              </a:rPr>
              <a:t>n</a:t>
            </a:r>
            <a:endParaRPr lang="en-US" sz="2800" i="1" baseline="-25000" dirty="0">
              <a:solidFill>
                <a:srgbClr val="0070C0"/>
              </a:solidFill>
            </a:endParaRPr>
          </a:p>
          <a:p>
            <a:pPr algn="ctr">
              <a:spcAft>
                <a:spcPts val="24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err="1">
                <a:solidFill>
                  <a:srgbClr val="0070C0"/>
                </a:solidFill>
              </a:rPr>
              <a:t>s</a:t>
            </a:r>
            <a:r>
              <a:rPr lang="en-US" sz="2800" baseline="-25000" dirty="0" err="1">
                <a:solidFill>
                  <a:srgbClr val="0070C0"/>
                </a:solidFill>
              </a:rPr>
              <a:t>×</a:t>
            </a:r>
            <a:r>
              <a:rPr lang="en-US" sz="2800" i="1" baseline="-25000" dirty="0" err="1">
                <a:solidFill>
                  <a:srgbClr val="0070C0"/>
                </a:solidFill>
              </a:rPr>
              <a:t>w</a:t>
            </a:r>
            <a:r>
              <a:rPr lang="en-US" sz="2800" dirty="0">
                <a:solidFill>
                  <a:srgbClr val="0070C0"/>
                </a:solidFill>
              </a:rPr>
              <a:t>×[</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w</a:t>
            </a:r>
            <a:r>
              <a:rPr lang="en-US" sz="2800" baseline="-25000" dirty="0" err="1">
                <a:solidFill>
                  <a:srgbClr val="0070C0"/>
                </a:solidFill>
              </a:rPr>
              <a:t>×</a:t>
            </a:r>
            <a:r>
              <a:rPr lang="en-US" sz="2800" i="1" baseline="-25000" dirty="0" err="1">
                <a:solidFill>
                  <a:srgbClr val="0070C0"/>
                </a:solidFill>
              </a:rPr>
              <a:t>n</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err="1">
                <a:solidFill>
                  <a:srgbClr val="0070C0"/>
                </a:solidFill>
              </a:rPr>
              <a:t>n</a:t>
            </a:r>
            <a:r>
              <a:rPr lang="en-US" sz="2800" baseline="-25000" dirty="0" err="1">
                <a:solidFill>
                  <a:srgbClr val="0070C0"/>
                </a:solidFill>
              </a:rPr>
              <a:t>×</a:t>
            </a:r>
            <a:r>
              <a:rPr lang="en-US" sz="2800" i="1" baseline="-25000" dirty="0" err="1">
                <a:solidFill>
                  <a:srgbClr val="0070C0"/>
                </a:solidFill>
              </a:rPr>
              <a:t>w</a:t>
            </a:r>
            <a:r>
              <a:rPr lang="en-US" sz="2800" dirty="0">
                <a:solidFill>
                  <a:srgbClr val="0070C0"/>
                </a:solidFill>
              </a:rPr>
              <a:t>×[</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w</a:t>
            </a:r>
            <a:r>
              <a:rPr lang="en-US" sz="2800" baseline="-25000" dirty="0" err="1">
                <a:solidFill>
                  <a:srgbClr val="0070C0"/>
                </a:solidFill>
              </a:rPr>
              <a:t>×</a:t>
            </a:r>
            <a:r>
              <a:rPr lang="en-US" sz="2800" i="1" baseline="-25000" dirty="0" err="1">
                <a:solidFill>
                  <a:srgbClr val="0070C0"/>
                </a:solidFill>
              </a:rPr>
              <a:t>n</a:t>
            </a:r>
            <a:r>
              <a:rPr lang="en-US" sz="2800" dirty="0">
                <a:solidFill>
                  <a:srgbClr val="0070C0"/>
                </a:solidFill>
              </a:rPr>
              <a:t>)</a:t>
            </a:r>
            <a:r>
              <a:rPr lang="en-US" sz="2800" baseline="30000" dirty="0">
                <a:solidFill>
                  <a:srgbClr val="0070C0"/>
                </a:solidFill>
              </a:rPr>
              <a:t>–1</a:t>
            </a:r>
            <a:r>
              <a:rPr lang="en-US" sz="2800" i="1"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err="1">
                <a:solidFill>
                  <a:srgbClr val="0070C0"/>
                </a:solidFill>
              </a:rPr>
              <a:t>s</a:t>
            </a:r>
            <a:r>
              <a:rPr lang="en-US" sz="2800" baseline="-25000" dirty="0" err="1">
                <a:solidFill>
                  <a:srgbClr val="0070C0"/>
                </a:solidFill>
              </a:rPr>
              <a:t>×</a:t>
            </a:r>
            <a:r>
              <a:rPr lang="en-US" sz="2800" i="1" baseline="-25000" dirty="0" err="1">
                <a:solidFill>
                  <a:srgbClr val="0070C0"/>
                </a:solidFill>
              </a:rPr>
              <a:t>n</a:t>
            </a:r>
            <a:r>
              <a:rPr lang="en-US" sz="2800" dirty="0">
                <a:solidFill>
                  <a:srgbClr val="0070C0"/>
                </a:solidFill>
              </a:rPr>
              <a:t>×[</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err="1">
                <a:solidFill>
                  <a:srgbClr val="0070C0"/>
                </a:solidFill>
              </a:rPr>
              <a:t>n</a:t>
            </a:r>
            <a:r>
              <a:rPr lang="en-US" sz="2800" baseline="-25000" dirty="0" err="1">
                <a:solidFill>
                  <a:srgbClr val="0070C0"/>
                </a:solidFill>
              </a:rPr>
              <a:t>×</a:t>
            </a:r>
            <a:r>
              <a:rPr lang="en-US" sz="2800" i="1" baseline="-25000" dirty="0" err="1">
                <a:solidFill>
                  <a:srgbClr val="0070C0"/>
                </a:solidFill>
              </a:rPr>
              <a:t>w</a:t>
            </a:r>
            <a:r>
              <a:rPr lang="en-US" sz="2800" dirty="0">
                <a:solidFill>
                  <a:srgbClr val="0070C0"/>
                </a:solidFill>
              </a:rPr>
              <a:t>×[</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w</a:t>
            </a:r>
            <a:r>
              <a:rPr lang="en-US" sz="2800" baseline="-25000" dirty="0" err="1">
                <a:solidFill>
                  <a:srgbClr val="0070C0"/>
                </a:solidFill>
              </a:rPr>
              <a:t>×</a:t>
            </a:r>
            <a:r>
              <a:rPr lang="en-US" sz="2800" i="1" baseline="-25000" dirty="0" err="1">
                <a:solidFill>
                  <a:srgbClr val="0070C0"/>
                </a:solidFill>
              </a:rPr>
              <a:t>n</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err="1">
                <a:solidFill>
                  <a:srgbClr val="0070C0"/>
                </a:solidFill>
              </a:rPr>
              <a:t>n</a:t>
            </a:r>
            <a:r>
              <a:rPr lang="en-US" sz="2800" baseline="-25000" dirty="0" err="1">
                <a:solidFill>
                  <a:srgbClr val="0070C0"/>
                </a:solidFill>
              </a:rPr>
              <a:t>×</a:t>
            </a:r>
            <a:r>
              <a:rPr lang="en-US" sz="2800" i="1" baseline="-25000" dirty="0" err="1">
                <a:solidFill>
                  <a:srgbClr val="0070C0"/>
                </a:solidFill>
              </a:rPr>
              <a:t>w</a:t>
            </a:r>
            <a:r>
              <a:rPr lang="en-US" sz="2800" dirty="0">
                <a:solidFill>
                  <a:srgbClr val="0070C0"/>
                </a:solidFill>
              </a:rPr>
              <a:t>×[</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w</a:t>
            </a:r>
            <a:r>
              <a:rPr lang="en-US" sz="2800" baseline="-25000" dirty="0" err="1">
                <a:solidFill>
                  <a:srgbClr val="0070C0"/>
                </a:solidFill>
              </a:rPr>
              <a:t>×</a:t>
            </a:r>
            <a:r>
              <a:rPr lang="en-US" sz="2800" i="1" baseline="-25000" dirty="0" err="1">
                <a:solidFill>
                  <a:srgbClr val="0070C0"/>
                </a:solidFill>
              </a:rPr>
              <a:t>n</a:t>
            </a:r>
            <a:r>
              <a:rPr lang="en-US" sz="2800" dirty="0">
                <a:solidFill>
                  <a:srgbClr val="0070C0"/>
                </a:solidFill>
              </a:rPr>
              <a:t>)</a:t>
            </a:r>
            <a:r>
              <a:rPr lang="en-US" sz="2800" baseline="30000" dirty="0">
                <a:solidFill>
                  <a:srgbClr val="0070C0"/>
                </a:solidFill>
              </a:rPr>
              <a:t>–1</a:t>
            </a:r>
            <a:endParaRPr lang="en-US" sz="2800" i="1" baseline="-25000" dirty="0">
              <a:solidFill>
                <a:srgbClr val="0070C0"/>
              </a:solidFill>
            </a:endParaRPr>
          </a:p>
          <a:p>
            <a:pPr algn="ctr">
              <a:spcAft>
                <a:spcPts val="2400"/>
              </a:spcAft>
            </a:pPr>
            <a:r>
              <a:rPr lang="en-US" sz="2800" dirty="0">
                <a:solidFill>
                  <a:srgbClr val="0070C0"/>
                </a:solidFill>
              </a:rPr>
              <a:t>[</a:t>
            </a:r>
            <a:r>
              <a:rPr lang="en-US" sz="2800" i="1" dirty="0">
                <a:solidFill>
                  <a:srgbClr val="0070C0"/>
                </a:solidFill>
              </a:rPr>
              <a:t>A</a:t>
            </a:r>
            <a:r>
              <a:rPr lang="en-US" sz="2800" dirty="0">
                <a:solidFill>
                  <a:srgbClr val="0070C0"/>
                </a:solidFill>
              </a:rPr>
              <a:t>]</a:t>
            </a:r>
            <a:r>
              <a:rPr lang="en-US" sz="2800" i="1" baseline="-25000" dirty="0" err="1">
                <a:solidFill>
                  <a:srgbClr val="0070C0"/>
                </a:solidFill>
              </a:rPr>
              <a:t>s</a:t>
            </a:r>
            <a:r>
              <a:rPr lang="en-US" sz="2800" baseline="-25000" dirty="0" err="1">
                <a:solidFill>
                  <a:srgbClr val="0070C0"/>
                </a:solidFill>
              </a:rPr>
              <a:t>×</a:t>
            </a:r>
            <a:r>
              <a:rPr lang="en-US" sz="2800" i="1" baseline="-25000" dirty="0" err="1">
                <a:solidFill>
                  <a:srgbClr val="0070C0"/>
                </a:solidFill>
              </a:rPr>
              <a:t>w</a:t>
            </a:r>
            <a:r>
              <a:rPr lang="en-US" sz="2800" dirty="0">
                <a:solidFill>
                  <a:srgbClr val="0070C0"/>
                </a:solidFill>
              </a:rPr>
              <a:t>×[</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w</a:t>
            </a:r>
            <a:r>
              <a:rPr lang="en-US" sz="2800" baseline="-25000" dirty="0" err="1">
                <a:solidFill>
                  <a:srgbClr val="0070C0"/>
                </a:solidFill>
              </a:rPr>
              <a:t>×</a:t>
            </a:r>
            <a:r>
              <a:rPr lang="en-US" sz="2800" i="1" baseline="-25000" dirty="0" err="1">
                <a:solidFill>
                  <a:srgbClr val="0070C0"/>
                </a:solidFill>
              </a:rPr>
              <a:t>n</a:t>
            </a:r>
            <a:r>
              <a:rPr lang="en-US" sz="2800" dirty="0">
                <a:solidFill>
                  <a:srgbClr val="0070C0"/>
                </a:solidFill>
              </a:rPr>
              <a:t>× ([</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i="1" baseline="-25000" dirty="0" err="1">
                <a:solidFill>
                  <a:srgbClr val="0070C0"/>
                </a:solidFill>
              </a:rPr>
              <a:t>n</a:t>
            </a:r>
            <a:r>
              <a:rPr lang="en-US" sz="2800" baseline="-25000" dirty="0" err="1">
                <a:solidFill>
                  <a:srgbClr val="0070C0"/>
                </a:solidFill>
              </a:rPr>
              <a:t>×</a:t>
            </a:r>
            <a:r>
              <a:rPr lang="en-US" sz="2800" i="1" baseline="-25000" dirty="0" err="1">
                <a:solidFill>
                  <a:srgbClr val="0070C0"/>
                </a:solidFill>
              </a:rPr>
              <a:t>w</a:t>
            </a:r>
            <a:r>
              <a:rPr lang="en-US" sz="2800" dirty="0">
                <a:solidFill>
                  <a:srgbClr val="0070C0"/>
                </a:solidFill>
              </a:rPr>
              <a:t>×[</a:t>
            </a:r>
            <a:r>
              <a:rPr lang="en-US" sz="2800" i="1" dirty="0" err="1">
                <a:solidFill>
                  <a:srgbClr val="0070C0"/>
                </a:solidFill>
                <a:latin typeface="Symbol" charset="2"/>
                <a:ea typeface="Symbol" charset="2"/>
                <a:cs typeface="Symbol" charset="2"/>
              </a:rPr>
              <a:t>e</a:t>
            </a:r>
            <a:r>
              <a:rPr lang="en-US" sz="2800" i="1" dirty="0" err="1">
                <a:solidFill>
                  <a:srgbClr val="0070C0"/>
                </a:solidFill>
              </a:rPr>
              <a:t>b</a:t>
            </a:r>
            <a:r>
              <a:rPr lang="en-US" sz="2800" dirty="0">
                <a:solidFill>
                  <a:srgbClr val="0070C0"/>
                </a:solidFill>
              </a:rPr>
              <a:t>]</a:t>
            </a:r>
            <a:r>
              <a:rPr lang="en-US" sz="2800" baseline="30000" dirty="0" err="1">
                <a:solidFill>
                  <a:srgbClr val="0070C0"/>
                </a:solidFill>
              </a:rPr>
              <a:t>T</a:t>
            </a:r>
            <a:r>
              <a:rPr lang="en-US" sz="2800" i="1" baseline="-25000" dirty="0" err="1">
                <a:solidFill>
                  <a:srgbClr val="0070C0"/>
                </a:solidFill>
              </a:rPr>
              <a:t>w</a:t>
            </a:r>
            <a:r>
              <a:rPr lang="en-US" sz="2800" baseline="-25000" dirty="0" err="1">
                <a:solidFill>
                  <a:srgbClr val="0070C0"/>
                </a:solidFill>
              </a:rPr>
              <a:t>×</a:t>
            </a:r>
            <a:r>
              <a:rPr lang="en-US" sz="2800" i="1" baseline="-25000" dirty="0" err="1">
                <a:solidFill>
                  <a:srgbClr val="0070C0"/>
                </a:solidFill>
              </a:rPr>
              <a:t>n</a:t>
            </a:r>
            <a:r>
              <a:rPr lang="en-US" sz="2800" dirty="0">
                <a:solidFill>
                  <a:srgbClr val="0070C0"/>
                </a:solidFill>
              </a:rPr>
              <a:t>)</a:t>
            </a:r>
            <a:r>
              <a:rPr lang="en-US" sz="2800" baseline="30000" dirty="0">
                <a:solidFill>
                  <a:srgbClr val="0070C0"/>
                </a:solidFill>
              </a:rPr>
              <a:t>–1</a:t>
            </a:r>
            <a:r>
              <a:rPr lang="en-US" sz="2800" i="1" baseline="-25000" dirty="0">
                <a:solidFill>
                  <a:srgbClr val="0070C0"/>
                </a:solidFill>
              </a:rPr>
              <a:t> </a:t>
            </a:r>
            <a:r>
              <a:rPr lang="en-US" sz="2800" dirty="0">
                <a:solidFill>
                  <a:srgbClr val="0070C0"/>
                </a:solidFill>
              </a:rPr>
              <a:t>= [</a:t>
            </a:r>
            <a:r>
              <a:rPr lang="en-US" sz="2800" i="1" dirty="0">
                <a:solidFill>
                  <a:srgbClr val="0070C0"/>
                </a:solidFill>
              </a:rPr>
              <a:t>C</a:t>
            </a:r>
            <a:r>
              <a:rPr lang="en-US" sz="2800" dirty="0">
                <a:solidFill>
                  <a:srgbClr val="0070C0"/>
                </a:solidFill>
              </a:rPr>
              <a:t>]</a:t>
            </a:r>
            <a:r>
              <a:rPr lang="en-US" sz="2800" i="1" baseline="-25000" dirty="0" err="1">
                <a:solidFill>
                  <a:srgbClr val="0070C0"/>
                </a:solidFill>
              </a:rPr>
              <a:t>s</a:t>
            </a:r>
            <a:r>
              <a:rPr lang="en-US" sz="2800" baseline="-25000" dirty="0" err="1">
                <a:solidFill>
                  <a:srgbClr val="0070C0"/>
                </a:solidFill>
              </a:rPr>
              <a:t>×</a:t>
            </a:r>
            <a:r>
              <a:rPr lang="en-US" sz="2800" i="1" baseline="-25000" dirty="0" err="1">
                <a:solidFill>
                  <a:srgbClr val="0070C0"/>
                </a:solidFill>
              </a:rPr>
              <a:t>n</a:t>
            </a:r>
            <a:endParaRPr lang="en-US" sz="2800" i="1" baseline="-25000" dirty="0">
              <a:solidFill>
                <a:srgbClr val="0070C0"/>
              </a:solidFill>
            </a:endParaRPr>
          </a:p>
        </p:txBody>
      </p:sp>
      <p:sp>
        <p:nvSpPr>
          <p:cNvPr id="4" name="TextBox 3"/>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2323744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MLR: Worked Example</a:t>
            </a:r>
          </a:p>
        </p:txBody>
      </p:sp>
      <p:sp>
        <p:nvSpPr>
          <p:cNvPr id="8" name="TextBox 7"/>
          <p:cNvSpPr txBox="1"/>
          <p:nvPr/>
        </p:nvSpPr>
        <p:spPr>
          <a:xfrm>
            <a:off x="169867" y="1091254"/>
            <a:ext cx="5833640" cy="2092881"/>
          </a:xfrm>
          <a:prstGeom prst="rect">
            <a:avLst/>
          </a:prstGeom>
          <a:noFill/>
        </p:spPr>
        <p:txBody>
          <a:bodyPr wrap="square" rtlCol="0">
            <a:spAutoFit/>
          </a:bodyPr>
          <a:lstStyle/>
          <a:p>
            <a:pPr lvl="0">
              <a:spcAft>
                <a:spcPts val="1200"/>
              </a:spcAft>
            </a:pPr>
            <a:r>
              <a:rPr lang="en-US" sz="1600" i="1" dirty="0">
                <a:solidFill>
                  <a:srgbClr val="0070C0"/>
                </a:solidFill>
              </a:rPr>
              <a:t>Standards are subset of data consisting of 15 of the 80 samples: five each prepared from stock Cu, stock Co, and stock Cr. Samples are subset of data consisting of 21 of the 80 samples: five Cu/Co binary mixtures, five Cu/Cr binary mixtures, five Co/Cr binary mixtures, six Cu/Co/Cr ternary mixtures.</a:t>
            </a:r>
            <a:endParaRPr lang="en-US" sz="2800" i="1" baseline="-25000" dirty="0">
              <a:solidFill>
                <a:srgbClr val="0070C0"/>
              </a:solidFill>
            </a:endParaRPr>
          </a:p>
          <a:p>
            <a:pPr marL="457200" indent="-457200">
              <a:spcAft>
                <a:spcPts val="600"/>
              </a:spcAft>
              <a:buFont typeface="+mj-lt"/>
              <a:buAutoNum type="arabicPeriod"/>
            </a:pPr>
            <a:r>
              <a:rPr lang="en-US" sz="2000" b="1" dirty="0">
                <a:solidFill>
                  <a:srgbClr val="FF0000"/>
                </a:solidFill>
              </a:rPr>
              <a:t>use absorbance values for a set of standards to calculate the </a:t>
            </a:r>
            <a:r>
              <a:rPr lang="en-US" sz="2000" b="1" i="1" dirty="0" err="1">
                <a:solidFill>
                  <a:srgbClr val="FF0000"/>
                </a:solidFill>
                <a:latin typeface="Symbol" charset="2"/>
                <a:ea typeface="Symbol" charset="2"/>
                <a:cs typeface="Symbol" charset="2"/>
              </a:rPr>
              <a:t>e</a:t>
            </a:r>
            <a:r>
              <a:rPr lang="en-US" sz="2000" b="1" i="1" dirty="0" err="1">
                <a:solidFill>
                  <a:srgbClr val="FF0000"/>
                </a:solidFill>
              </a:rPr>
              <a:t>b</a:t>
            </a:r>
            <a:r>
              <a:rPr lang="en-US" sz="2000" b="1" dirty="0">
                <a:solidFill>
                  <a:srgbClr val="FF0000"/>
                </a:solidFill>
              </a:rPr>
              <a:t> values</a:t>
            </a:r>
          </a:p>
        </p:txBody>
      </p:sp>
      <p:sp>
        <p:nvSpPr>
          <p:cNvPr id="4" name="Rectangle 3"/>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a:t>
            </a:r>
            <a:r>
              <a:rPr lang="en-US" dirty="0" err="1">
                <a:solidFill>
                  <a:srgbClr val="FF0000"/>
                </a:solidFill>
                <a:latin typeface="Calibri" charset="0"/>
                <a:ea typeface="Calibri" charset="0"/>
                <a:cs typeface="Calibri" charset="0"/>
              </a:rPr>
              <a:t>findeb</a:t>
            </a:r>
            <a:r>
              <a:rPr lang="en-US" dirty="0">
                <a:solidFill>
                  <a:srgbClr val="FF0000"/>
                </a:solidFill>
                <a:latin typeface="Calibri" charset="0"/>
                <a:ea typeface="Calibri" charset="0"/>
                <a:cs typeface="Calibri" charset="0"/>
              </a:rPr>
              <a:t>( )</a:t>
            </a:r>
            <a:r>
              <a:rPr lang="en-US" baseline="30000" dirty="0">
                <a:solidFill>
                  <a:srgbClr val="FF0000"/>
                </a:solidFill>
                <a:latin typeface="Calibri" charset="0"/>
                <a:ea typeface="Calibri" charset="0"/>
                <a:cs typeface="Calibri" charset="0"/>
              </a:rPr>
              <a:t>*</a:t>
            </a:r>
            <a:endParaRPr lang="en-US" dirty="0">
              <a:solidFill>
                <a:srgbClr val="FF0000"/>
              </a:solidFill>
            </a:endParaRPr>
          </a:p>
        </p:txBody>
      </p:sp>
      <p:sp>
        <p:nvSpPr>
          <p:cNvPr id="3" name="Rectangle 2"/>
          <p:cNvSpPr/>
          <p:nvPr/>
        </p:nvSpPr>
        <p:spPr>
          <a:xfrm>
            <a:off x="1097279" y="4058805"/>
            <a:ext cx="10232022" cy="1200329"/>
          </a:xfrm>
          <a:prstGeom prst="rect">
            <a:avLst/>
          </a:prstGeom>
        </p:spPr>
        <p:txBody>
          <a:bodyPr wrap="square">
            <a:spAutoFit/>
          </a:bodyPr>
          <a:lstStyle/>
          <a:p>
            <a:r>
              <a:rPr lang="en-US" dirty="0">
                <a:solidFill>
                  <a:srgbClr val="7030A0"/>
                </a:solidFill>
              </a:rPr>
              <a:t>                        380.5            414.9            449.3            483.7            517.9           550.6             583.2             613.3</a:t>
            </a:r>
          </a:p>
          <a:p>
            <a:r>
              <a:rPr lang="en-US" dirty="0" err="1">
                <a:solidFill>
                  <a:srgbClr val="7030A0"/>
                </a:solidFill>
              </a:rPr>
              <a:t>concCu</a:t>
            </a:r>
            <a:r>
              <a:rPr lang="en-US" dirty="0">
                <a:solidFill>
                  <a:srgbClr val="7030A0"/>
                </a:solidFill>
              </a:rPr>
              <a:t>  0.5484511    0.1086153   0.1340763   0.1556545   0.1947192   0.3612272    0.6875421    1.3197158</a:t>
            </a:r>
          </a:p>
          <a:p>
            <a:r>
              <a:rPr lang="en-US" dirty="0" err="1">
                <a:solidFill>
                  <a:srgbClr val="7030A0"/>
                </a:solidFill>
              </a:rPr>
              <a:t>concCo</a:t>
            </a:r>
            <a:r>
              <a:rPr lang="en-US" dirty="0">
                <a:solidFill>
                  <a:srgbClr val="7030A0"/>
                </a:solidFill>
              </a:rPr>
              <a:t>  0.7117778    0.7918523   2.5371205   4.0549583   4.5779242   2.0489508    0.5975168    0.3914665</a:t>
            </a:r>
          </a:p>
          <a:p>
            <a:r>
              <a:rPr lang="en-US" dirty="0" err="1">
                <a:solidFill>
                  <a:srgbClr val="7030A0"/>
                </a:solidFill>
              </a:rPr>
              <a:t>concCr</a:t>
            </a:r>
            <a:r>
              <a:rPr lang="en-US" dirty="0">
                <a:solidFill>
                  <a:srgbClr val="7030A0"/>
                </a:solidFill>
              </a:rPr>
              <a:t>  13.2668054  15.1576056  6.9958232   4.0685312   6.7662738   12.0692592  13.6134665  9.8289364</a:t>
            </a:r>
          </a:p>
        </p:txBody>
      </p:sp>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
        <p:nvSpPr>
          <p:cNvPr id="7" name="Rectangle 6"/>
          <p:cNvSpPr/>
          <p:nvPr/>
        </p:nvSpPr>
        <p:spPr>
          <a:xfrm>
            <a:off x="2934286" y="5924589"/>
            <a:ext cx="3161714" cy="369332"/>
          </a:xfrm>
          <a:prstGeom prst="rect">
            <a:avLst/>
          </a:prstGeom>
        </p:spPr>
        <p:txBody>
          <a:bodyPr wrap="square">
            <a:spAutoFit/>
          </a:bodyPr>
          <a:lstStyle/>
          <a:p>
            <a:pPr marL="11113" lvl="1">
              <a:spcAft>
                <a:spcPts val="600"/>
              </a:spcAft>
            </a:pPr>
            <a:r>
              <a:rPr lang="en-US" baseline="30000" dirty="0">
                <a:solidFill>
                  <a:srgbClr val="FF0000"/>
                </a:solidFill>
                <a:latin typeface="Calibri" charset="0"/>
                <a:ea typeface="Calibri" charset="0"/>
                <a:cs typeface="Calibri" charset="0"/>
              </a:rPr>
              <a:t>*</a:t>
            </a:r>
            <a:r>
              <a:rPr lang="en-US" dirty="0">
                <a:solidFill>
                  <a:srgbClr val="FF0000"/>
                </a:solidFill>
                <a:latin typeface="Calibri" charset="0"/>
                <a:ea typeface="Calibri" charset="0"/>
                <a:cs typeface="Calibri" charset="0"/>
              </a:rPr>
              <a:t> script written for </a:t>
            </a:r>
            <a:r>
              <a:rPr lang="en-US">
                <a:solidFill>
                  <a:srgbClr val="FF0000"/>
                </a:solidFill>
                <a:latin typeface="Calibri" charset="0"/>
                <a:ea typeface="Calibri" charset="0"/>
                <a:cs typeface="Calibri" charset="0"/>
              </a:rPr>
              <a:t>this purpose</a:t>
            </a:r>
            <a:endParaRPr lang="en-US" dirty="0">
              <a:solidFill>
                <a:srgbClr val="FF0000"/>
              </a:solidFill>
            </a:endParaRPr>
          </a:p>
        </p:txBody>
      </p:sp>
    </p:spTree>
    <p:extLst>
      <p:ext uri="{BB962C8B-B14F-4D97-AF65-F5344CB8AC3E}">
        <p14:creationId xmlns:p14="http://schemas.microsoft.com/office/powerpoint/2010/main" val="14169850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MLR: Worked Example</a:t>
            </a:r>
          </a:p>
        </p:txBody>
      </p:sp>
      <p:sp>
        <p:nvSpPr>
          <p:cNvPr id="4" name="Rectangle 3"/>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a:t>
            </a:r>
            <a:r>
              <a:rPr lang="en-US" dirty="0" err="1">
                <a:solidFill>
                  <a:srgbClr val="FF0000"/>
                </a:solidFill>
                <a:latin typeface="Calibri" charset="0"/>
                <a:ea typeface="Calibri" charset="0"/>
                <a:cs typeface="Calibri" charset="0"/>
              </a:rPr>
              <a:t>findconc</a:t>
            </a:r>
            <a:r>
              <a:rPr lang="en-US" dirty="0">
                <a:solidFill>
                  <a:srgbClr val="FF0000"/>
                </a:solidFill>
                <a:latin typeface="Calibri" charset="0"/>
                <a:ea typeface="Calibri" charset="0"/>
                <a:cs typeface="Calibri" charset="0"/>
              </a:rPr>
              <a:t>( )</a:t>
            </a:r>
            <a:r>
              <a:rPr lang="en-US" baseline="30000" dirty="0">
                <a:solidFill>
                  <a:srgbClr val="FF0000"/>
                </a:solidFill>
                <a:latin typeface="Calibri" charset="0"/>
                <a:ea typeface="Calibri" charset="0"/>
                <a:cs typeface="Calibri" charset="0"/>
              </a:rPr>
              <a:t>*</a:t>
            </a:r>
            <a:endParaRPr lang="en-US" dirty="0">
              <a:solidFill>
                <a:srgbClr val="FF0000"/>
              </a:solidFill>
            </a:endParaRPr>
          </a:p>
        </p:txBody>
      </p:sp>
      <p:sp>
        <p:nvSpPr>
          <p:cNvPr id="6" name="TextBox 5"/>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
        <p:nvSpPr>
          <p:cNvPr id="7" name="TextBox 6"/>
          <p:cNvSpPr txBox="1"/>
          <p:nvPr/>
        </p:nvSpPr>
        <p:spPr>
          <a:xfrm>
            <a:off x="169867" y="1091254"/>
            <a:ext cx="5833640" cy="3093154"/>
          </a:xfrm>
          <a:prstGeom prst="rect">
            <a:avLst/>
          </a:prstGeom>
          <a:noFill/>
        </p:spPr>
        <p:txBody>
          <a:bodyPr wrap="square" rtlCol="0">
            <a:spAutoFit/>
          </a:bodyPr>
          <a:lstStyle/>
          <a:p>
            <a:pPr lvl="0">
              <a:spcAft>
                <a:spcPts val="1200"/>
              </a:spcAft>
            </a:pPr>
            <a:r>
              <a:rPr lang="en-US" sz="1600" i="1" dirty="0">
                <a:solidFill>
                  <a:srgbClr val="0070C0"/>
                </a:solidFill>
              </a:rPr>
              <a:t>Standards are subset of data consisting of 15 of the 80 samples: five each prepared from stock Cu, stock Co, and stock Cr. Samples are subset of data consisting of 21 of the 80 samples: five Cu/Co binary mixtures, five Cu/Cr binary mixtures, five Co/Cr binary mixtures, six Cu/Co/Cr ternary mixtures.</a:t>
            </a:r>
            <a:endParaRPr lang="en-US" sz="2800" i="1" baseline="-25000" dirty="0">
              <a:solidFill>
                <a:srgbClr val="0070C0"/>
              </a:solidFill>
            </a:endParaRPr>
          </a:p>
          <a:p>
            <a:pPr marL="457200" indent="-457200">
              <a:spcAft>
                <a:spcPts val="600"/>
              </a:spcAft>
              <a:buFont typeface="+mj-lt"/>
              <a:buAutoNum type="arabicPeriod"/>
            </a:pPr>
            <a:r>
              <a:rPr lang="en-US" sz="2000" dirty="0"/>
              <a:t>use absorbance values for a set of standards to calculate the </a:t>
            </a:r>
            <a:r>
              <a:rPr lang="en-US" sz="2000" i="1" dirty="0" err="1">
                <a:latin typeface="Symbol" charset="2"/>
                <a:ea typeface="Symbol" charset="2"/>
                <a:cs typeface="Symbol" charset="2"/>
              </a:rPr>
              <a:t>e</a:t>
            </a:r>
            <a:r>
              <a:rPr lang="en-US" sz="2000" i="1" dirty="0" err="1"/>
              <a:t>b</a:t>
            </a:r>
            <a:r>
              <a:rPr lang="en-US" sz="2000" dirty="0"/>
              <a:t> values</a:t>
            </a:r>
          </a:p>
          <a:p>
            <a:pPr marL="457200" indent="-457200">
              <a:spcAft>
                <a:spcPts val="600"/>
              </a:spcAft>
              <a:buFont typeface="+mj-lt"/>
              <a:buAutoNum type="arabicPeriod"/>
            </a:pPr>
            <a:r>
              <a:rPr lang="en-US" sz="2000" b="1" dirty="0">
                <a:solidFill>
                  <a:srgbClr val="FF0000"/>
                </a:solidFill>
              </a:rPr>
              <a:t>use absorbance values for the samples and the calculated </a:t>
            </a:r>
            <a:r>
              <a:rPr lang="en-US" sz="2000" b="1" i="1" dirty="0" err="1">
                <a:solidFill>
                  <a:srgbClr val="FF0000"/>
                </a:solidFill>
                <a:latin typeface="Symbol" charset="2"/>
                <a:ea typeface="Symbol" charset="2"/>
                <a:cs typeface="Symbol" charset="2"/>
              </a:rPr>
              <a:t>e</a:t>
            </a:r>
            <a:r>
              <a:rPr lang="en-US" sz="2000" b="1" i="1" dirty="0" err="1">
                <a:solidFill>
                  <a:srgbClr val="FF0000"/>
                </a:solidFill>
              </a:rPr>
              <a:t>b</a:t>
            </a:r>
            <a:r>
              <a:rPr lang="en-US" sz="2000" b="1" dirty="0">
                <a:solidFill>
                  <a:srgbClr val="FF0000"/>
                </a:solidFill>
              </a:rPr>
              <a:t> values to give the predicted concentrations of the analytes</a:t>
            </a:r>
          </a:p>
        </p:txBody>
      </p:sp>
      <p:sp>
        <p:nvSpPr>
          <p:cNvPr id="3" name="Rectangle 2"/>
          <p:cNvSpPr/>
          <p:nvPr/>
        </p:nvSpPr>
        <p:spPr>
          <a:xfrm>
            <a:off x="6977865" y="1547750"/>
            <a:ext cx="3670844" cy="2031325"/>
          </a:xfrm>
          <a:prstGeom prst="rect">
            <a:avLst/>
          </a:prstGeom>
        </p:spPr>
        <p:txBody>
          <a:bodyPr wrap="square">
            <a:spAutoFit/>
          </a:bodyPr>
          <a:lstStyle/>
          <a:p>
            <a:r>
              <a:rPr lang="en-US" dirty="0">
                <a:solidFill>
                  <a:srgbClr val="7030A0"/>
                </a:solidFill>
              </a:rPr>
              <a:t>            </a:t>
            </a:r>
            <a:r>
              <a:rPr lang="en-US" dirty="0" err="1">
                <a:solidFill>
                  <a:srgbClr val="7030A0"/>
                </a:solidFill>
              </a:rPr>
              <a:t>concCu</a:t>
            </a:r>
            <a:r>
              <a:rPr lang="en-US" dirty="0">
                <a:solidFill>
                  <a:srgbClr val="7030A0"/>
                </a:solidFill>
              </a:rPr>
              <a:t>       </a:t>
            </a:r>
            <a:r>
              <a:rPr lang="en-US" dirty="0" err="1">
                <a:solidFill>
                  <a:srgbClr val="7030A0"/>
                </a:solidFill>
              </a:rPr>
              <a:t>concCo</a:t>
            </a:r>
            <a:r>
              <a:rPr lang="en-US" dirty="0">
                <a:solidFill>
                  <a:srgbClr val="7030A0"/>
                </a:solidFill>
              </a:rPr>
              <a:t>      </a:t>
            </a:r>
            <a:r>
              <a:rPr lang="en-US" dirty="0" err="1">
                <a:solidFill>
                  <a:srgbClr val="7030A0"/>
                </a:solidFill>
              </a:rPr>
              <a:t>concCr</a:t>
            </a:r>
            <a:r>
              <a:rPr lang="en-US" dirty="0">
                <a:solidFill>
                  <a:srgbClr val="7030A0"/>
                </a:solidFill>
              </a:rPr>
              <a:t> </a:t>
            </a:r>
          </a:p>
          <a:p>
            <a:r>
              <a:rPr lang="en-US" dirty="0">
                <a:solidFill>
                  <a:srgbClr val="7030A0"/>
                </a:solidFill>
              </a:rPr>
              <a:t>[1,]    -0.00024     0.05991    0.00696 </a:t>
            </a:r>
          </a:p>
          <a:p>
            <a:r>
              <a:rPr lang="en-US" dirty="0">
                <a:solidFill>
                  <a:srgbClr val="7030A0"/>
                </a:solidFill>
              </a:rPr>
              <a:t>[2,]    -0.00037     0.04939    0.01050 </a:t>
            </a:r>
          </a:p>
          <a:p>
            <a:r>
              <a:rPr lang="en-US" dirty="0">
                <a:solidFill>
                  <a:srgbClr val="7030A0"/>
                </a:solidFill>
              </a:rPr>
              <a:t>[3,]     0.00036     0.03926    0.01488 </a:t>
            </a:r>
          </a:p>
          <a:p>
            <a:r>
              <a:rPr lang="en-US" dirty="0">
                <a:solidFill>
                  <a:srgbClr val="7030A0"/>
                </a:solidFill>
              </a:rPr>
              <a:t>[4,]     0.00075     0.03088    0.01879 </a:t>
            </a:r>
          </a:p>
          <a:p>
            <a:r>
              <a:rPr lang="en-US" dirty="0">
                <a:solidFill>
                  <a:srgbClr val="7030A0"/>
                </a:solidFill>
              </a:rPr>
              <a:t>[5,]    -0.00031     0.01947    0.02227 </a:t>
            </a:r>
          </a:p>
          <a:p>
            <a:r>
              <a:rPr lang="en-US" dirty="0">
                <a:solidFill>
                  <a:srgbClr val="7030A0"/>
                </a:solidFill>
              </a:rPr>
              <a:t>[6,]     0.01040     0.06076    0.00079</a:t>
            </a:r>
          </a:p>
        </p:txBody>
      </p:sp>
      <p:sp>
        <p:nvSpPr>
          <p:cNvPr id="9" name="TextBox 8"/>
          <p:cNvSpPr txBox="1"/>
          <p:nvPr/>
        </p:nvSpPr>
        <p:spPr>
          <a:xfrm>
            <a:off x="6412376" y="1178418"/>
            <a:ext cx="3612207" cy="369332"/>
          </a:xfrm>
          <a:prstGeom prst="rect">
            <a:avLst/>
          </a:prstGeom>
          <a:noFill/>
        </p:spPr>
        <p:txBody>
          <a:bodyPr wrap="none" rtlCol="0">
            <a:spAutoFit/>
          </a:bodyPr>
          <a:lstStyle/>
          <a:p>
            <a:r>
              <a:rPr lang="en-US" dirty="0"/>
              <a:t>predicted concentrations of analytes</a:t>
            </a:r>
          </a:p>
        </p:txBody>
      </p:sp>
      <p:sp>
        <p:nvSpPr>
          <p:cNvPr id="10" name="Rectangle 9"/>
          <p:cNvSpPr/>
          <p:nvPr/>
        </p:nvSpPr>
        <p:spPr>
          <a:xfrm>
            <a:off x="2934286" y="5924589"/>
            <a:ext cx="3161714" cy="369332"/>
          </a:xfrm>
          <a:prstGeom prst="rect">
            <a:avLst/>
          </a:prstGeom>
        </p:spPr>
        <p:txBody>
          <a:bodyPr wrap="square">
            <a:spAutoFit/>
          </a:bodyPr>
          <a:lstStyle/>
          <a:p>
            <a:pPr marL="11113" lvl="1">
              <a:spcAft>
                <a:spcPts val="600"/>
              </a:spcAft>
            </a:pPr>
            <a:r>
              <a:rPr lang="en-US" baseline="30000" dirty="0">
                <a:solidFill>
                  <a:srgbClr val="FF0000"/>
                </a:solidFill>
                <a:latin typeface="Calibri" charset="0"/>
                <a:ea typeface="Calibri" charset="0"/>
                <a:cs typeface="Calibri" charset="0"/>
              </a:rPr>
              <a:t>*</a:t>
            </a:r>
            <a:r>
              <a:rPr lang="en-US" dirty="0">
                <a:solidFill>
                  <a:srgbClr val="FF0000"/>
                </a:solidFill>
                <a:latin typeface="Calibri" charset="0"/>
                <a:ea typeface="Calibri" charset="0"/>
                <a:cs typeface="Calibri" charset="0"/>
              </a:rPr>
              <a:t> script written for </a:t>
            </a:r>
            <a:r>
              <a:rPr lang="en-US">
                <a:solidFill>
                  <a:srgbClr val="FF0000"/>
                </a:solidFill>
                <a:latin typeface="Calibri" charset="0"/>
                <a:ea typeface="Calibri" charset="0"/>
                <a:cs typeface="Calibri" charset="0"/>
              </a:rPr>
              <a:t>this purpose</a:t>
            </a:r>
            <a:endParaRPr lang="en-US" dirty="0">
              <a:solidFill>
                <a:srgbClr val="FF0000"/>
              </a:solidFill>
            </a:endParaRPr>
          </a:p>
        </p:txBody>
      </p:sp>
    </p:spTree>
    <p:extLst>
      <p:ext uri="{BB962C8B-B14F-4D97-AF65-F5344CB8AC3E}">
        <p14:creationId xmlns:p14="http://schemas.microsoft.com/office/powerpoint/2010/main" val="11084058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MLR: Worked Example</a:t>
            </a:r>
          </a:p>
        </p:txBody>
      </p:sp>
      <p:sp>
        <p:nvSpPr>
          <p:cNvPr id="4" name="Rectangle 3"/>
          <p:cNvSpPr/>
          <p:nvPr/>
        </p:nvSpPr>
        <p:spPr>
          <a:xfrm>
            <a:off x="123567" y="5924589"/>
            <a:ext cx="5972433"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a:t>
            </a:r>
            <a:r>
              <a:rPr lang="en-US" dirty="0" err="1">
                <a:solidFill>
                  <a:srgbClr val="FF0000"/>
                </a:solidFill>
                <a:latin typeface="Calibri" charset="0"/>
                <a:ea typeface="Calibri" charset="0"/>
                <a:cs typeface="Calibri" charset="0"/>
              </a:rPr>
              <a:t>as.matrix</a:t>
            </a:r>
            <a:r>
              <a:rPr lang="en-US" dirty="0">
                <a:solidFill>
                  <a:srgbClr val="FF0000"/>
                </a:solidFill>
                <a:latin typeface="Calibri" charset="0"/>
                <a:ea typeface="Calibri" charset="0"/>
                <a:cs typeface="Calibri" charset="0"/>
              </a:rPr>
              <a:t>( ), data.frame( )</a:t>
            </a:r>
            <a:endParaRPr lang="en-US" dirty="0">
              <a:solidFill>
                <a:srgbClr val="FF0000"/>
              </a:solidFill>
            </a:endParaRPr>
          </a:p>
        </p:txBody>
      </p:sp>
      <p:sp>
        <p:nvSpPr>
          <p:cNvPr id="3" name="Rectangle 2"/>
          <p:cNvSpPr/>
          <p:nvPr/>
        </p:nvSpPr>
        <p:spPr>
          <a:xfrm>
            <a:off x="7074216" y="4006321"/>
            <a:ext cx="3478142" cy="2031325"/>
          </a:xfrm>
          <a:prstGeom prst="rect">
            <a:avLst/>
          </a:prstGeom>
        </p:spPr>
        <p:txBody>
          <a:bodyPr wrap="square">
            <a:spAutoFit/>
          </a:bodyPr>
          <a:lstStyle/>
          <a:p>
            <a:r>
              <a:rPr lang="en-US" dirty="0">
                <a:solidFill>
                  <a:srgbClr val="7030A0"/>
                </a:solidFill>
              </a:rPr>
              <a:t>         </a:t>
            </a:r>
            <a:r>
              <a:rPr lang="en-US" dirty="0" err="1">
                <a:solidFill>
                  <a:srgbClr val="7030A0"/>
                </a:solidFill>
              </a:rPr>
              <a:t>concCu</a:t>
            </a:r>
            <a:r>
              <a:rPr lang="en-US" dirty="0">
                <a:solidFill>
                  <a:srgbClr val="7030A0"/>
                </a:solidFill>
              </a:rPr>
              <a:t>      </a:t>
            </a:r>
            <a:r>
              <a:rPr lang="en-US" dirty="0" err="1">
                <a:solidFill>
                  <a:srgbClr val="7030A0"/>
                </a:solidFill>
              </a:rPr>
              <a:t>concCo</a:t>
            </a:r>
            <a:r>
              <a:rPr lang="en-US" dirty="0">
                <a:solidFill>
                  <a:srgbClr val="7030A0"/>
                </a:solidFill>
              </a:rPr>
              <a:t>      </a:t>
            </a:r>
            <a:r>
              <a:rPr lang="en-US" dirty="0" err="1">
                <a:solidFill>
                  <a:srgbClr val="7030A0"/>
                </a:solidFill>
              </a:rPr>
              <a:t>concCr</a:t>
            </a:r>
            <a:r>
              <a:rPr lang="en-US" dirty="0">
                <a:solidFill>
                  <a:srgbClr val="7030A0"/>
                </a:solidFill>
              </a:rPr>
              <a:t> </a:t>
            </a:r>
          </a:p>
          <a:p>
            <a:r>
              <a:rPr lang="en-US" dirty="0">
                <a:solidFill>
                  <a:srgbClr val="7030A0"/>
                </a:solidFill>
              </a:rPr>
              <a:t>[1,]     0.000            0.06    0.00750 </a:t>
            </a:r>
          </a:p>
          <a:p>
            <a:r>
              <a:rPr lang="en-US" dirty="0">
                <a:solidFill>
                  <a:srgbClr val="7030A0"/>
                </a:solidFill>
              </a:rPr>
              <a:t>[2,]     0.000            0.05    0.01125 </a:t>
            </a:r>
          </a:p>
          <a:p>
            <a:r>
              <a:rPr lang="en-US" dirty="0">
                <a:solidFill>
                  <a:srgbClr val="7030A0"/>
                </a:solidFill>
              </a:rPr>
              <a:t>[3,]     0.000            0.04    0.01500 </a:t>
            </a:r>
          </a:p>
          <a:p>
            <a:r>
              <a:rPr lang="en-US" dirty="0">
                <a:solidFill>
                  <a:srgbClr val="7030A0"/>
                </a:solidFill>
              </a:rPr>
              <a:t>[4,]     0.000            0.03    0.01875 </a:t>
            </a:r>
          </a:p>
          <a:p>
            <a:r>
              <a:rPr lang="en-US" dirty="0">
                <a:solidFill>
                  <a:srgbClr val="7030A0"/>
                </a:solidFill>
              </a:rPr>
              <a:t>[5,]     0.000            0.02    0.02250</a:t>
            </a:r>
          </a:p>
          <a:p>
            <a:r>
              <a:rPr lang="en-US" dirty="0">
                <a:solidFill>
                  <a:srgbClr val="7030A0"/>
                </a:solidFill>
              </a:rPr>
              <a:t>[6,]     0.010            0.06    0.00000 </a:t>
            </a:r>
          </a:p>
        </p:txBody>
      </p:sp>
      <p:sp>
        <p:nvSpPr>
          <p:cNvPr id="7" name="TextBox 6"/>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
        <p:nvSpPr>
          <p:cNvPr id="9" name="TextBox 8"/>
          <p:cNvSpPr txBox="1"/>
          <p:nvPr/>
        </p:nvSpPr>
        <p:spPr>
          <a:xfrm>
            <a:off x="169867" y="1091254"/>
            <a:ext cx="5833640" cy="3477875"/>
          </a:xfrm>
          <a:prstGeom prst="rect">
            <a:avLst/>
          </a:prstGeom>
          <a:noFill/>
        </p:spPr>
        <p:txBody>
          <a:bodyPr wrap="square" rtlCol="0">
            <a:spAutoFit/>
          </a:bodyPr>
          <a:lstStyle/>
          <a:p>
            <a:pPr lvl="0">
              <a:spcAft>
                <a:spcPts val="1200"/>
              </a:spcAft>
            </a:pPr>
            <a:r>
              <a:rPr lang="en-US" sz="1600" i="1" dirty="0">
                <a:solidFill>
                  <a:srgbClr val="0070C0"/>
                </a:solidFill>
              </a:rPr>
              <a:t>Standards are subset of data consisting of 15 of the 80 samples: five each prepared from stock Cu, stock Co, and stock Cr. Samples are subset of data consisting of 21 of the 80 samples: five Cu/Co binary mixtures, five Cu/Cr binary mixtures, five Co/Cr binary mixtures, six Cu/Co/Cr ternary mixtures.</a:t>
            </a:r>
            <a:endParaRPr lang="en-US" sz="2800" i="1" baseline="-25000" dirty="0">
              <a:solidFill>
                <a:srgbClr val="0070C0"/>
              </a:solidFill>
            </a:endParaRPr>
          </a:p>
          <a:p>
            <a:pPr marL="457200" indent="-457200">
              <a:spcAft>
                <a:spcPts val="600"/>
              </a:spcAft>
              <a:buFont typeface="+mj-lt"/>
              <a:buAutoNum type="arabicPeriod"/>
            </a:pPr>
            <a:r>
              <a:rPr lang="en-US" sz="2000" dirty="0"/>
              <a:t>use absorbance values for a set of standards to calculate the </a:t>
            </a:r>
            <a:r>
              <a:rPr lang="en-US" sz="2000" i="1" dirty="0" err="1">
                <a:latin typeface="Symbol" charset="2"/>
                <a:ea typeface="Symbol" charset="2"/>
                <a:cs typeface="Symbol" charset="2"/>
              </a:rPr>
              <a:t>e</a:t>
            </a:r>
            <a:r>
              <a:rPr lang="en-US" sz="2000" i="1" dirty="0" err="1"/>
              <a:t>b</a:t>
            </a:r>
            <a:r>
              <a:rPr lang="en-US" sz="2000" dirty="0"/>
              <a:t> values</a:t>
            </a:r>
          </a:p>
          <a:p>
            <a:pPr marL="457200" indent="-457200">
              <a:spcAft>
                <a:spcPts val="600"/>
              </a:spcAft>
              <a:buFont typeface="+mj-lt"/>
              <a:buAutoNum type="arabicPeriod"/>
            </a:pPr>
            <a:r>
              <a:rPr lang="en-US" sz="2000" dirty="0"/>
              <a:t>use absorbance values for the samples and the calculated </a:t>
            </a:r>
            <a:r>
              <a:rPr lang="en-US" sz="2000" i="1" dirty="0" err="1">
                <a:latin typeface="Symbol" charset="2"/>
                <a:ea typeface="Symbol" charset="2"/>
                <a:cs typeface="Symbol" charset="2"/>
              </a:rPr>
              <a:t>e</a:t>
            </a:r>
            <a:r>
              <a:rPr lang="en-US" sz="2000" i="1" dirty="0" err="1"/>
              <a:t>b</a:t>
            </a:r>
            <a:r>
              <a:rPr lang="en-US" sz="2000" dirty="0"/>
              <a:t> values to give the predicted concentrations of the analytes</a:t>
            </a:r>
          </a:p>
          <a:p>
            <a:pPr marL="457200" indent="-457200">
              <a:spcAft>
                <a:spcPts val="600"/>
              </a:spcAft>
              <a:buFont typeface="+mj-lt"/>
              <a:buAutoNum type="arabicPeriod"/>
            </a:pPr>
            <a:r>
              <a:rPr lang="en-US" sz="2000" b="1" dirty="0">
                <a:solidFill>
                  <a:srgbClr val="FF0000"/>
                </a:solidFill>
              </a:rPr>
              <a:t>compare predicted and actual concentrations</a:t>
            </a:r>
          </a:p>
        </p:txBody>
      </p:sp>
      <p:sp>
        <p:nvSpPr>
          <p:cNvPr id="10" name="Rectangle 9"/>
          <p:cNvSpPr/>
          <p:nvPr/>
        </p:nvSpPr>
        <p:spPr>
          <a:xfrm>
            <a:off x="6977865" y="1547750"/>
            <a:ext cx="3670844" cy="2031325"/>
          </a:xfrm>
          <a:prstGeom prst="rect">
            <a:avLst/>
          </a:prstGeom>
        </p:spPr>
        <p:txBody>
          <a:bodyPr wrap="square">
            <a:spAutoFit/>
          </a:bodyPr>
          <a:lstStyle/>
          <a:p>
            <a:r>
              <a:rPr lang="en-US" dirty="0">
                <a:solidFill>
                  <a:srgbClr val="7030A0"/>
                </a:solidFill>
              </a:rPr>
              <a:t>            </a:t>
            </a:r>
            <a:r>
              <a:rPr lang="en-US" dirty="0" err="1">
                <a:solidFill>
                  <a:srgbClr val="7030A0"/>
                </a:solidFill>
              </a:rPr>
              <a:t>concCu</a:t>
            </a:r>
            <a:r>
              <a:rPr lang="en-US" dirty="0">
                <a:solidFill>
                  <a:srgbClr val="7030A0"/>
                </a:solidFill>
              </a:rPr>
              <a:t>       </a:t>
            </a:r>
            <a:r>
              <a:rPr lang="en-US" dirty="0" err="1">
                <a:solidFill>
                  <a:srgbClr val="7030A0"/>
                </a:solidFill>
              </a:rPr>
              <a:t>concCo</a:t>
            </a:r>
            <a:r>
              <a:rPr lang="en-US" dirty="0">
                <a:solidFill>
                  <a:srgbClr val="7030A0"/>
                </a:solidFill>
              </a:rPr>
              <a:t>      </a:t>
            </a:r>
            <a:r>
              <a:rPr lang="en-US" dirty="0" err="1">
                <a:solidFill>
                  <a:srgbClr val="7030A0"/>
                </a:solidFill>
              </a:rPr>
              <a:t>concCr</a:t>
            </a:r>
            <a:r>
              <a:rPr lang="en-US" dirty="0">
                <a:solidFill>
                  <a:srgbClr val="7030A0"/>
                </a:solidFill>
              </a:rPr>
              <a:t> </a:t>
            </a:r>
          </a:p>
          <a:p>
            <a:r>
              <a:rPr lang="en-US" dirty="0">
                <a:solidFill>
                  <a:srgbClr val="7030A0"/>
                </a:solidFill>
              </a:rPr>
              <a:t>[1,]    -0.00024     0.05991    0.00696 </a:t>
            </a:r>
          </a:p>
          <a:p>
            <a:r>
              <a:rPr lang="en-US" dirty="0">
                <a:solidFill>
                  <a:srgbClr val="7030A0"/>
                </a:solidFill>
              </a:rPr>
              <a:t>[2,]    -0.00037     0.04939    0.01050 </a:t>
            </a:r>
          </a:p>
          <a:p>
            <a:r>
              <a:rPr lang="en-US" dirty="0">
                <a:solidFill>
                  <a:srgbClr val="7030A0"/>
                </a:solidFill>
              </a:rPr>
              <a:t>[3,]     0.00036     0.03926    0.01488 </a:t>
            </a:r>
          </a:p>
          <a:p>
            <a:r>
              <a:rPr lang="en-US" dirty="0">
                <a:solidFill>
                  <a:srgbClr val="7030A0"/>
                </a:solidFill>
              </a:rPr>
              <a:t>[4,]     0.00075     0.03088    0.01879 </a:t>
            </a:r>
          </a:p>
          <a:p>
            <a:r>
              <a:rPr lang="en-US" dirty="0">
                <a:solidFill>
                  <a:srgbClr val="7030A0"/>
                </a:solidFill>
              </a:rPr>
              <a:t>[5,]    -0.00031     0.01947    0.02227 </a:t>
            </a:r>
          </a:p>
          <a:p>
            <a:r>
              <a:rPr lang="en-US" dirty="0">
                <a:solidFill>
                  <a:srgbClr val="7030A0"/>
                </a:solidFill>
              </a:rPr>
              <a:t>[6,]     0.01040     0.06076    0.00079</a:t>
            </a:r>
          </a:p>
        </p:txBody>
      </p:sp>
      <p:sp>
        <p:nvSpPr>
          <p:cNvPr id="11" name="TextBox 10"/>
          <p:cNvSpPr txBox="1"/>
          <p:nvPr/>
        </p:nvSpPr>
        <p:spPr>
          <a:xfrm>
            <a:off x="6412376" y="1178418"/>
            <a:ext cx="3612207" cy="369332"/>
          </a:xfrm>
          <a:prstGeom prst="rect">
            <a:avLst/>
          </a:prstGeom>
          <a:noFill/>
        </p:spPr>
        <p:txBody>
          <a:bodyPr wrap="none" rtlCol="0">
            <a:spAutoFit/>
          </a:bodyPr>
          <a:lstStyle/>
          <a:p>
            <a:r>
              <a:rPr lang="en-US" dirty="0"/>
              <a:t>predicted concentrations of analytes</a:t>
            </a:r>
          </a:p>
        </p:txBody>
      </p:sp>
      <p:sp>
        <p:nvSpPr>
          <p:cNvPr id="14" name="TextBox 13"/>
          <p:cNvSpPr txBox="1"/>
          <p:nvPr/>
        </p:nvSpPr>
        <p:spPr>
          <a:xfrm>
            <a:off x="6412376" y="3635839"/>
            <a:ext cx="3284104" cy="369332"/>
          </a:xfrm>
          <a:prstGeom prst="rect">
            <a:avLst/>
          </a:prstGeom>
          <a:noFill/>
        </p:spPr>
        <p:txBody>
          <a:bodyPr wrap="none" rtlCol="0">
            <a:spAutoFit/>
          </a:bodyPr>
          <a:lstStyle/>
          <a:p>
            <a:r>
              <a:rPr lang="en-US"/>
              <a:t>actual concentrations </a:t>
            </a:r>
            <a:r>
              <a:rPr lang="en-US" dirty="0"/>
              <a:t>of analytes</a:t>
            </a:r>
          </a:p>
        </p:txBody>
      </p:sp>
    </p:spTree>
    <p:extLst>
      <p:ext uri="{BB962C8B-B14F-4D97-AF65-F5344CB8AC3E}">
        <p14:creationId xmlns:p14="http://schemas.microsoft.com/office/powerpoint/2010/main" val="4721372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MLR: Worked Example</a:t>
            </a:r>
          </a:p>
        </p:txBody>
      </p:sp>
      <p:sp>
        <p:nvSpPr>
          <p:cNvPr id="4" name="Rectangle 3"/>
          <p:cNvSpPr/>
          <p:nvPr/>
        </p:nvSpPr>
        <p:spPr>
          <a:xfrm>
            <a:off x="123567" y="5924589"/>
            <a:ext cx="8256504" cy="369332"/>
          </a:xfrm>
          <a:prstGeom prst="rect">
            <a:avLst/>
          </a:prstGeom>
        </p:spPr>
        <p:txBody>
          <a:bodyPr wrap="square">
            <a:spAutoFit/>
          </a:bodyPr>
          <a:lstStyle/>
          <a:p>
            <a:pPr marL="11113" lvl="1">
              <a:spcAft>
                <a:spcPts val="600"/>
              </a:spcAft>
            </a:pPr>
            <a:r>
              <a:rPr lang="en-US" dirty="0">
                <a:solidFill>
                  <a:srgbClr val="FF0000"/>
                </a:solidFill>
                <a:latin typeface="American Typewriter" charset="0"/>
                <a:ea typeface="American Typewriter" charset="0"/>
                <a:cs typeface="American Typewriter" charset="0"/>
              </a:rPr>
              <a:t>R</a:t>
            </a:r>
            <a:r>
              <a:rPr lang="en-US" dirty="0">
                <a:solidFill>
                  <a:srgbClr val="FF0000"/>
                </a:solidFill>
                <a:latin typeface="Calibri" charset="0"/>
                <a:ea typeface="Calibri" charset="0"/>
                <a:cs typeface="Calibri" charset="0"/>
              </a:rPr>
              <a:t> functions: </a:t>
            </a:r>
            <a:r>
              <a:rPr lang="en-US" dirty="0" err="1">
                <a:solidFill>
                  <a:srgbClr val="FF0000"/>
                </a:solidFill>
                <a:latin typeface="Calibri" charset="0"/>
                <a:ea typeface="Calibri" charset="0"/>
                <a:cs typeface="Calibri" charset="0"/>
              </a:rPr>
              <a:t>as.matrix</a:t>
            </a:r>
            <a:r>
              <a:rPr lang="en-US" dirty="0">
                <a:solidFill>
                  <a:srgbClr val="FF0000"/>
                </a:solidFill>
                <a:latin typeface="Calibri" charset="0"/>
                <a:ea typeface="Calibri" charset="0"/>
                <a:cs typeface="Calibri" charset="0"/>
              </a:rPr>
              <a:t>( ), data.frame( ), apply( ), </a:t>
            </a:r>
            <a:r>
              <a:rPr lang="en-US" dirty="0" err="1">
                <a:solidFill>
                  <a:srgbClr val="FF0000"/>
                </a:solidFill>
                <a:latin typeface="Calibri" charset="0"/>
                <a:ea typeface="Calibri" charset="0"/>
                <a:cs typeface="Calibri" charset="0"/>
              </a:rPr>
              <a:t>which.max</a:t>
            </a:r>
            <a:r>
              <a:rPr lang="en-US" dirty="0">
                <a:solidFill>
                  <a:srgbClr val="FF0000"/>
                </a:solidFill>
                <a:latin typeface="Calibri" charset="0"/>
                <a:ea typeface="Calibri" charset="0"/>
                <a:cs typeface="Calibri" charset="0"/>
              </a:rPr>
              <a:t>( ), abs( ), round( )</a:t>
            </a:r>
            <a:endParaRPr lang="en-US" dirty="0">
              <a:solidFill>
                <a:srgbClr val="FF0000"/>
              </a:solidFill>
            </a:endParaRPr>
          </a:p>
        </p:txBody>
      </p:sp>
      <p:sp>
        <p:nvSpPr>
          <p:cNvPr id="6" name="Rectangle 5"/>
          <p:cNvSpPr/>
          <p:nvPr/>
        </p:nvSpPr>
        <p:spPr>
          <a:xfrm>
            <a:off x="6660265" y="1308015"/>
            <a:ext cx="4388735" cy="646331"/>
          </a:xfrm>
          <a:prstGeom prst="rect">
            <a:avLst/>
          </a:prstGeom>
        </p:spPr>
        <p:txBody>
          <a:bodyPr wrap="square">
            <a:spAutoFit/>
          </a:bodyPr>
          <a:lstStyle/>
          <a:p>
            <a:r>
              <a:rPr lang="mr-IN" b="1" dirty="0">
                <a:solidFill>
                  <a:srgbClr val="AB7942"/>
                </a:solidFill>
              </a:rPr>
              <a:t> </a:t>
            </a:r>
            <a:r>
              <a:rPr lang="en-US" b="1" dirty="0">
                <a:solidFill>
                  <a:srgbClr val="AB7942"/>
                </a:solidFill>
              </a:rPr>
              <a:t>   </a:t>
            </a:r>
            <a:r>
              <a:rPr lang="mr-IN" b="1" dirty="0" err="1">
                <a:solidFill>
                  <a:srgbClr val="AB7942"/>
                </a:solidFill>
                <a:latin typeface="Calibri" charset="0"/>
                <a:ea typeface="Calibri" charset="0"/>
                <a:cs typeface="Calibri" charset="0"/>
              </a:rPr>
              <a:t>concCu</a:t>
            </a:r>
            <a:r>
              <a:rPr lang="mr-IN" b="1" dirty="0">
                <a:solidFill>
                  <a:srgbClr val="AB7942"/>
                </a:solidFill>
                <a:latin typeface="Calibri" charset="0"/>
                <a:ea typeface="Calibri" charset="0"/>
                <a:cs typeface="Calibri" charset="0"/>
              </a:rPr>
              <a:t>        </a:t>
            </a:r>
            <a:r>
              <a:rPr lang="en-US" b="1" dirty="0">
                <a:solidFill>
                  <a:srgbClr val="AB7942"/>
                </a:solidFill>
                <a:latin typeface="Calibri" charset="0"/>
                <a:ea typeface="Calibri" charset="0"/>
                <a:cs typeface="Calibri" charset="0"/>
              </a:rPr>
              <a:t>          </a:t>
            </a:r>
            <a:r>
              <a:rPr lang="mr-IN" b="1" dirty="0" err="1">
                <a:solidFill>
                  <a:srgbClr val="AB7942"/>
                </a:solidFill>
                <a:latin typeface="Calibri" charset="0"/>
                <a:ea typeface="Calibri" charset="0"/>
                <a:cs typeface="Calibri" charset="0"/>
              </a:rPr>
              <a:t>concCo</a:t>
            </a:r>
            <a:r>
              <a:rPr lang="mr-IN" b="1" dirty="0">
                <a:solidFill>
                  <a:srgbClr val="AB7942"/>
                </a:solidFill>
                <a:latin typeface="Calibri" charset="0"/>
                <a:ea typeface="Calibri" charset="0"/>
                <a:cs typeface="Calibri" charset="0"/>
              </a:rPr>
              <a:t>        </a:t>
            </a:r>
            <a:r>
              <a:rPr lang="en-US" b="1" dirty="0">
                <a:solidFill>
                  <a:srgbClr val="AB7942"/>
                </a:solidFill>
                <a:latin typeface="Calibri" charset="0"/>
                <a:ea typeface="Calibri" charset="0"/>
                <a:cs typeface="Calibri" charset="0"/>
              </a:rPr>
              <a:t>          </a:t>
            </a:r>
            <a:r>
              <a:rPr lang="mr-IN" b="1" dirty="0" err="1">
                <a:solidFill>
                  <a:srgbClr val="AB7942"/>
                </a:solidFill>
                <a:latin typeface="Calibri" charset="0"/>
                <a:ea typeface="Calibri" charset="0"/>
                <a:cs typeface="Calibri" charset="0"/>
              </a:rPr>
              <a:t>concCr</a:t>
            </a:r>
            <a:r>
              <a:rPr lang="mr-IN" b="1" dirty="0">
                <a:solidFill>
                  <a:srgbClr val="AB7942"/>
                </a:solidFill>
                <a:latin typeface="Calibri" charset="0"/>
                <a:ea typeface="Calibri" charset="0"/>
                <a:cs typeface="Calibri" charset="0"/>
              </a:rPr>
              <a:t> </a:t>
            </a:r>
            <a:endParaRPr lang="en-US" b="1" dirty="0">
              <a:solidFill>
                <a:srgbClr val="AB7942"/>
              </a:solidFill>
              <a:latin typeface="Calibri" charset="0"/>
              <a:ea typeface="Calibri" charset="0"/>
              <a:cs typeface="Calibri" charset="0"/>
            </a:endParaRPr>
          </a:p>
          <a:p>
            <a:r>
              <a:rPr lang="mr-IN" b="1" dirty="0">
                <a:solidFill>
                  <a:srgbClr val="AB7942"/>
                </a:solidFill>
                <a:latin typeface="Calibri" charset="0"/>
                <a:ea typeface="Calibri" charset="0"/>
                <a:cs typeface="Calibri" charset="0"/>
              </a:rPr>
              <a:t>-0.000304 </a:t>
            </a:r>
            <a:r>
              <a:rPr lang="en-US" b="1" dirty="0">
                <a:solidFill>
                  <a:srgbClr val="AB7942"/>
                </a:solidFill>
                <a:latin typeface="Calibri" charset="0"/>
                <a:ea typeface="Calibri" charset="0"/>
                <a:cs typeface="Calibri" charset="0"/>
              </a:rPr>
              <a:t>            </a:t>
            </a:r>
            <a:r>
              <a:rPr lang="mr-IN" b="1" dirty="0">
                <a:solidFill>
                  <a:srgbClr val="AB7942"/>
                </a:solidFill>
                <a:latin typeface="Calibri" charset="0"/>
                <a:ea typeface="Calibri" charset="0"/>
                <a:cs typeface="Calibri" charset="0"/>
              </a:rPr>
              <a:t>-0.000199 </a:t>
            </a:r>
            <a:r>
              <a:rPr lang="en-US" b="1" dirty="0">
                <a:solidFill>
                  <a:srgbClr val="AB7942"/>
                </a:solidFill>
                <a:latin typeface="Calibri" charset="0"/>
                <a:ea typeface="Calibri" charset="0"/>
                <a:cs typeface="Calibri" charset="0"/>
              </a:rPr>
              <a:t>           </a:t>
            </a:r>
            <a:r>
              <a:rPr lang="mr-IN" b="1" dirty="0">
                <a:solidFill>
                  <a:srgbClr val="AB7942"/>
                </a:solidFill>
                <a:latin typeface="Calibri" charset="0"/>
                <a:ea typeface="Calibri" charset="0"/>
                <a:cs typeface="Calibri" charset="0"/>
              </a:rPr>
              <a:t>-0.000315</a:t>
            </a:r>
            <a:endParaRPr lang="en-US" b="1" dirty="0">
              <a:solidFill>
                <a:srgbClr val="AB7942"/>
              </a:solidFill>
              <a:latin typeface="Calibri" charset="0"/>
              <a:ea typeface="Calibri" charset="0"/>
              <a:cs typeface="Calibri" charset="0"/>
            </a:endParaRPr>
          </a:p>
        </p:txBody>
      </p:sp>
      <p:sp>
        <p:nvSpPr>
          <p:cNvPr id="7" name="Rectangle 6"/>
          <p:cNvSpPr/>
          <p:nvPr/>
        </p:nvSpPr>
        <p:spPr>
          <a:xfrm>
            <a:off x="6660265" y="2358059"/>
            <a:ext cx="4388735" cy="646331"/>
          </a:xfrm>
          <a:prstGeom prst="rect">
            <a:avLst/>
          </a:prstGeom>
        </p:spPr>
        <p:txBody>
          <a:bodyPr wrap="square">
            <a:spAutoFit/>
          </a:bodyPr>
          <a:lstStyle/>
          <a:p>
            <a:r>
              <a:rPr lang="en-US" b="1" dirty="0">
                <a:solidFill>
                  <a:srgbClr val="FF9300"/>
                </a:solidFill>
              </a:rPr>
              <a:t>    </a:t>
            </a:r>
            <a:r>
              <a:rPr lang="ro-RO" b="1" dirty="0" err="1">
                <a:solidFill>
                  <a:srgbClr val="FF9300"/>
                </a:solidFill>
              </a:rPr>
              <a:t>concCu</a:t>
            </a:r>
            <a:r>
              <a:rPr lang="ro-RO" b="1" dirty="0">
                <a:solidFill>
                  <a:srgbClr val="FF9300"/>
                </a:solidFill>
              </a:rPr>
              <a:t>                   </a:t>
            </a:r>
            <a:r>
              <a:rPr lang="ro-RO" b="1" dirty="0" err="1">
                <a:solidFill>
                  <a:srgbClr val="FF9300"/>
                </a:solidFill>
              </a:rPr>
              <a:t>concCo</a:t>
            </a:r>
            <a:r>
              <a:rPr lang="ro-RO" b="1" dirty="0">
                <a:solidFill>
                  <a:srgbClr val="FF9300"/>
                </a:solidFill>
              </a:rPr>
              <a:t>                   </a:t>
            </a:r>
            <a:r>
              <a:rPr lang="ro-RO" b="1" dirty="0" err="1">
                <a:solidFill>
                  <a:srgbClr val="FF9300"/>
                </a:solidFill>
              </a:rPr>
              <a:t>concCr</a:t>
            </a:r>
            <a:r>
              <a:rPr lang="ro-RO" b="1" dirty="0">
                <a:solidFill>
                  <a:srgbClr val="FF9300"/>
                </a:solidFill>
              </a:rPr>
              <a:t> </a:t>
            </a:r>
          </a:p>
          <a:p>
            <a:r>
              <a:rPr lang="ro-RO" b="1" dirty="0">
                <a:solidFill>
                  <a:srgbClr val="FF9300"/>
                </a:solidFill>
              </a:rPr>
              <a:t> 0.001102               0.000857              0.000662</a:t>
            </a:r>
            <a:endParaRPr lang="en-US" b="1" dirty="0">
              <a:solidFill>
                <a:srgbClr val="FF9300"/>
              </a:solidFill>
            </a:endParaRPr>
          </a:p>
        </p:txBody>
      </p:sp>
      <p:sp>
        <p:nvSpPr>
          <p:cNvPr id="9" name="Rectangle 8"/>
          <p:cNvSpPr/>
          <p:nvPr/>
        </p:nvSpPr>
        <p:spPr>
          <a:xfrm>
            <a:off x="6574418" y="3408103"/>
            <a:ext cx="4560428" cy="646331"/>
          </a:xfrm>
          <a:prstGeom prst="rect">
            <a:avLst/>
          </a:prstGeom>
        </p:spPr>
        <p:txBody>
          <a:bodyPr wrap="square">
            <a:spAutoFit/>
          </a:bodyPr>
          <a:lstStyle/>
          <a:p>
            <a:r>
              <a:rPr lang="ro-RO" b="1" dirty="0">
                <a:solidFill>
                  <a:srgbClr val="FF40FF"/>
                </a:solidFill>
              </a:rPr>
              <a:t>     </a:t>
            </a:r>
            <a:r>
              <a:rPr lang="ro-RO" b="1" dirty="0" err="1">
                <a:solidFill>
                  <a:srgbClr val="FF40FF"/>
                </a:solidFill>
              </a:rPr>
              <a:t>concCu</a:t>
            </a:r>
            <a:r>
              <a:rPr lang="ro-RO" b="1" dirty="0">
                <a:solidFill>
                  <a:srgbClr val="FF40FF"/>
                </a:solidFill>
              </a:rPr>
              <a:t>                   </a:t>
            </a:r>
            <a:r>
              <a:rPr lang="ro-RO" b="1" dirty="0" err="1">
                <a:solidFill>
                  <a:srgbClr val="FF40FF"/>
                </a:solidFill>
              </a:rPr>
              <a:t>concCo</a:t>
            </a:r>
            <a:r>
              <a:rPr lang="ro-RO" b="1" dirty="0">
                <a:solidFill>
                  <a:srgbClr val="FF40FF"/>
                </a:solidFill>
              </a:rPr>
              <a:t>                   </a:t>
            </a:r>
            <a:r>
              <a:rPr lang="ro-RO" b="1" dirty="0" err="1">
                <a:solidFill>
                  <a:srgbClr val="FF40FF"/>
                </a:solidFill>
              </a:rPr>
              <a:t>concCr</a:t>
            </a:r>
            <a:r>
              <a:rPr lang="ro-RO" b="1" dirty="0">
                <a:solidFill>
                  <a:srgbClr val="FF40FF"/>
                </a:solidFill>
              </a:rPr>
              <a:t> </a:t>
            </a:r>
          </a:p>
          <a:p>
            <a:r>
              <a:rPr lang="ro-RO" b="1" dirty="0">
                <a:solidFill>
                  <a:srgbClr val="FF40FF"/>
                </a:solidFill>
              </a:rPr>
              <a:t>±0.002298            ±0.001787             ±0.001381</a:t>
            </a:r>
            <a:endParaRPr lang="en-US" b="1" dirty="0">
              <a:solidFill>
                <a:srgbClr val="FF40FF"/>
              </a:solidFill>
            </a:endParaRPr>
          </a:p>
        </p:txBody>
      </p:sp>
      <p:sp>
        <p:nvSpPr>
          <p:cNvPr id="11" name="TextBox 10"/>
          <p:cNvSpPr txBox="1"/>
          <p:nvPr/>
        </p:nvSpPr>
        <p:spPr>
          <a:xfrm>
            <a:off x="7124217" y="4458146"/>
            <a:ext cx="3460830" cy="1384995"/>
          </a:xfrm>
          <a:prstGeom prst="rect">
            <a:avLst/>
          </a:prstGeom>
          <a:noFill/>
        </p:spPr>
        <p:txBody>
          <a:bodyPr wrap="square" rtlCol="0">
            <a:spAutoFit/>
          </a:bodyPr>
          <a:lstStyle/>
          <a:p>
            <a:r>
              <a:rPr lang="en-US" b="1" dirty="0">
                <a:solidFill>
                  <a:srgbClr val="018500"/>
                </a:solidFill>
              </a:rPr>
              <a:t>Cu: </a:t>
            </a:r>
            <a:r>
              <a:rPr lang="is-IS" b="1" dirty="0">
                <a:solidFill>
                  <a:srgbClr val="018500"/>
                </a:solidFill>
              </a:rPr>
              <a:t>0.00219 (</a:t>
            </a:r>
            <a:r>
              <a:rPr lang="nb-NO" b="1" dirty="0">
                <a:solidFill>
                  <a:srgbClr val="018500"/>
                </a:solidFill>
              </a:rPr>
              <a:t>0.02719 vs. 0.0250)</a:t>
            </a:r>
            <a:endParaRPr lang="en-US" b="1" dirty="0">
              <a:solidFill>
                <a:srgbClr val="018500"/>
              </a:solidFill>
            </a:endParaRPr>
          </a:p>
          <a:p>
            <a:r>
              <a:rPr lang="en-US" b="1" dirty="0">
                <a:solidFill>
                  <a:srgbClr val="018500"/>
                </a:solidFill>
              </a:rPr>
              <a:t>Co: </a:t>
            </a:r>
            <a:r>
              <a:rPr lang="nb-NO" b="1" dirty="0">
                <a:solidFill>
                  <a:srgbClr val="018500"/>
                </a:solidFill>
              </a:rPr>
              <a:t>0.00176 (</a:t>
            </a:r>
            <a:r>
              <a:rPr lang="pt-BR" b="1" dirty="0">
                <a:solidFill>
                  <a:srgbClr val="018500"/>
                </a:solidFill>
              </a:rPr>
              <a:t>0.05176 vs. 0.0500)</a:t>
            </a:r>
            <a:endParaRPr lang="en-US" b="1" dirty="0">
              <a:solidFill>
                <a:srgbClr val="018500"/>
              </a:solidFill>
            </a:endParaRPr>
          </a:p>
          <a:p>
            <a:r>
              <a:rPr lang="en-US" b="1" dirty="0">
                <a:solidFill>
                  <a:srgbClr val="018500"/>
                </a:solidFill>
              </a:rPr>
              <a:t>Cr: </a:t>
            </a:r>
            <a:r>
              <a:rPr lang="nb-NO" b="1" dirty="0">
                <a:solidFill>
                  <a:srgbClr val="018500"/>
                </a:solidFill>
              </a:rPr>
              <a:t>0.00173  </a:t>
            </a:r>
            <a:r>
              <a:rPr lang="en-US" b="1" dirty="0">
                <a:solidFill>
                  <a:srgbClr val="018500"/>
                </a:solidFill>
              </a:rPr>
              <a:t>(</a:t>
            </a:r>
            <a:r>
              <a:rPr lang="nb-NO" b="1" dirty="0">
                <a:solidFill>
                  <a:srgbClr val="018500"/>
                </a:solidFill>
              </a:rPr>
              <a:t>0.00173</a:t>
            </a:r>
            <a:r>
              <a:rPr lang="en-US" b="1" dirty="0">
                <a:solidFill>
                  <a:srgbClr val="018500"/>
                </a:solidFill>
              </a:rPr>
              <a:t> vs. 0)</a:t>
            </a:r>
            <a:r>
              <a:rPr lang="en-US" b="1" baseline="30000" dirty="0">
                <a:solidFill>
                  <a:srgbClr val="018500"/>
                </a:solidFill>
              </a:rPr>
              <a:t>*</a:t>
            </a:r>
          </a:p>
          <a:p>
            <a:endParaRPr lang="en-US" b="1" baseline="30000" dirty="0">
              <a:solidFill>
                <a:srgbClr val="018500"/>
              </a:solidFill>
            </a:endParaRPr>
          </a:p>
          <a:p>
            <a:pPr algn="r"/>
            <a:r>
              <a:rPr lang="en-US" b="1" baseline="30000" dirty="0">
                <a:solidFill>
                  <a:srgbClr val="018500"/>
                </a:solidFill>
              </a:rPr>
              <a:t>*</a:t>
            </a:r>
            <a:r>
              <a:rPr lang="en-US" b="1" dirty="0">
                <a:solidFill>
                  <a:srgbClr val="018500"/>
                </a:solidFill>
              </a:rPr>
              <a:t> </a:t>
            </a:r>
            <a:r>
              <a:rPr lang="en-US" sz="1600" b="1" dirty="0">
                <a:solidFill>
                  <a:srgbClr val="018500"/>
                </a:solidFill>
              </a:rPr>
              <a:t>exceeds 95% confidence interval </a:t>
            </a:r>
          </a:p>
        </p:txBody>
      </p:sp>
      <p:sp>
        <p:nvSpPr>
          <p:cNvPr id="10" name="TextBox 9"/>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
        <p:nvSpPr>
          <p:cNvPr id="12" name="TextBox 11"/>
          <p:cNvSpPr txBox="1"/>
          <p:nvPr/>
        </p:nvSpPr>
        <p:spPr>
          <a:xfrm>
            <a:off x="169867" y="1091254"/>
            <a:ext cx="5833640" cy="4862870"/>
          </a:xfrm>
          <a:prstGeom prst="rect">
            <a:avLst/>
          </a:prstGeom>
          <a:noFill/>
        </p:spPr>
        <p:txBody>
          <a:bodyPr wrap="square" rtlCol="0">
            <a:spAutoFit/>
          </a:bodyPr>
          <a:lstStyle/>
          <a:p>
            <a:pPr lvl="0">
              <a:spcAft>
                <a:spcPts val="1200"/>
              </a:spcAft>
            </a:pPr>
            <a:r>
              <a:rPr lang="en-US" sz="1600" i="1" dirty="0">
                <a:solidFill>
                  <a:srgbClr val="0070C0"/>
                </a:solidFill>
              </a:rPr>
              <a:t>Standards are subset of data consisting of 15 of the 80 samples: five each prepared from stock Cu, stock Co, and stock Cr. Samples are subset of data consisting of 21 of the 80 samples: five Cu/Co binary mixtures, five Cu/Cr binary mixtures, five Co/Cr binary mixtures, six Cu/Co/Cr ternary mixtures.</a:t>
            </a:r>
            <a:endParaRPr lang="en-US" sz="2800" i="1" baseline="-25000" dirty="0">
              <a:solidFill>
                <a:srgbClr val="0070C0"/>
              </a:solidFill>
            </a:endParaRPr>
          </a:p>
          <a:p>
            <a:pPr marL="457200" indent="-457200">
              <a:spcAft>
                <a:spcPts val="600"/>
              </a:spcAft>
              <a:buFont typeface="+mj-lt"/>
              <a:buAutoNum type="arabicPeriod"/>
            </a:pPr>
            <a:r>
              <a:rPr lang="en-US" sz="2000" dirty="0"/>
              <a:t>use absorbance values for a set of standards to calculate the </a:t>
            </a:r>
            <a:r>
              <a:rPr lang="en-US" sz="2000" i="1" dirty="0" err="1">
                <a:latin typeface="Symbol" charset="2"/>
                <a:ea typeface="Symbol" charset="2"/>
                <a:cs typeface="Symbol" charset="2"/>
              </a:rPr>
              <a:t>e</a:t>
            </a:r>
            <a:r>
              <a:rPr lang="en-US" sz="2000" i="1" dirty="0" err="1"/>
              <a:t>b</a:t>
            </a:r>
            <a:r>
              <a:rPr lang="en-US" sz="2000" dirty="0"/>
              <a:t> values</a:t>
            </a:r>
          </a:p>
          <a:p>
            <a:pPr marL="457200" indent="-457200">
              <a:spcAft>
                <a:spcPts val="600"/>
              </a:spcAft>
              <a:buFont typeface="+mj-lt"/>
              <a:buAutoNum type="arabicPeriod"/>
            </a:pPr>
            <a:r>
              <a:rPr lang="en-US" sz="2000" dirty="0"/>
              <a:t>use absorbance values for the samples and the calculated </a:t>
            </a:r>
            <a:r>
              <a:rPr lang="en-US" sz="2000" i="1" dirty="0" err="1">
                <a:latin typeface="Symbol" charset="2"/>
                <a:ea typeface="Symbol" charset="2"/>
                <a:cs typeface="Symbol" charset="2"/>
              </a:rPr>
              <a:t>e</a:t>
            </a:r>
            <a:r>
              <a:rPr lang="en-US" sz="2000" i="1" dirty="0" err="1"/>
              <a:t>b</a:t>
            </a:r>
            <a:r>
              <a:rPr lang="en-US" sz="2000" dirty="0"/>
              <a:t> values to give the predicted concentrations of the analytes</a:t>
            </a:r>
          </a:p>
          <a:p>
            <a:pPr marL="457200" indent="-457200">
              <a:spcAft>
                <a:spcPts val="600"/>
              </a:spcAft>
              <a:buFont typeface="+mj-lt"/>
              <a:buAutoNum type="arabicPeriod"/>
            </a:pPr>
            <a:r>
              <a:rPr lang="en-US" sz="2000" dirty="0"/>
              <a:t>compare predicted and actual concentrations</a:t>
            </a:r>
          </a:p>
          <a:p>
            <a:pPr marL="457200" indent="-457200">
              <a:spcAft>
                <a:spcPts val="600"/>
              </a:spcAft>
              <a:buFont typeface="+mj-lt"/>
              <a:buAutoNum type="arabicPeriod"/>
            </a:pPr>
            <a:r>
              <a:rPr lang="en-US" sz="2000" b="1" dirty="0"/>
              <a:t>report </a:t>
            </a:r>
            <a:r>
              <a:rPr lang="en-US" sz="2000" b="1" dirty="0">
                <a:solidFill>
                  <a:srgbClr val="AB7942"/>
                </a:solidFill>
              </a:rPr>
              <a:t>mean errors</a:t>
            </a:r>
            <a:r>
              <a:rPr lang="en-US" sz="2000" b="1" dirty="0"/>
              <a:t>, </a:t>
            </a:r>
            <a:r>
              <a:rPr lang="en-US" sz="2000" b="1" dirty="0">
                <a:solidFill>
                  <a:srgbClr val="FF9300"/>
                </a:solidFill>
              </a:rPr>
              <a:t>standard deviations for errors</a:t>
            </a:r>
            <a:r>
              <a:rPr lang="en-US" sz="2000" b="1" dirty="0"/>
              <a:t>, </a:t>
            </a:r>
            <a:r>
              <a:rPr lang="en-US" sz="2000" b="1" dirty="0">
                <a:solidFill>
                  <a:srgbClr val="FF40FF"/>
                </a:solidFill>
              </a:rPr>
              <a:t>confidence intervals for errors</a:t>
            </a:r>
            <a:r>
              <a:rPr lang="en-US" sz="2000" b="1" dirty="0"/>
              <a:t>, and </a:t>
            </a:r>
            <a:r>
              <a:rPr lang="en-US" sz="2000" b="1" dirty="0">
                <a:solidFill>
                  <a:srgbClr val="018500"/>
                </a:solidFill>
              </a:rPr>
              <a:t>identify maximum error for each analyte</a:t>
            </a:r>
          </a:p>
          <a:p>
            <a:pPr marL="457200" indent="-457200">
              <a:spcAft>
                <a:spcPts val="600"/>
              </a:spcAft>
              <a:buFont typeface="+mj-lt"/>
              <a:buAutoNum type="arabicPeriod"/>
            </a:pPr>
            <a:endParaRPr lang="en-US" sz="2000" dirty="0"/>
          </a:p>
        </p:txBody>
      </p:sp>
    </p:spTree>
    <p:extLst>
      <p:ext uri="{BB962C8B-B14F-4D97-AF65-F5344CB8AC3E}">
        <p14:creationId xmlns:p14="http://schemas.microsoft.com/office/powerpoint/2010/main" val="19132153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4"/>
            <a:ext cx="10847793" cy="813148"/>
          </a:xfrm>
        </p:spPr>
        <p:txBody>
          <a:bodyPr>
            <a:noAutofit/>
          </a:bodyPr>
          <a:lstStyle/>
          <a:p>
            <a:r>
              <a:rPr lang="en-US" dirty="0"/>
              <a:t>Acknowledgments </a:t>
            </a:r>
          </a:p>
        </p:txBody>
      </p:sp>
      <p:sp>
        <p:nvSpPr>
          <p:cNvPr id="3" name="TextBox 2"/>
          <p:cNvSpPr txBox="1"/>
          <p:nvPr/>
        </p:nvSpPr>
        <p:spPr>
          <a:xfrm>
            <a:off x="1097278" y="1331089"/>
            <a:ext cx="7444838" cy="2031325"/>
          </a:xfrm>
          <a:prstGeom prst="rect">
            <a:avLst/>
          </a:prstGeom>
          <a:noFill/>
        </p:spPr>
        <p:txBody>
          <a:bodyPr wrap="square" rtlCol="0">
            <a:spAutoFit/>
          </a:bodyPr>
          <a:lstStyle/>
          <a:p>
            <a:pPr marL="285750" indent="-285750">
              <a:spcAft>
                <a:spcPts val="1200"/>
              </a:spcAft>
              <a:buFont typeface="Courier New" charset="0"/>
              <a:buChar char="o"/>
            </a:pPr>
            <a:r>
              <a:rPr lang="en-US" sz="2400" dirty="0"/>
              <a:t>students in Chem 351</a:t>
            </a:r>
          </a:p>
          <a:p>
            <a:pPr marL="285750" indent="-285750">
              <a:spcAft>
                <a:spcPts val="1200"/>
              </a:spcAft>
              <a:buFont typeface="Courier New" charset="0"/>
              <a:buChar char="o"/>
            </a:pPr>
            <a:r>
              <a:rPr lang="en-US" sz="2400" dirty="0"/>
              <a:t>Brian </a:t>
            </a:r>
            <a:r>
              <a:rPr lang="en-US" sz="2400" dirty="0" err="1"/>
              <a:t>Saulnier</a:t>
            </a:r>
            <a:r>
              <a:rPr lang="en-US" sz="2400" dirty="0"/>
              <a:t> (DePauw Chemistry major, class of 2018)</a:t>
            </a:r>
          </a:p>
          <a:p>
            <a:pPr marL="285750" indent="-285750">
              <a:spcAft>
                <a:spcPts val="1200"/>
              </a:spcAft>
              <a:buFont typeface="Courier New" charset="0"/>
              <a:buChar char="o"/>
            </a:pPr>
            <a:r>
              <a:rPr lang="en-US" sz="2400" dirty="0"/>
              <a:t>DePauw University’s Faculty Development Committee</a:t>
            </a:r>
          </a:p>
          <a:p>
            <a:pPr marL="285750" indent="-285750">
              <a:spcAft>
                <a:spcPts val="1200"/>
              </a:spcAft>
              <a:buFont typeface="Courier New" charset="0"/>
              <a:buChar char="o"/>
            </a:pPr>
            <a:r>
              <a:rPr lang="en-US" sz="2400" dirty="0" err="1"/>
              <a:t>stackoverflow</a:t>
            </a:r>
            <a:endParaRPr lang="en-US" sz="2400" dirty="0"/>
          </a:p>
        </p:txBody>
      </p:sp>
      <p:sp>
        <p:nvSpPr>
          <p:cNvPr id="4" name="TextBox 3"/>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14295442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73511" y="6462164"/>
            <a:ext cx="2088585" cy="369332"/>
          </a:xfrm>
          <a:prstGeom prst="rect">
            <a:avLst/>
          </a:prstGeom>
          <a:noFill/>
        </p:spPr>
        <p:txBody>
          <a:bodyPr wrap="none" rtlCol="0">
            <a:spAutoFit/>
          </a:bodyPr>
          <a:lstStyle/>
          <a:p>
            <a:r>
              <a:rPr lang="en-US" dirty="0"/>
              <a:t>http://</a:t>
            </a:r>
            <a:r>
              <a:rPr lang="en-US" dirty="0" err="1"/>
              <a:t>bit.ly</a:t>
            </a:r>
            <a:r>
              <a:rPr lang="en-US" dirty="0"/>
              <a:t>/2j10Hai</a:t>
            </a:r>
          </a:p>
        </p:txBody>
      </p:sp>
    </p:spTree>
    <p:extLst>
      <p:ext uri="{BB962C8B-B14F-4D97-AF65-F5344CB8AC3E}">
        <p14:creationId xmlns:p14="http://schemas.microsoft.com/office/powerpoint/2010/main" val="47596349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28758</TotalTime>
  <Words>4637</Words>
  <Application>Microsoft Macintosh PowerPoint</Application>
  <PresentationFormat>Widescreen</PresentationFormat>
  <Paragraphs>380</Paragraphs>
  <Slides>45</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45</vt:i4>
      </vt:variant>
    </vt:vector>
  </HeadingPairs>
  <TitlesOfParts>
    <vt:vector size="53" baseType="lpstr">
      <vt:lpstr>American Typewriter</vt:lpstr>
      <vt:lpstr>Arial</vt:lpstr>
      <vt:lpstr>Calibri</vt:lpstr>
      <vt:lpstr>Calibri Light</vt:lpstr>
      <vt:lpstr>Courier New</vt:lpstr>
      <vt:lpstr>Symbol</vt:lpstr>
      <vt:lpstr>Retrospect</vt:lpstr>
      <vt:lpstr>Custom Design</vt:lpstr>
      <vt:lpstr>Using R to Introduce Students to Principal Component Analysis, Cluster Analysis, and Multiple Linear Regression</vt:lpstr>
      <vt:lpstr>PowerPoint Presentation</vt:lpstr>
      <vt:lpstr>PowerPoint Presentation</vt:lpstr>
      <vt:lpstr>Chem 351: Chemometrics</vt:lpstr>
      <vt:lpstr>R as a Tool for Teaching Chemometrics</vt:lpstr>
      <vt:lpstr>The Analytical System: Beer’s Law</vt:lpstr>
      <vt:lpstr>PowerPoint Presentation</vt:lpstr>
      <vt:lpstr>External Standardization for Copper</vt:lpstr>
      <vt:lpstr>External Standardization for Copper</vt:lpstr>
      <vt:lpstr>External Standardization for Copper</vt:lpstr>
      <vt:lpstr>Analysis of Binary Mixture: Cu and Ni</vt:lpstr>
      <vt:lpstr>Analysis of Binary Mixture: Cu and Ni</vt:lpstr>
      <vt:lpstr>Analysis of Binary Mixture: Cu and Ni</vt:lpstr>
      <vt:lpstr>Matrix Notation for Beer’s Law (A = ebC)</vt:lpstr>
      <vt:lpstr>PowerPoint Presentation</vt:lpstr>
      <vt:lpstr>How Does PCA Work?</vt:lpstr>
      <vt:lpstr>How Does PCA Work?</vt:lpstr>
      <vt:lpstr>How Does PCA Work?</vt:lpstr>
      <vt:lpstr>How Does PCA Work?</vt:lpstr>
      <vt:lpstr>How Does PCA Work?</vt:lpstr>
      <vt:lpstr>PCA: Worked Example</vt:lpstr>
      <vt:lpstr>PCA: Worked Example</vt:lpstr>
      <vt:lpstr>PCA: Worked Example</vt:lpstr>
      <vt:lpstr>PCA: Worked Example</vt:lpstr>
      <vt:lpstr>PCA: Worked Example</vt:lpstr>
      <vt:lpstr>PCA: Worked Example</vt:lpstr>
      <vt:lpstr>PCA: Worked Example</vt:lpstr>
      <vt:lpstr>PCA: Worked Example</vt:lpstr>
      <vt:lpstr>How Does Cluster Analysis Work?</vt:lpstr>
      <vt:lpstr>How Does Cluster Analysis Work?</vt:lpstr>
      <vt:lpstr>How Does Cluster Analysis Work?</vt:lpstr>
      <vt:lpstr>How Does Cluster Analysis Work?</vt:lpstr>
      <vt:lpstr>How Does Cluster Analysis Work?</vt:lpstr>
      <vt:lpstr>Cluster Analysis: Worked Example</vt:lpstr>
      <vt:lpstr>Cluster Analysis: Worked Example</vt:lpstr>
      <vt:lpstr>Cluster Analysis: Worked Example</vt:lpstr>
      <vt:lpstr>Cluster Analysis: Worked Example</vt:lpstr>
      <vt:lpstr>How Does MLR Work?</vt:lpstr>
      <vt:lpstr>How Does MLR Work?</vt:lpstr>
      <vt:lpstr>MLR: Worked Example</vt:lpstr>
      <vt:lpstr>MLR: Worked Example</vt:lpstr>
      <vt:lpstr>MLR: Worked Example</vt:lpstr>
      <vt:lpstr>MLR: Worked Example</vt:lpstr>
      <vt:lpstr>Acknowledgments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R to Introduce Students to Principal Component Analysis, Cluster Analysis, and Multiple Linear Regression</dc:title>
  <dc:creator>David Harvey</dc:creator>
  <cp:lastModifiedBy>David Harvey</cp:lastModifiedBy>
  <cp:revision>178</cp:revision>
  <cp:lastPrinted>2018-02-24T18:11:53Z</cp:lastPrinted>
  <dcterms:created xsi:type="dcterms:W3CDTF">2018-01-10T13:30:17Z</dcterms:created>
  <dcterms:modified xsi:type="dcterms:W3CDTF">2026-02-18T20:41:52Z</dcterms:modified>
</cp:coreProperties>
</file>